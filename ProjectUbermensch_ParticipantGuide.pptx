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0"/>
    <p:restoredTop sz="94610"/>
  </p:normalViewPr>
  <p:slideViewPr>
    <p:cSldViewPr snapToGrid="0" snapToObjects="1">
      <p:cViewPr varScale="1">
        <p:scale>
          <a:sx n="152" d="100"/>
          <a:sy n="152" d="100"/>
        </p:scale>
        <p:origin x="480"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85790918"/>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E1A"/>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60912"/>
          </a:solidFill>
          <a:ln w="12700">
            <a:solidFill>
              <a:srgbClr val="060912"/>
            </a:solidFill>
            <a:prstDash val="solid"/>
          </a:ln>
        </p:spPr>
      </p:sp>
      <p:sp>
        <p:nvSpPr>
          <p:cNvPr id="3" name="Shape 1"/>
          <p:cNvSpPr/>
          <p:nvPr/>
        </p:nvSpPr>
        <p:spPr>
          <a:xfrm>
            <a:off x="0" y="0"/>
            <a:ext cx="320040" cy="5143500"/>
          </a:xfrm>
          <a:prstGeom prst="rect">
            <a:avLst/>
          </a:prstGeom>
          <a:solidFill>
            <a:srgbClr val="3D9BE9"/>
          </a:solidFill>
          <a:ln w="12700">
            <a:solidFill>
              <a:srgbClr val="3D9BE9"/>
            </a:solidFill>
            <a:prstDash val="solid"/>
          </a:ln>
        </p:spPr>
      </p:sp>
      <p:sp>
        <p:nvSpPr>
          <p:cNvPr id="4" name="Shape 2"/>
          <p:cNvSpPr/>
          <p:nvPr/>
        </p:nvSpPr>
        <p:spPr>
          <a:xfrm>
            <a:off x="0" y="4736592"/>
            <a:ext cx="9144000" cy="411480"/>
          </a:xfrm>
          <a:prstGeom prst="rect">
            <a:avLst/>
          </a:prstGeom>
          <a:solidFill>
            <a:srgbClr val="0D1424"/>
          </a:solidFill>
          <a:ln w="12700">
            <a:solidFill>
              <a:srgbClr val="0D1424"/>
            </a:solidFill>
            <a:prstDash val="solid"/>
          </a:ln>
        </p:spPr>
      </p:sp>
      <p:sp>
        <p:nvSpPr>
          <p:cNvPr id="5" name="Text 3"/>
          <p:cNvSpPr/>
          <p:nvPr/>
        </p:nvSpPr>
        <p:spPr>
          <a:xfrm>
            <a:off x="548640" y="320040"/>
            <a:ext cx="8229600" cy="201168"/>
          </a:xfrm>
          <a:prstGeom prst="rect">
            <a:avLst/>
          </a:prstGeom>
          <a:noFill/>
          <a:ln/>
        </p:spPr>
        <p:txBody>
          <a:bodyPr wrap="square" rtlCol="0" anchor="ctr"/>
          <a:lstStyle/>
          <a:p>
            <a:pPr marL="0" indent="0">
              <a:buNone/>
            </a:pPr>
            <a:r>
              <a:rPr lang="en-US" sz="800" b="1" kern="0" spc="400" dirty="0">
                <a:solidFill>
                  <a:srgbClr val="00D4C8"/>
                </a:solidFill>
              </a:rPr>
              <a:t>N-of-1 PRECISION HEALTH RESEARCH</a:t>
            </a:r>
            <a:endParaRPr lang="en-US" sz="800" dirty="0"/>
          </a:p>
        </p:txBody>
      </p:sp>
      <p:sp>
        <p:nvSpPr>
          <p:cNvPr id="6" name="Text 4"/>
          <p:cNvSpPr/>
          <p:nvPr/>
        </p:nvSpPr>
        <p:spPr>
          <a:xfrm>
            <a:off x="548640" y="914400"/>
            <a:ext cx="8229600" cy="594360"/>
          </a:xfrm>
          <a:prstGeom prst="rect">
            <a:avLst/>
          </a:prstGeom>
          <a:noFill/>
          <a:ln/>
        </p:spPr>
        <p:txBody>
          <a:bodyPr wrap="square" rtlCol="0" anchor="ctr"/>
          <a:lstStyle/>
          <a:p>
            <a:pPr marL="0" indent="0">
              <a:buNone/>
            </a:pPr>
            <a:r>
              <a:rPr lang="en-US" sz="4200" b="1" kern="0" spc="800" dirty="0">
                <a:solidFill>
                  <a:srgbClr val="FFFFFF"/>
                </a:solidFill>
              </a:rPr>
              <a:t>PROJECT</a:t>
            </a:r>
            <a:endParaRPr lang="en-US" sz="4200" dirty="0"/>
          </a:p>
        </p:txBody>
      </p:sp>
      <p:sp>
        <p:nvSpPr>
          <p:cNvPr id="7" name="Text 5"/>
          <p:cNvSpPr/>
          <p:nvPr/>
        </p:nvSpPr>
        <p:spPr>
          <a:xfrm>
            <a:off x="548640" y="1463040"/>
            <a:ext cx="8229600" cy="914400"/>
          </a:xfrm>
          <a:prstGeom prst="rect">
            <a:avLst/>
          </a:prstGeom>
          <a:noFill/>
          <a:ln/>
        </p:spPr>
        <p:txBody>
          <a:bodyPr wrap="square" rtlCol="0" anchor="ctr"/>
          <a:lstStyle/>
          <a:p>
            <a:pPr marL="0" indent="0">
              <a:buNone/>
            </a:pPr>
            <a:r>
              <a:rPr lang="en-US" sz="6800" b="1" i="1" dirty="0">
                <a:solidFill>
                  <a:srgbClr val="3D9BE9"/>
                </a:solidFill>
              </a:rPr>
              <a:t>Übermensch</a:t>
            </a:r>
            <a:endParaRPr lang="en-US" sz="6800" dirty="0"/>
          </a:p>
        </p:txBody>
      </p:sp>
      <p:sp>
        <p:nvSpPr>
          <p:cNvPr id="8" name="Text 6"/>
          <p:cNvSpPr/>
          <p:nvPr/>
        </p:nvSpPr>
        <p:spPr>
          <a:xfrm>
            <a:off x="548640" y="2606040"/>
            <a:ext cx="8229600" cy="365760"/>
          </a:xfrm>
          <a:prstGeom prst="rect">
            <a:avLst/>
          </a:prstGeom>
          <a:noFill/>
          <a:ln/>
        </p:spPr>
        <p:txBody>
          <a:bodyPr wrap="square" rtlCol="0" anchor="ctr"/>
          <a:lstStyle/>
          <a:p>
            <a:pPr marL="0" indent="0">
              <a:buNone/>
            </a:pPr>
            <a:r>
              <a:rPr lang="en-US" sz="1800" kern="0" spc="600" dirty="0">
                <a:solidFill>
                  <a:srgbClr val="FFFFFF"/>
                </a:solidFill>
              </a:rPr>
              <a:t>参 加 者 プ ロ ト コ ル ガ イ ド</a:t>
            </a:r>
            <a:endParaRPr lang="en-US" sz="1800" dirty="0"/>
          </a:p>
        </p:txBody>
      </p:sp>
      <p:sp>
        <p:nvSpPr>
          <p:cNvPr id="9" name="Text 7"/>
          <p:cNvSpPr/>
          <p:nvPr/>
        </p:nvSpPr>
        <p:spPr>
          <a:xfrm>
            <a:off x="548640" y="3063240"/>
            <a:ext cx="8229600" cy="256032"/>
          </a:xfrm>
          <a:prstGeom prst="rect">
            <a:avLst/>
          </a:prstGeom>
          <a:noFill/>
          <a:ln/>
        </p:spPr>
        <p:txBody>
          <a:bodyPr wrap="square" rtlCol="0" anchor="ctr"/>
          <a:lstStyle/>
          <a:p>
            <a:pPr marL="0" indent="0">
              <a:buNone/>
            </a:pPr>
            <a:r>
              <a:rPr lang="en-US" sz="1200" dirty="0">
                <a:solidFill>
                  <a:srgbClr val="B0BBD0"/>
                </a:solidFill>
              </a:rPr>
              <a:t>自律神経 × 認知 × 運動パフォーマンス  —  完全計測マニュアル</a:t>
            </a:r>
            <a:endParaRPr lang="en-US" sz="1200" dirty="0"/>
          </a:p>
        </p:txBody>
      </p:sp>
      <p:sp>
        <p:nvSpPr>
          <p:cNvPr id="10" name="Shape 8"/>
          <p:cNvSpPr/>
          <p:nvPr/>
        </p:nvSpPr>
        <p:spPr>
          <a:xfrm>
            <a:off x="548640" y="3520440"/>
            <a:ext cx="91440" cy="91440"/>
          </a:xfrm>
          <a:prstGeom prst="ellipse">
            <a:avLst/>
          </a:prstGeom>
          <a:solidFill>
            <a:srgbClr val="00D4C8"/>
          </a:solidFill>
          <a:ln w="12700">
            <a:solidFill>
              <a:srgbClr val="00D4C8"/>
            </a:solidFill>
            <a:prstDash val="solid"/>
          </a:ln>
        </p:spPr>
      </p:sp>
      <p:sp>
        <p:nvSpPr>
          <p:cNvPr id="11" name="Shape 9"/>
          <p:cNvSpPr/>
          <p:nvPr/>
        </p:nvSpPr>
        <p:spPr>
          <a:xfrm>
            <a:off x="804672" y="3520440"/>
            <a:ext cx="91440" cy="91440"/>
          </a:xfrm>
          <a:prstGeom prst="ellipse">
            <a:avLst/>
          </a:prstGeom>
          <a:solidFill>
            <a:srgbClr val="1F2A45"/>
          </a:solidFill>
          <a:ln w="12700">
            <a:solidFill>
              <a:srgbClr val="1F2A45"/>
            </a:solidFill>
            <a:prstDash val="solid"/>
          </a:ln>
        </p:spPr>
      </p:sp>
      <p:sp>
        <p:nvSpPr>
          <p:cNvPr id="12" name="Shape 10"/>
          <p:cNvSpPr/>
          <p:nvPr/>
        </p:nvSpPr>
        <p:spPr>
          <a:xfrm>
            <a:off x="1060704" y="3520440"/>
            <a:ext cx="91440" cy="91440"/>
          </a:xfrm>
          <a:prstGeom prst="ellipse">
            <a:avLst/>
          </a:prstGeom>
          <a:solidFill>
            <a:srgbClr val="1F2A45"/>
          </a:solidFill>
          <a:ln w="12700">
            <a:solidFill>
              <a:srgbClr val="1F2A45"/>
            </a:solidFill>
            <a:prstDash val="solid"/>
          </a:ln>
        </p:spPr>
      </p:sp>
      <p:sp>
        <p:nvSpPr>
          <p:cNvPr id="13" name="Shape 11"/>
          <p:cNvSpPr/>
          <p:nvPr/>
        </p:nvSpPr>
        <p:spPr>
          <a:xfrm>
            <a:off x="1316736" y="3520440"/>
            <a:ext cx="91440" cy="91440"/>
          </a:xfrm>
          <a:prstGeom prst="ellipse">
            <a:avLst/>
          </a:prstGeom>
          <a:solidFill>
            <a:srgbClr val="1F2A45"/>
          </a:solidFill>
          <a:ln w="12700">
            <a:solidFill>
              <a:srgbClr val="1F2A45"/>
            </a:solidFill>
            <a:prstDash val="solid"/>
          </a:ln>
        </p:spPr>
      </p:sp>
      <p:sp>
        <p:nvSpPr>
          <p:cNvPr id="14" name="Shape 12"/>
          <p:cNvSpPr/>
          <p:nvPr/>
        </p:nvSpPr>
        <p:spPr>
          <a:xfrm>
            <a:off x="1572768" y="3520440"/>
            <a:ext cx="91440" cy="91440"/>
          </a:xfrm>
          <a:prstGeom prst="ellipse">
            <a:avLst/>
          </a:prstGeom>
          <a:solidFill>
            <a:srgbClr val="1F2A45"/>
          </a:solidFill>
          <a:ln w="12700">
            <a:solidFill>
              <a:srgbClr val="1F2A45"/>
            </a:solidFill>
            <a:prstDash val="solid"/>
          </a:ln>
        </p:spPr>
      </p:sp>
      <p:sp>
        <p:nvSpPr>
          <p:cNvPr id="15" name="Shape 13"/>
          <p:cNvSpPr/>
          <p:nvPr/>
        </p:nvSpPr>
        <p:spPr>
          <a:xfrm>
            <a:off x="1828800" y="3520440"/>
            <a:ext cx="91440" cy="91440"/>
          </a:xfrm>
          <a:prstGeom prst="ellipse">
            <a:avLst/>
          </a:prstGeom>
          <a:solidFill>
            <a:srgbClr val="1F2A45"/>
          </a:solidFill>
          <a:ln w="12700">
            <a:solidFill>
              <a:srgbClr val="1F2A45"/>
            </a:solidFill>
            <a:prstDash val="solid"/>
          </a:ln>
        </p:spPr>
      </p:sp>
      <p:sp>
        <p:nvSpPr>
          <p:cNvPr id="16" name="Text 14"/>
          <p:cNvSpPr/>
          <p:nvPr/>
        </p:nvSpPr>
        <p:spPr>
          <a:xfrm>
            <a:off x="548640" y="4773168"/>
            <a:ext cx="7315200" cy="228600"/>
          </a:xfrm>
          <a:prstGeom prst="rect">
            <a:avLst/>
          </a:prstGeom>
          <a:noFill/>
          <a:ln/>
        </p:spPr>
        <p:txBody>
          <a:bodyPr wrap="square" rtlCol="0" anchor="ctr"/>
          <a:lstStyle/>
          <a:p>
            <a:pPr marL="0" indent="0">
              <a:buNone/>
            </a:pPr>
            <a:r>
              <a:rPr lang="en-US" sz="900" dirty="0">
                <a:solidFill>
                  <a:srgbClr val="7B8BAD"/>
                </a:solidFill>
              </a:rPr>
              <a:t>Project Übermensch  ·  Participant Onboarding  ·  2026</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0E1A"/>
        </a:solidFill>
        <a:effectLst/>
      </p:bgPr>
    </p:bg>
    <p:spTree>
      <p:nvGrpSpPr>
        <p:cNvPr id="1" name=""/>
        <p:cNvGrpSpPr/>
        <p:nvPr/>
      </p:nvGrpSpPr>
      <p:grpSpPr>
        <a:xfrm>
          <a:off x="0" y="0"/>
          <a:ext cx="0" cy="0"/>
          <a:chOff x="0" y="0"/>
          <a:chExt cx="0" cy="0"/>
        </a:xfrm>
      </p:grpSpPr>
      <p:sp>
        <p:nvSpPr>
          <p:cNvPr id="2" name="Text 0"/>
          <p:cNvSpPr/>
          <p:nvPr/>
        </p:nvSpPr>
        <p:spPr>
          <a:xfrm>
            <a:off x="365760" y="201168"/>
            <a:ext cx="8229600" cy="228600"/>
          </a:xfrm>
          <a:prstGeom prst="rect">
            <a:avLst/>
          </a:prstGeom>
          <a:noFill/>
          <a:ln/>
        </p:spPr>
        <p:txBody>
          <a:bodyPr wrap="square" rtlCol="0" anchor="ctr"/>
          <a:lstStyle/>
          <a:p>
            <a:pPr marL="0" indent="0">
              <a:buNone/>
            </a:pPr>
            <a:r>
              <a:rPr lang="en-US" sz="800" b="1" kern="0" spc="300" dirty="0">
                <a:solidFill>
                  <a:srgbClr val="00D4C8"/>
                </a:solidFill>
              </a:rPr>
              <a:t>PROTOCOL OVERVIEW</a:t>
            </a:r>
            <a:endParaRPr lang="en-US" sz="800" dirty="0"/>
          </a:p>
        </p:txBody>
      </p:sp>
      <p:sp>
        <p:nvSpPr>
          <p:cNvPr id="3" name="Text 1"/>
          <p:cNvSpPr/>
          <p:nvPr/>
        </p:nvSpPr>
        <p:spPr>
          <a:xfrm>
            <a:off x="365760" y="475488"/>
            <a:ext cx="8412480" cy="548640"/>
          </a:xfrm>
          <a:prstGeom prst="rect">
            <a:avLst/>
          </a:prstGeom>
          <a:noFill/>
          <a:ln/>
        </p:spPr>
        <p:txBody>
          <a:bodyPr wrap="square" rtlCol="0" anchor="ctr"/>
          <a:lstStyle/>
          <a:p>
            <a:pPr marL="0" indent="0">
              <a:buNone/>
            </a:pPr>
            <a:r>
              <a:rPr lang="en-US" sz="2800" b="1" dirty="0">
                <a:solidFill>
                  <a:srgbClr val="FFFFFF"/>
                </a:solidFill>
              </a:rPr>
              <a:t>1日の計測フロー</a:t>
            </a:r>
            <a:endParaRPr lang="en-US" sz="2800" dirty="0"/>
          </a:p>
        </p:txBody>
      </p:sp>
      <p:sp>
        <p:nvSpPr>
          <p:cNvPr id="4" name="Text 2"/>
          <p:cNvSpPr/>
          <p:nvPr/>
        </p:nvSpPr>
        <p:spPr>
          <a:xfrm>
            <a:off x="365760" y="978408"/>
            <a:ext cx="8412480" cy="274320"/>
          </a:xfrm>
          <a:prstGeom prst="rect">
            <a:avLst/>
          </a:prstGeom>
          <a:noFill/>
          <a:ln/>
        </p:spPr>
        <p:txBody>
          <a:bodyPr wrap="square" rtlCol="0" anchor="ctr"/>
          <a:lstStyle/>
          <a:p>
            <a:pPr marL="0" indent="0">
              <a:buNone/>
            </a:pPr>
            <a:r>
              <a:rPr lang="en-US" sz="1200" dirty="0">
                <a:solidFill>
                  <a:srgbClr val="B0BBD0"/>
                </a:solidFill>
              </a:rPr>
              <a:t>起床から就寝まで、何をいつやるか</a:t>
            </a:r>
            <a:endParaRPr lang="en-US" sz="1200" dirty="0"/>
          </a:p>
        </p:txBody>
      </p:sp>
      <p:sp>
        <p:nvSpPr>
          <p:cNvPr id="5" name="Shape 3"/>
          <p:cNvSpPr/>
          <p:nvPr/>
        </p:nvSpPr>
        <p:spPr>
          <a:xfrm>
            <a:off x="365760" y="1371600"/>
            <a:ext cx="8412480" cy="22860"/>
          </a:xfrm>
          <a:prstGeom prst="rect">
            <a:avLst/>
          </a:prstGeom>
          <a:solidFill>
            <a:srgbClr val="1F2A45"/>
          </a:solidFill>
          <a:ln w="12700">
            <a:solidFill>
              <a:srgbClr val="1F2A45"/>
            </a:solidFill>
            <a:prstDash val="solid"/>
          </a:ln>
        </p:spPr>
      </p:sp>
      <p:sp>
        <p:nvSpPr>
          <p:cNvPr id="6" name="Shape 4"/>
          <p:cNvSpPr/>
          <p:nvPr/>
        </p:nvSpPr>
        <p:spPr>
          <a:xfrm>
            <a:off x="365760" y="2514600"/>
            <a:ext cx="8412480" cy="36576"/>
          </a:xfrm>
          <a:prstGeom prst="rect">
            <a:avLst/>
          </a:prstGeom>
          <a:solidFill>
            <a:srgbClr val="1F2A45"/>
          </a:solidFill>
          <a:ln w="12700">
            <a:solidFill>
              <a:srgbClr val="1F2A45"/>
            </a:solidFill>
            <a:prstDash val="solid"/>
          </a:ln>
        </p:spPr>
      </p:sp>
      <p:sp>
        <p:nvSpPr>
          <p:cNvPr id="7" name="Shape 5"/>
          <p:cNvSpPr/>
          <p:nvPr/>
        </p:nvSpPr>
        <p:spPr>
          <a:xfrm>
            <a:off x="960120" y="2450592"/>
            <a:ext cx="164592" cy="164592"/>
          </a:xfrm>
          <a:prstGeom prst="ellipse">
            <a:avLst/>
          </a:prstGeom>
          <a:solidFill>
            <a:srgbClr val="F5C842"/>
          </a:solidFill>
          <a:ln w="12700">
            <a:solidFill>
              <a:srgbClr val="F5C842"/>
            </a:solidFill>
            <a:prstDash val="solid"/>
          </a:ln>
        </p:spPr>
      </p:sp>
      <p:sp>
        <p:nvSpPr>
          <p:cNvPr id="8" name="Shape 6"/>
          <p:cNvSpPr/>
          <p:nvPr/>
        </p:nvSpPr>
        <p:spPr>
          <a:xfrm>
            <a:off x="457200" y="2788920"/>
            <a:ext cx="1828800" cy="1737360"/>
          </a:xfrm>
          <a:prstGeom prst="rect">
            <a:avLst/>
          </a:prstGeom>
          <a:solidFill>
            <a:srgbClr val="141929"/>
          </a:solidFill>
          <a:ln w="6350">
            <a:solidFill>
              <a:srgbClr val="1F2A45"/>
            </a:solidFill>
            <a:prstDash val="solid"/>
          </a:ln>
          <a:effectLst>
            <a:outerShdw blurRad="101600" dist="25400" dir="8100000" algn="bl" rotWithShape="0">
              <a:srgbClr val="000000">
                <a:alpha val="25000"/>
              </a:srgbClr>
            </a:outerShdw>
          </a:effectLst>
        </p:spPr>
      </p:sp>
      <p:sp>
        <p:nvSpPr>
          <p:cNvPr id="9" name="Shape 7"/>
          <p:cNvSpPr/>
          <p:nvPr/>
        </p:nvSpPr>
        <p:spPr>
          <a:xfrm>
            <a:off x="457200" y="2788920"/>
            <a:ext cx="45720" cy="1737360"/>
          </a:xfrm>
          <a:prstGeom prst="rect">
            <a:avLst/>
          </a:prstGeom>
          <a:solidFill>
            <a:srgbClr val="F5C842"/>
          </a:solidFill>
          <a:ln w="12700">
            <a:solidFill>
              <a:srgbClr val="F5C842"/>
            </a:solidFill>
            <a:prstDash val="solid"/>
          </a:ln>
        </p:spPr>
      </p:sp>
      <p:sp>
        <p:nvSpPr>
          <p:cNvPr id="10" name="Text 8"/>
          <p:cNvSpPr/>
          <p:nvPr/>
        </p:nvSpPr>
        <p:spPr>
          <a:xfrm>
            <a:off x="566928" y="2834640"/>
            <a:ext cx="1645920" cy="201168"/>
          </a:xfrm>
          <a:prstGeom prst="rect">
            <a:avLst/>
          </a:prstGeom>
          <a:noFill/>
          <a:ln/>
        </p:spPr>
        <p:txBody>
          <a:bodyPr wrap="square" rtlCol="0" anchor="ctr"/>
          <a:lstStyle/>
          <a:p>
            <a:pPr marL="0" indent="0">
              <a:buNone/>
            </a:pPr>
            <a:r>
              <a:rPr lang="en-US" sz="800" b="1" dirty="0">
                <a:solidFill>
                  <a:srgbClr val="F5C842"/>
                </a:solidFill>
              </a:rPr>
              <a:t>起床直後</a:t>
            </a:r>
            <a:endParaRPr lang="en-US" sz="800" dirty="0"/>
          </a:p>
        </p:txBody>
      </p:sp>
      <p:sp>
        <p:nvSpPr>
          <p:cNvPr id="11" name="Text 9"/>
          <p:cNvSpPr/>
          <p:nvPr/>
        </p:nvSpPr>
        <p:spPr>
          <a:xfrm>
            <a:off x="566928" y="3063240"/>
            <a:ext cx="1645920" cy="548640"/>
          </a:xfrm>
          <a:prstGeom prst="rect">
            <a:avLst/>
          </a:prstGeom>
          <a:noFill/>
          <a:ln/>
        </p:spPr>
        <p:txBody>
          <a:bodyPr wrap="square" rtlCol="0" anchor="ctr"/>
          <a:lstStyle/>
          <a:p>
            <a:pPr marL="0" indent="0">
              <a:buNone/>
            </a:pPr>
            <a:r>
              <a:rPr lang="en-US" sz="1300" b="1" dirty="0">
                <a:solidFill>
                  <a:srgbClr val="FFFFFF"/>
                </a:solidFill>
              </a:rPr>
              <a:t>☀️ 朝フォーム</a:t>
            </a:r>
            <a:endParaRPr lang="en-US" sz="1300" dirty="0"/>
          </a:p>
        </p:txBody>
      </p:sp>
      <p:sp>
        <p:nvSpPr>
          <p:cNvPr id="12" name="Text 10"/>
          <p:cNvSpPr/>
          <p:nvPr/>
        </p:nvSpPr>
        <p:spPr>
          <a:xfrm>
            <a:off x="566928" y="3657600"/>
            <a:ext cx="1645920" cy="548640"/>
          </a:xfrm>
          <a:prstGeom prst="rect">
            <a:avLst/>
          </a:prstGeom>
          <a:noFill/>
          <a:ln/>
        </p:spPr>
        <p:txBody>
          <a:bodyPr wrap="square" rtlCol="0" anchor="ctr"/>
          <a:lstStyle/>
          <a:p>
            <a:pPr marL="0" indent="0">
              <a:buNone/>
            </a:pPr>
            <a:r>
              <a:rPr lang="en-US" sz="1000" dirty="0">
                <a:solidFill>
                  <a:srgbClr val="B0BBD0"/>
                </a:solidFill>
              </a:rPr>
              <a:t>5〜7分</a:t>
            </a:r>
            <a:endParaRPr lang="en-US" sz="1000" dirty="0"/>
          </a:p>
          <a:p>
            <a:pPr marL="0" indent="0">
              <a:buNone/>
            </a:pPr>
            <a:r>
              <a:rPr lang="en-US" sz="1000" dirty="0">
                <a:solidFill>
                  <a:srgbClr val="B0BBD0"/>
                </a:solidFill>
              </a:rPr>
              <a:t>計測→記録</a:t>
            </a:r>
            <a:endParaRPr lang="en-US" sz="1000" dirty="0"/>
          </a:p>
        </p:txBody>
      </p:sp>
      <p:sp>
        <p:nvSpPr>
          <p:cNvPr id="13" name="Shape 11"/>
          <p:cNvSpPr/>
          <p:nvPr/>
        </p:nvSpPr>
        <p:spPr>
          <a:xfrm>
            <a:off x="3154680" y="2450592"/>
            <a:ext cx="164592" cy="164592"/>
          </a:xfrm>
          <a:prstGeom prst="ellipse">
            <a:avLst/>
          </a:prstGeom>
          <a:solidFill>
            <a:srgbClr val="00D4C8"/>
          </a:solidFill>
          <a:ln w="12700">
            <a:solidFill>
              <a:srgbClr val="00D4C8"/>
            </a:solidFill>
            <a:prstDash val="solid"/>
          </a:ln>
        </p:spPr>
      </p:sp>
      <p:sp>
        <p:nvSpPr>
          <p:cNvPr id="14" name="Shape 12"/>
          <p:cNvSpPr/>
          <p:nvPr/>
        </p:nvSpPr>
        <p:spPr>
          <a:xfrm>
            <a:off x="2651760" y="2788920"/>
            <a:ext cx="1828800" cy="1737360"/>
          </a:xfrm>
          <a:prstGeom prst="rect">
            <a:avLst/>
          </a:prstGeom>
          <a:solidFill>
            <a:srgbClr val="141929"/>
          </a:solidFill>
          <a:ln w="6350">
            <a:solidFill>
              <a:srgbClr val="1F2A45"/>
            </a:solidFill>
            <a:prstDash val="solid"/>
          </a:ln>
          <a:effectLst>
            <a:outerShdw blurRad="101600" dist="25400" dir="8100000" algn="bl" rotWithShape="0">
              <a:srgbClr val="000000">
                <a:alpha val="25000"/>
              </a:srgbClr>
            </a:outerShdw>
          </a:effectLst>
        </p:spPr>
      </p:sp>
      <p:sp>
        <p:nvSpPr>
          <p:cNvPr id="15" name="Shape 13"/>
          <p:cNvSpPr/>
          <p:nvPr/>
        </p:nvSpPr>
        <p:spPr>
          <a:xfrm>
            <a:off x="2651760" y="2788920"/>
            <a:ext cx="45720" cy="1737360"/>
          </a:xfrm>
          <a:prstGeom prst="rect">
            <a:avLst/>
          </a:prstGeom>
          <a:solidFill>
            <a:srgbClr val="00D4C8"/>
          </a:solidFill>
          <a:ln w="12700">
            <a:solidFill>
              <a:srgbClr val="00D4C8"/>
            </a:solidFill>
            <a:prstDash val="solid"/>
          </a:ln>
        </p:spPr>
      </p:sp>
      <p:sp>
        <p:nvSpPr>
          <p:cNvPr id="16" name="Text 14"/>
          <p:cNvSpPr/>
          <p:nvPr/>
        </p:nvSpPr>
        <p:spPr>
          <a:xfrm>
            <a:off x="2761488" y="2834640"/>
            <a:ext cx="1645920" cy="201168"/>
          </a:xfrm>
          <a:prstGeom prst="rect">
            <a:avLst/>
          </a:prstGeom>
          <a:noFill/>
          <a:ln/>
        </p:spPr>
        <p:txBody>
          <a:bodyPr wrap="square" rtlCol="0" anchor="ctr"/>
          <a:lstStyle/>
          <a:p>
            <a:pPr marL="0" indent="0">
              <a:buNone/>
            </a:pPr>
            <a:r>
              <a:rPr lang="en-US" sz="800" b="1" dirty="0">
                <a:solidFill>
                  <a:srgbClr val="00D4C8"/>
                </a:solidFill>
              </a:rPr>
              <a:t>自動</a:t>
            </a:r>
            <a:endParaRPr lang="en-US" sz="800" dirty="0"/>
          </a:p>
        </p:txBody>
      </p:sp>
      <p:sp>
        <p:nvSpPr>
          <p:cNvPr id="17" name="Text 15"/>
          <p:cNvSpPr/>
          <p:nvPr/>
        </p:nvSpPr>
        <p:spPr>
          <a:xfrm>
            <a:off x="2761488" y="3063240"/>
            <a:ext cx="1645920" cy="548640"/>
          </a:xfrm>
          <a:prstGeom prst="rect">
            <a:avLst/>
          </a:prstGeom>
          <a:noFill/>
          <a:ln/>
        </p:spPr>
        <p:txBody>
          <a:bodyPr wrap="square" rtlCol="0" anchor="ctr"/>
          <a:lstStyle/>
          <a:p>
            <a:pPr marL="0" indent="0">
              <a:buNone/>
            </a:pPr>
            <a:r>
              <a:rPr lang="en-US" sz="1300" b="1" dirty="0">
                <a:solidFill>
                  <a:srgbClr val="FFFFFF"/>
                </a:solidFill>
              </a:rPr>
              <a:t>⌚ Apple Watch</a:t>
            </a:r>
            <a:endParaRPr lang="en-US" sz="1300" dirty="0"/>
          </a:p>
          <a:p>
            <a:pPr marL="0" indent="0">
              <a:buNone/>
            </a:pPr>
            <a:r>
              <a:rPr lang="en-US" sz="1300" b="1" dirty="0">
                <a:solidFill>
                  <a:srgbClr val="FFFFFF"/>
                </a:solidFill>
              </a:rPr>
              <a:t>自動同期</a:t>
            </a:r>
            <a:endParaRPr lang="en-US" sz="1300" dirty="0"/>
          </a:p>
        </p:txBody>
      </p:sp>
      <p:sp>
        <p:nvSpPr>
          <p:cNvPr id="18" name="Text 16"/>
          <p:cNvSpPr/>
          <p:nvPr/>
        </p:nvSpPr>
        <p:spPr>
          <a:xfrm>
            <a:off x="2761488" y="3657600"/>
            <a:ext cx="1645920" cy="548640"/>
          </a:xfrm>
          <a:prstGeom prst="rect">
            <a:avLst/>
          </a:prstGeom>
          <a:noFill/>
          <a:ln/>
        </p:spPr>
        <p:txBody>
          <a:bodyPr wrap="square" rtlCol="0" anchor="ctr"/>
          <a:lstStyle/>
          <a:p>
            <a:pPr marL="0" indent="0">
              <a:buNone/>
            </a:pPr>
            <a:r>
              <a:rPr lang="en-US" sz="1000" dirty="0">
                <a:solidFill>
                  <a:srgbClr val="B0BBD0"/>
                </a:solidFill>
              </a:rPr>
              <a:t>HRV・睡眠</a:t>
            </a:r>
            <a:endParaRPr lang="en-US" sz="1000" dirty="0"/>
          </a:p>
          <a:p>
            <a:pPr marL="0" indent="0">
              <a:buNone/>
            </a:pPr>
            <a:r>
              <a:rPr lang="en-US" sz="1000" dirty="0">
                <a:solidFill>
                  <a:srgbClr val="B0BBD0"/>
                </a:solidFill>
              </a:rPr>
              <a:t>自動取得</a:t>
            </a:r>
            <a:endParaRPr lang="en-US" sz="1000" dirty="0"/>
          </a:p>
        </p:txBody>
      </p:sp>
      <p:sp>
        <p:nvSpPr>
          <p:cNvPr id="19" name="Shape 17"/>
          <p:cNvSpPr/>
          <p:nvPr/>
        </p:nvSpPr>
        <p:spPr>
          <a:xfrm>
            <a:off x="5349240" y="2450592"/>
            <a:ext cx="164592" cy="164592"/>
          </a:xfrm>
          <a:prstGeom prst="ellipse">
            <a:avLst/>
          </a:prstGeom>
          <a:solidFill>
            <a:srgbClr val="2ED47A"/>
          </a:solidFill>
          <a:ln w="12700">
            <a:solidFill>
              <a:srgbClr val="2ED47A"/>
            </a:solidFill>
            <a:prstDash val="solid"/>
          </a:ln>
        </p:spPr>
      </p:sp>
      <p:sp>
        <p:nvSpPr>
          <p:cNvPr id="20" name="Shape 18"/>
          <p:cNvSpPr/>
          <p:nvPr/>
        </p:nvSpPr>
        <p:spPr>
          <a:xfrm>
            <a:off x="4846320" y="2788920"/>
            <a:ext cx="1828800" cy="1737360"/>
          </a:xfrm>
          <a:prstGeom prst="rect">
            <a:avLst/>
          </a:prstGeom>
          <a:solidFill>
            <a:srgbClr val="141929"/>
          </a:solidFill>
          <a:ln w="6350">
            <a:solidFill>
              <a:srgbClr val="1F2A45"/>
            </a:solidFill>
            <a:prstDash val="solid"/>
          </a:ln>
          <a:effectLst>
            <a:outerShdw blurRad="101600" dist="25400" dir="8100000" algn="bl" rotWithShape="0">
              <a:srgbClr val="000000">
                <a:alpha val="25000"/>
              </a:srgbClr>
            </a:outerShdw>
          </a:effectLst>
        </p:spPr>
      </p:sp>
      <p:sp>
        <p:nvSpPr>
          <p:cNvPr id="21" name="Shape 19"/>
          <p:cNvSpPr/>
          <p:nvPr/>
        </p:nvSpPr>
        <p:spPr>
          <a:xfrm>
            <a:off x="4846320" y="2788920"/>
            <a:ext cx="45720" cy="1737360"/>
          </a:xfrm>
          <a:prstGeom prst="rect">
            <a:avLst/>
          </a:prstGeom>
          <a:solidFill>
            <a:srgbClr val="2ED47A"/>
          </a:solidFill>
          <a:ln w="12700">
            <a:solidFill>
              <a:srgbClr val="2ED47A"/>
            </a:solidFill>
            <a:prstDash val="solid"/>
          </a:ln>
        </p:spPr>
      </p:sp>
      <p:sp>
        <p:nvSpPr>
          <p:cNvPr id="22" name="Text 20"/>
          <p:cNvSpPr/>
          <p:nvPr/>
        </p:nvSpPr>
        <p:spPr>
          <a:xfrm>
            <a:off x="4956048" y="2834640"/>
            <a:ext cx="1645920" cy="201168"/>
          </a:xfrm>
          <a:prstGeom prst="rect">
            <a:avLst/>
          </a:prstGeom>
          <a:noFill/>
          <a:ln/>
        </p:spPr>
        <p:txBody>
          <a:bodyPr wrap="square" rtlCol="0" anchor="ctr"/>
          <a:lstStyle/>
          <a:p>
            <a:pPr marL="0" indent="0">
              <a:buNone/>
            </a:pPr>
            <a:r>
              <a:rPr lang="en-US" sz="800" b="1" dirty="0">
                <a:solidFill>
                  <a:srgbClr val="2ED47A"/>
                </a:solidFill>
              </a:rPr>
              <a:t>食事時</a:t>
            </a:r>
            <a:endParaRPr lang="en-US" sz="800" dirty="0"/>
          </a:p>
        </p:txBody>
      </p:sp>
      <p:sp>
        <p:nvSpPr>
          <p:cNvPr id="23" name="Text 21"/>
          <p:cNvSpPr/>
          <p:nvPr/>
        </p:nvSpPr>
        <p:spPr>
          <a:xfrm>
            <a:off x="4956048" y="3063240"/>
            <a:ext cx="1645920" cy="548640"/>
          </a:xfrm>
          <a:prstGeom prst="rect">
            <a:avLst/>
          </a:prstGeom>
          <a:noFill/>
          <a:ln/>
        </p:spPr>
        <p:txBody>
          <a:bodyPr wrap="square" rtlCol="0" anchor="ctr"/>
          <a:lstStyle/>
          <a:p>
            <a:pPr marL="0" indent="0">
              <a:buNone/>
            </a:pPr>
            <a:r>
              <a:rPr lang="en-US" sz="1300" b="1" dirty="0">
                <a:solidFill>
                  <a:srgbClr val="FFFFFF"/>
                </a:solidFill>
              </a:rPr>
              <a:t>🍽️ Gemini</a:t>
            </a:r>
            <a:endParaRPr lang="en-US" sz="1300" dirty="0"/>
          </a:p>
          <a:p>
            <a:pPr marL="0" indent="0">
              <a:buNone/>
            </a:pPr>
            <a:r>
              <a:rPr lang="en-US" sz="1300" b="1" dirty="0">
                <a:solidFill>
                  <a:srgbClr val="FFFFFF"/>
                </a:solidFill>
              </a:rPr>
              <a:t>栄養チャット</a:t>
            </a:r>
            <a:endParaRPr lang="en-US" sz="1300" dirty="0"/>
          </a:p>
        </p:txBody>
      </p:sp>
      <p:sp>
        <p:nvSpPr>
          <p:cNvPr id="24" name="Text 22"/>
          <p:cNvSpPr/>
          <p:nvPr/>
        </p:nvSpPr>
        <p:spPr>
          <a:xfrm>
            <a:off x="4956048" y="3657600"/>
            <a:ext cx="1645920" cy="548640"/>
          </a:xfrm>
          <a:prstGeom prst="rect">
            <a:avLst/>
          </a:prstGeom>
          <a:noFill/>
          <a:ln/>
        </p:spPr>
        <p:txBody>
          <a:bodyPr wrap="square" rtlCol="0" anchor="ctr"/>
          <a:lstStyle/>
          <a:p>
            <a:pPr marL="0" indent="0">
              <a:buNone/>
            </a:pPr>
            <a:r>
              <a:rPr lang="en-US" sz="1000" dirty="0">
                <a:solidFill>
                  <a:srgbClr val="B0BBD0"/>
                </a:solidFill>
              </a:rPr>
              <a:t>写真を送る</a:t>
            </a:r>
            <a:endParaRPr lang="en-US" sz="1000" dirty="0"/>
          </a:p>
          <a:p>
            <a:pPr marL="0" indent="0">
              <a:buNone/>
            </a:pPr>
            <a:r>
              <a:rPr lang="en-US" sz="1000" dirty="0">
                <a:solidFill>
                  <a:srgbClr val="B0BBD0"/>
                </a:solidFill>
              </a:rPr>
              <a:t>だけでOK</a:t>
            </a:r>
            <a:endParaRPr lang="en-US" sz="1000" dirty="0"/>
          </a:p>
        </p:txBody>
      </p:sp>
      <p:sp>
        <p:nvSpPr>
          <p:cNvPr id="25" name="Shape 23"/>
          <p:cNvSpPr/>
          <p:nvPr/>
        </p:nvSpPr>
        <p:spPr>
          <a:xfrm>
            <a:off x="7543800" y="2450592"/>
            <a:ext cx="164592" cy="164592"/>
          </a:xfrm>
          <a:prstGeom prst="ellipse">
            <a:avLst/>
          </a:prstGeom>
          <a:solidFill>
            <a:srgbClr val="9B59F5"/>
          </a:solidFill>
          <a:ln w="12700">
            <a:solidFill>
              <a:srgbClr val="9B59F5"/>
            </a:solidFill>
            <a:prstDash val="solid"/>
          </a:ln>
        </p:spPr>
      </p:sp>
      <p:sp>
        <p:nvSpPr>
          <p:cNvPr id="26" name="Shape 24"/>
          <p:cNvSpPr/>
          <p:nvPr/>
        </p:nvSpPr>
        <p:spPr>
          <a:xfrm>
            <a:off x="7040880" y="2788920"/>
            <a:ext cx="1828800" cy="1737360"/>
          </a:xfrm>
          <a:prstGeom prst="rect">
            <a:avLst/>
          </a:prstGeom>
          <a:solidFill>
            <a:srgbClr val="141929"/>
          </a:solidFill>
          <a:ln w="6350">
            <a:solidFill>
              <a:srgbClr val="1F2A45"/>
            </a:solidFill>
            <a:prstDash val="solid"/>
          </a:ln>
          <a:effectLst>
            <a:outerShdw blurRad="101600" dist="25400" dir="8100000" algn="bl" rotWithShape="0">
              <a:srgbClr val="000000">
                <a:alpha val="25000"/>
              </a:srgbClr>
            </a:outerShdw>
          </a:effectLst>
        </p:spPr>
      </p:sp>
      <p:sp>
        <p:nvSpPr>
          <p:cNvPr id="27" name="Shape 25"/>
          <p:cNvSpPr/>
          <p:nvPr/>
        </p:nvSpPr>
        <p:spPr>
          <a:xfrm>
            <a:off x="7040880" y="2788920"/>
            <a:ext cx="45720" cy="1737360"/>
          </a:xfrm>
          <a:prstGeom prst="rect">
            <a:avLst/>
          </a:prstGeom>
          <a:solidFill>
            <a:srgbClr val="9B59F5"/>
          </a:solidFill>
          <a:ln w="12700">
            <a:solidFill>
              <a:srgbClr val="9B59F5"/>
            </a:solidFill>
            <a:prstDash val="solid"/>
          </a:ln>
        </p:spPr>
      </p:sp>
      <p:sp>
        <p:nvSpPr>
          <p:cNvPr id="28" name="Text 26"/>
          <p:cNvSpPr/>
          <p:nvPr/>
        </p:nvSpPr>
        <p:spPr>
          <a:xfrm>
            <a:off x="7150608" y="2834640"/>
            <a:ext cx="1645920" cy="201168"/>
          </a:xfrm>
          <a:prstGeom prst="rect">
            <a:avLst/>
          </a:prstGeom>
          <a:noFill/>
          <a:ln/>
        </p:spPr>
        <p:txBody>
          <a:bodyPr wrap="square" rtlCol="0" anchor="ctr"/>
          <a:lstStyle/>
          <a:p>
            <a:pPr marL="0" indent="0">
              <a:buNone/>
            </a:pPr>
            <a:r>
              <a:rPr lang="en-US" sz="800" b="1" dirty="0">
                <a:solidFill>
                  <a:srgbClr val="9B59F5"/>
                </a:solidFill>
              </a:rPr>
              <a:t>就寝1h前</a:t>
            </a:r>
            <a:endParaRPr lang="en-US" sz="800" dirty="0"/>
          </a:p>
        </p:txBody>
      </p:sp>
      <p:sp>
        <p:nvSpPr>
          <p:cNvPr id="29" name="Text 27"/>
          <p:cNvSpPr/>
          <p:nvPr/>
        </p:nvSpPr>
        <p:spPr>
          <a:xfrm>
            <a:off x="7150608" y="3063240"/>
            <a:ext cx="1645920" cy="548640"/>
          </a:xfrm>
          <a:prstGeom prst="rect">
            <a:avLst/>
          </a:prstGeom>
          <a:noFill/>
          <a:ln/>
        </p:spPr>
        <p:txBody>
          <a:bodyPr wrap="square" rtlCol="0" anchor="ctr"/>
          <a:lstStyle/>
          <a:p>
            <a:pPr marL="0" indent="0">
              <a:buNone/>
            </a:pPr>
            <a:r>
              <a:rPr lang="en-US" sz="1300" b="1" dirty="0">
                <a:solidFill>
                  <a:srgbClr val="FFFFFF"/>
                </a:solidFill>
              </a:rPr>
              <a:t>🌙 夜フォーム</a:t>
            </a:r>
            <a:endParaRPr lang="en-US" sz="1300" dirty="0"/>
          </a:p>
        </p:txBody>
      </p:sp>
      <p:sp>
        <p:nvSpPr>
          <p:cNvPr id="30" name="Text 28"/>
          <p:cNvSpPr/>
          <p:nvPr/>
        </p:nvSpPr>
        <p:spPr>
          <a:xfrm>
            <a:off x="7150608" y="3657600"/>
            <a:ext cx="1645920" cy="548640"/>
          </a:xfrm>
          <a:prstGeom prst="rect">
            <a:avLst/>
          </a:prstGeom>
          <a:noFill/>
          <a:ln/>
        </p:spPr>
        <p:txBody>
          <a:bodyPr wrap="square" rtlCol="0" anchor="ctr"/>
          <a:lstStyle/>
          <a:p>
            <a:pPr marL="0" indent="0">
              <a:buNone/>
            </a:pPr>
            <a:r>
              <a:rPr lang="en-US" sz="1000" dirty="0">
                <a:solidFill>
                  <a:srgbClr val="B0BBD0"/>
                </a:solidFill>
              </a:rPr>
              <a:t>1分</a:t>
            </a:r>
            <a:endParaRPr lang="en-US" sz="1000" dirty="0"/>
          </a:p>
          <a:p>
            <a:pPr marL="0" indent="0">
              <a:buNone/>
            </a:pPr>
            <a:r>
              <a:rPr lang="en-US" sz="1000" dirty="0">
                <a:solidFill>
                  <a:srgbClr val="B0BBD0"/>
                </a:solidFill>
              </a:rPr>
              <a:t>ライフログ</a:t>
            </a:r>
            <a:endParaRPr lang="en-US" sz="1000" dirty="0"/>
          </a:p>
        </p:txBody>
      </p:sp>
      <p:sp>
        <p:nvSpPr>
          <p:cNvPr id="31" name="Shape 29"/>
          <p:cNvSpPr/>
          <p:nvPr/>
        </p:nvSpPr>
        <p:spPr>
          <a:xfrm>
            <a:off x="365760" y="1234440"/>
            <a:ext cx="8412480" cy="868680"/>
          </a:xfrm>
          <a:prstGeom prst="rect">
            <a:avLst/>
          </a:prstGeom>
          <a:solidFill>
            <a:srgbClr val="141929"/>
          </a:solidFill>
          <a:ln w="6350">
            <a:solidFill>
              <a:srgbClr val="1F2A45"/>
            </a:solidFill>
            <a:prstDash val="solid"/>
          </a:ln>
          <a:effectLst>
            <a:outerShdw blurRad="101600" dist="25400" dir="8100000" algn="bl" rotWithShape="0">
              <a:srgbClr val="000000">
                <a:alpha val="25000"/>
              </a:srgbClr>
            </a:outerShdw>
          </a:effectLst>
        </p:spPr>
      </p:sp>
      <p:sp>
        <p:nvSpPr>
          <p:cNvPr id="32" name="Text 30"/>
          <p:cNvSpPr/>
          <p:nvPr/>
        </p:nvSpPr>
        <p:spPr>
          <a:xfrm>
            <a:off x="502920" y="1298448"/>
            <a:ext cx="2286000" cy="228600"/>
          </a:xfrm>
          <a:prstGeom prst="rect">
            <a:avLst/>
          </a:prstGeom>
          <a:noFill/>
          <a:ln/>
        </p:spPr>
        <p:txBody>
          <a:bodyPr wrap="square" rtlCol="0" anchor="ctr"/>
          <a:lstStyle/>
          <a:p>
            <a:pPr marL="0" indent="0">
              <a:buNone/>
            </a:pPr>
            <a:r>
              <a:rPr lang="en-US" sz="900" b="1" kern="0" spc="200" dirty="0">
                <a:solidFill>
                  <a:srgbClr val="00D4C8"/>
                </a:solidFill>
              </a:rPr>
              <a:t>週次・月次タスク</a:t>
            </a:r>
            <a:endParaRPr lang="en-US" sz="900" dirty="0"/>
          </a:p>
        </p:txBody>
      </p:sp>
      <p:sp>
        <p:nvSpPr>
          <p:cNvPr id="33" name="Text 31"/>
          <p:cNvSpPr/>
          <p:nvPr/>
        </p:nvSpPr>
        <p:spPr>
          <a:xfrm>
            <a:off x="502920" y="1554480"/>
            <a:ext cx="182880" cy="201168"/>
          </a:xfrm>
          <a:prstGeom prst="rect">
            <a:avLst/>
          </a:prstGeom>
          <a:noFill/>
          <a:ln/>
        </p:spPr>
        <p:txBody>
          <a:bodyPr wrap="square" rtlCol="0" anchor="ctr"/>
          <a:lstStyle/>
          <a:p>
            <a:pPr marL="0" indent="0">
              <a:buNone/>
            </a:pPr>
            <a:r>
              <a:rPr lang="en-US" sz="900" dirty="0">
                <a:solidFill>
                  <a:srgbClr val="F57C2E"/>
                </a:solidFill>
              </a:rPr>
              <a:t>■ </a:t>
            </a:r>
            <a:endParaRPr lang="en-US" sz="900" dirty="0"/>
          </a:p>
        </p:txBody>
      </p:sp>
      <p:sp>
        <p:nvSpPr>
          <p:cNvPr id="34" name="Text 32"/>
          <p:cNvSpPr/>
          <p:nvPr/>
        </p:nvSpPr>
        <p:spPr>
          <a:xfrm>
            <a:off x="685800" y="1554480"/>
            <a:ext cx="3931920" cy="201168"/>
          </a:xfrm>
          <a:prstGeom prst="rect">
            <a:avLst/>
          </a:prstGeom>
          <a:noFill/>
          <a:ln/>
        </p:spPr>
        <p:txBody>
          <a:bodyPr wrap="square" rtlCol="0" anchor="ctr"/>
          <a:lstStyle/>
          <a:p>
            <a:pPr marL="0" indent="0">
              <a:buNone/>
            </a:pPr>
            <a:r>
              <a:rPr lang="en-US" sz="900" dirty="0">
                <a:solidFill>
                  <a:srgbClr val="B0BBD0"/>
                </a:solidFill>
              </a:rPr>
              <a:t>[週2回]  10分間ランニング（心肺テスト）</a:t>
            </a:r>
            <a:endParaRPr lang="en-US" sz="900" dirty="0"/>
          </a:p>
        </p:txBody>
      </p:sp>
      <p:sp>
        <p:nvSpPr>
          <p:cNvPr id="35" name="Text 33"/>
          <p:cNvSpPr/>
          <p:nvPr/>
        </p:nvSpPr>
        <p:spPr>
          <a:xfrm>
            <a:off x="502920" y="1810512"/>
            <a:ext cx="182880" cy="201168"/>
          </a:xfrm>
          <a:prstGeom prst="rect">
            <a:avLst/>
          </a:prstGeom>
          <a:noFill/>
          <a:ln/>
        </p:spPr>
        <p:txBody>
          <a:bodyPr wrap="square" rtlCol="0" anchor="ctr"/>
          <a:lstStyle/>
          <a:p>
            <a:pPr marL="0" indent="0">
              <a:buNone/>
            </a:pPr>
            <a:r>
              <a:rPr lang="en-US" sz="900" dirty="0">
                <a:solidFill>
                  <a:srgbClr val="3D9BE9"/>
                </a:solidFill>
              </a:rPr>
              <a:t>■ </a:t>
            </a:r>
            <a:endParaRPr lang="en-US" sz="900" dirty="0"/>
          </a:p>
        </p:txBody>
      </p:sp>
      <p:sp>
        <p:nvSpPr>
          <p:cNvPr id="36" name="Text 34"/>
          <p:cNvSpPr/>
          <p:nvPr/>
        </p:nvSpPr>
        <p:spPr>
          <a:xfrm>
            <a:off x="685800" y="1810512"/>
            <a:ext cx="3931920" cy="201168"/>
          </a:xfrm>
          <a:prstGeom prst="rect">
            <a:avLst/>
          </a:prstGeom>
          <a:noFill/>
          <a:ln/>
        </p:spPr>
        <p:txBody>
          <a:bodyPr wrap="square" rtlCol="0" anchor="ctr"/>
          <a:lstStyle/>
          <a:p>
            <a:pPr marL="0" indent="0">
              <a:buNone/>
            </a:pPr>
            <a:r>
              <a:rPr lang="en-US" sz="900" dirty="0">
                <a:solidFill>
                  <a:srgbClr val="B0BBD0"/>
                </a:solidFill>
              </a:rPr>
              <a:t>[週1回]  プッシュアップ最大回数（筋持久力テスト）</a:t>
            </a:r>
            <a:endParaRPr lang="en-US" sz="900" dirty="0"/>
          </a:p>
        </p:txBody>
      </p:sp>
      <p:sp>
        <p:nvSpPr>
          <p:cNvPr id="37" name="Text 35"/>
          <p:cNvSpPr/>
          <p:nvPr/>
        </p:nvSpPr>
        <p:spPr>
          <a:xfrm>
            <a:off x="4709160" y="1554480"/>
            <a:ext cx="182880" cy="201168"/>
          </a:xfrm>
          <a:prstGeom prst="rect">
            <a:avLst/>
          </a:prstGeom>
          <a:noFill/>
          <a:ln/>
        </p:spPr>
        <p:txBody>
          <a:bodyPr wrap="square" rtlCol="0" anchor="ctr"/>
          <a:lstStyle/>
          <a:p>
            <a:pPr marL="0" indent="0">
              <a:buNone/>
            </a:pPr>
            <a:r>
              <a:rPr lang="en-US" sz="900" dirty="0">
                <a:solidFill>
                  <a:srgbClr val="2ED47A"/>
                </a:solidFill>
              </a:rPr>
              <a:t>■ </a:t>
            </a:r>
            <a:endParaRPr lang="en-US" sz="900" dirty="0"/>
          </a:p>
        </p:txBody>
      </p:sp>
      <p:sp>
        <p:nvSpPr>
          <p:cNvPr id="38" name="Text 36"/>
          <p:cNvSpPr/>
          <p:nvPr/>
        </p:nvSpPr>
        <p:spPr>
          <a:xfrm>
            <a:off x="4892040" y="1554480"/>
            <a:ext cx="3931920" cy="201168"/>
          </a:xfrm>
          <a:prstGeom prst="rect">
            <a:avLst/>
          </a:prstGeom>
          <a:noFill/>
          <a:ln/>
        </p:spPr>
        <p:txBody>
          <a:bodyPr wrap="square" rtlCol="0" anchor="ctr"/>
          <a:lstStyle/>
          <a:p>
            <a:pPr marL="0" indent="0">
              <a:buNone/>
            </a:pPr>
            <a:r>
              <a:rPr lang="en-US" sz="900" dirty="0">
                <a:solidFill>
                  <a:srgbClr val="B0BBD0"/>
                </a:solidFill>
              </a:rPr>
              <a:t>[毎週日曜]  週次データ統合・相関チェック</a:t>
            </a:r>
            <a:endParaRPr lang="en-US" sz="900" dirty="0"/>
          </a:p>
        </p:txBody>
      </p:sp>
      <p:sp>
        <p:nvSpPr>
          <p:cNvPr id="39" name="Text 37"/>
          <p:cNvSpPr/>
          <p:nvPr/>
        </p:nvSpPr>
        <p:spPr>
          <a:xfrm>
            <a:off x="4709160" y="1810512"/>
            <a:ext cx="182880" cy="201168"/>
          </a:xfrm>
          <a:prstGeom prst="rect">
            <a:avLst/>
          </a:prstGeom>
          <a:noFill/>
          <a:ln/>
        </p:spPr>
        <p:txBody>
          <a:bodyPr wrap="square" rtlCol="0" anchor="ctr"/>
          <a:lstStyle/>
          <a:p>
            <a:pPr marL="0" indent="0">
              <a:buNone/>
            </a:pPr>
            <a:r>
              <a:rPr lang="en-US" sz="900" dirty="0">
                <a:solidFill>
                  <a:srgbClr val="F5C842"/>
                </a:solidFill>
              </a:rPr>
              <a:t>■ </a:t>
            </a:r>
            <a:endParaRPr lang="en-US" sz="900" dirty="0"/>
          </a:p>
        </p:txBody>
      </p:sp>
      <p:sp>
        <p:nvSpPr>
          <p:cNvPr id="40" name="Text 38"/>
          <p:cNvSpPr/>
          <p:nvPr/>
        </p:nvSpPr>
        <p:spPr>
          <a:xfrm>
            <a:off x="4892040" y="1810512"/>
            <a:ext cx="3931920" cy="201168"/>
          </a:xfrm>
          <a:prstGeom prst="rect">
            <a:avLst/>
          </a:prstGeom>
          <a:noFill/>
          <a:ln/>
        </p:spPr>
        <p:txBody>
          <a:bodyPr wrap="square" rtlCol="0" anchor="ctr"/>
          <a:lstStyle/>
          <a:p>
            <a:pPr marL="0" indent="0">
              <a:buNone/>
            </a:pPr>
            <a:r>
              <a:rPr lang="en-US" sz="900" dirty="0">
                <a:solidFill>
                  <a:srgbClr val="B0BBD0"/>
                </a:solidFill>
              </a:rPr>
              <a:t>[月1〜2回]  血液検査 / InBody（定期ハードデータ）</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0E1A"/>
        </a:solidFill>
        <a:effectLst/>
      </p:bgPr>
    </p:bg>
    <p:spTree>
      <p:nvGrpSpPr>
        <p:cNvPr id="1" name=""/>
        <p:cNvGrpSpPr/>
        <p:nvPr/>
      </p:nvGrpSpPr>
      <p:grpSpPr>
        <a:xfrm>
          <a:off x="0" y="0"/>
          <a:ext cx="0" cy="0"/>
          <a:chOff x="0" y="0"/>
          <a:chExt cx="0" cy="0"/>
        </a:xfrm>
      </p:grpSpPr>
      <p:sp>
        <p:nvSpPr>
          <p:cNvPr id="2" name="Text 0"/>
          <p:cNvSpPr/>
          <p:nvPr/>
        </p:nvSpPr>
        <p:spPr>
          <a:xfrm>
            <a:off x="365760" y="201168"/>
            <a:ext cx="8229600" cy="228600"/>
          </a:xfrm>
          <a:prstGeom prst="rect">
            <a:avLst/>
          </a:prstGeom>
          <a:noFill/>
          <a:ln/>
        </p:spPr>
        <p:txBody>
          <a:bodyPr wrap="square" rtlCol="0" anchor="ctr"/>
          <a:lstStyle/>
          <a:p>
            <a:pPr marL="0" indent="0">
              <a:buNone/>
            </a:pPr>
            <a:r>
              <a:rPr lang="en-US" sz="800" b="1" kern="0" spc="300" dirty="0">
                <a:solidFill>
                  <a:srgbClr val="00D4C8"/>
                </a:solidFill>
              </a:rPr>
              <a:t>STEP 0  —  INITIAL SETUP</a:t>
            </a:r>
            <a:endParaRPr lang="en-US" sz="800" dirty="0"/>
          </a:p>
        </p:txBody>
      </p:sp>
      <p:sp>
        <p:nvSpPr>
          <p:cNvPr id="3" name="Text 1"/>
          <p:cNvSpPr/>
          <p:nvPr/>
        </p:nvSpPr>
        <p:spPr>
          <a:xfrm>
            <a:off x="365760" y="475488"/>
            <a:ext cx="8412480" cy="548640"/>
          </a:xfrm>
          <a:prstGeom prst="rect">
            <a:avLst/>
          </a:prstGeom>
          <a:noFill/>
          <a:ln/>
        </p:spPr>
        <p:txBody>
          <a:bodyPr wrap="square" rtlCol="0" anchor="ctr"/>
          <a:lstStyle/>
          <a:p>
            <a:pPr marL="0" indent="0">
              <a:buNone/>
            </a:pPr>
            <a:r>
              <a:rPr lang="en-US" sz="2800" b="1" dirty="0">
                <a:solidFill>
                  <a:srgbClr val="FFFFFF"/>
                </a:solidFill>
              </a:rPr>
              <a:t>事前準備チェックリスト</a:t>
            </a:r>
            <a:endParaRPr lang="en-US" sz="2800" dirty="0"/>
          </a:p>
        </p:txBody>
      </p:sp>
      <p:sp>
        <p:nvSpPr>
          <p:cNvPr id="4" name="Text 2"/>
          <p:cNvSpPr/>
          <p:nvPr/>
        </p:nvSpPr>
        <p:spPr>
          <a:xfrm>
            <a:off x="365760" y="978408"/>
            <a:ext cx="8412480" cy="274320"/>
          </a:xfrm>
          <a:prstGeom prst="rect">
            <a:avLst/>
          </a:prstGeom>
          <a:noFill/>
          <a:ln/>
        </p:spPr>
        <p:txBody>
          <a:bodyPr wrap="square" rtlCol="0" anchor="ctr"/>
          <a:lstStyle/>
          <a:p>
            <a:pPr marL="0" indent="0">
              <a:buNone/>
            </a:pPr>
            <a:r>
              <a:rPr lang="en-US" sz="1200" dirty="0">
                <a:solidFill>
                  <a:srgbClr val="B0BBD0"/>
                </a:solidFill>
              </a:rPr>
              <a:t>研究開始前に一度だけ行うセットアップ</a:t>
            </a:r>
            <a:endParaRPr lang="en-US" sz="1200" dirty="0"/>
          </a:p>
        </p:txBody>
      </p:sp>
      <p:sp>
        <p:nvSpPr>
          <p:cNvPr id="5" name="Shape 3"/>
          <p:cNvSpPr/>
          <p:nvPr/>
        </p:nvSpPr>
        <p:spPr>
          <a:xfrm>
            <a:off x="365760" y="1371600"/>
            <a:ext cx="8412480" cy="22860"/>
          </a:xfrm>
          <a:prstGeom prst="rect">
            <a:avLst/>
          </a:prstGeom>
          <a:solidFill>
            <a:srgbClr val="1F2A45"/>
          </a:solidFill>
          <a:ln w="12700">
            <a:solidFill>
              <a:srgbClr val="1F2A45"/>
            </a:solidFill>
            <a:prstDash val="solid"/>
          </a:ln>
        </p:spPr>
      </p:sp>
      <p:sp>
        <p:nvSpPr>
          <p:cNvPr id="6" name="Shape 4"/>
          <p:cNvSpPr/>
          <p:nvPr/>
        </p:nvSpPr>
        <p:spPr>
          <a:xfrm>
            <a:off x="365760" y="1280160"/>
            <a:ext cx="4114800" cy="1554480"/>
          </a:xfrm>
          <a:prstGeom prst="rect">
            <a:avLst/>
          </a:prstGeom>
          <a:solidFill>
            <a:srgbClr val="141929"/>
          </a:solidFill>
          <a:ln w="6350">
            <a:solidFill>
              <a:srgbClr val="1F2A45"/>
            </a:solidFill>
            <a:prstDash val="solid"/>
          </a:ln>
          <a:effectLst>
            <a:outerShdw blurRad="101600" dist="25400" dir="8100000" algn="bl" rotWithShape="0">
              <a:srgbClr val="000000">
                <a:alpha val="25000"/>
              </a:srgbClr>
            </a:outerShdw>
          </a:effectLst>
        </p:spPr>
      </p:sp>
      <p:sp>
        <p:nvSpPr>
          <p:cNvPr id="7" name="Shape 5"/>
          <p:cNvSpPr/>
          <p:nvPr/>
        </p:nvSpPr>
        <p:spPr>
          <a:xfrm>
            <a:off x="365760" y="1280160"/>
            <a:ext cx="45720" cy="1554480"/>
          </a:xfrm>
          <a:prstGeom prst="rect">
            <a:avLst/>
          </a:prstGeom>
          <a:solidFill>
            <a:srgbClr val="F5C842"/>
          </a:solidFill>
          <a:ln w="12700">
            <a:solidFill>
              <a:srgbClr val="F5C842"/>
            </a:solidFill>
            <a:prstDash val="solid"/>
          </a:ln>
        </p:spPr>
      </p:sp>
      <p:sp>
        <p:nvSpPr>
          <p:cNvPr id="8" name="Shape 6"/>
          <p:cNvSpPr/>
          <p:nvPr/>
        </p:nvSpPr>
        <p:spPr>
          <a:xfrm>
            <a:off x="475488" y="1417320"/>
            <a:ext cx="384048" cy="384048"/>
          </a:xfrm>
          <a:prstGeom prst="rect">
            <a:avLst/>
          </a:prstGeom>
          <a:solidFill>
            <a:srgbClr val="F5C842"/>
          </a:solidFill>
          <a:ln w="12700">
            <a:solidFill>
              <a:srgbClr val="F5C842"/>
            </a:solidFill>
            <a:prstDash val="solid"/>
          </a:ln>
        </p:spPr>
      </p:sp>
      <p:sp>
        <p:nvSpPr>
          <p:cNvPr id="9" name="Text 7"/>
          <p:cNvSpPr/>
          <p:nvPr/>
        </p:nvSpPr>
        <p:spPr>
          <a:xfrm>
            <a:off x="475488" y="1417320"/>
            <a:ext cx="384048" cy="384048"/>
          </a:xfrm>
          <a:prstGeom prst="rect">
            <a:avLst/>
          </a:prstGeom>
          <a:noFill/>
          <a:ln/>
        </p:spPr>
        <p:txBody>
          <a:bodyPr wrap="square" lIns="0" tIns="0" rIns="0" bIns="0" rtlCol="0" anchor="ctr"/>
          <a:lstStyle/>
          <a:p>
            <a:pPr marL="0" indent="0" algn="ctr">
              <a:buNone/>
            </a:pPr>
            <a:r>
              <a:rPr lang="en-US" sz="1600" b="1" dirty="0">
                <a:solidFill>
                  <a:srgbClr val="FFFFFF"/>
                </a:solidFill>
              </a:rPr>
              <a:t>1</a:t>
            </a:r>
            <a:endParaRPr lang="en-US" sz="1600" dirty="0"/>
          </a:p>
        </p:txBody>
      </p:sp>
      <p:sp>
        <p:nvSpPr>
          <p:cNvPr id="10" name="Text 8"/>
          <p:cNvSpPr/>
          <p:nvPr/>
        </p:nvSpPr>
        <p:spPr>
          <a:xfrm>
            <a:off x="960120" y="1417320"/>
            <a:ext cx="3383280" cy="320040"/>
          </a:xfrm>
          <a:prstGeom prst="rect">
            <a:avLst/>
          </a:prstGeom>
          <a:noFill/>
          <a:ln/>
        </p:spPr>
        <p:txBody>
          <a:bodyPr wrap="square" rtlCol="0" anchor="ctr"/>
          <a:lstStyle/>
          <a:p>
            <a:pPr marL="0" indent="0">
              <a:buNone/>
            </a:pPr>
            <a:r>
              <a:rPr lang="en-US" sz="1300" b="1" dirty="0">
                <a:solidFill>
                  <a:srgbClr val="FFFFFF"/>
                </a:solidFill>
              </a:rPr>
              <a:t>初回アンケートへの回答</a:t>
            </a:r>
            <a:endParaRPr lang="en-US" sz="1300" dirty="0"/>
          </a:p>
        </p:txBody>
      </p:sp>
      <p:sp>
        <p:nvSpPr>
          <p:cNvPr id="11" name="Text 9"/>
          <p:cNvSpPr/>
          <p:nvPr/>
        </p:nvSpPr>
        <p:spPr>
          <a:xfrm>
            <a:off x="475488" y="1810512"/>
            <a:ext cx="3886200" cy="914400"/>
          </a:xfrm>
          <a:prstGeom prst="rect">
            <a:avLst/>
          </a:prstGeom>
          <a:noFill/>
          <a:ln/>
        </p:spPr>
        <p:txBody>
          <a:bodyPr wrap="square" rtlCol="0" anchor="ctr"/>
          <a:lstStyle/>
          <a:p>
            <a:pPr marL="0" indent="0">
              <a:buNone/>
            </a:pPr>
            <a:r>
              <a:rPr lang="en-US" sz="950" dirty="0">
                <a:solidFill>
                  <a:srgbClr val="B0BBD0"/>
                </a:solidFill>
              </a:rPr>
              <a:t>生活習慣・健康歴・喫煙歴・過去の怪我などを記録する初回サーベイを実施します。</a:t>
            </a:r>
            <a:endParaRPr lang="en-US" sz="950" dirty="0"/>
          </a:p>
          <a:p>
            <a:pPr marL="0" indent="0">
              <a:buNone/>
            </a:pPr>
            <a:r>
              <a:rPr lang="en-US" sz="950" dirty="0">
                <a:solidFill>
                  <a:srgbClr val="B0BBD0"/>
                </a:solidFill>
              </a:rPr>
              <a:t>これがあなたのベースライン（基準値）となります。</a:t>
            </a:r>
            <a:endParaRPr lang="en-US" sz="950" dirty="0"/>
          </a:p>
        </p:txBody>
      </p:sp>
      <p:sp>
        <p:nvSpPr>
          <p:cNvPr id="12" name="Shape 10"/>
          <p:cNvSpPr/>
          <p:nvPr/>
        </p:nvSpPr>
        <p:spPr>
          <a:xfrm>
            <a:off x="4663440" y="1280160"/>
            <a:ext cx="4114800" cy="1554480"/>
          </a:xfrm>
          <a:prstGeom prst="rect">
            <a:avLst/>
          </a:prstGeom>
          <a:solidFill>
            <a:srgbClr val="141929"/>
          </a:solidFill>
          <a:ln w="6350">
            <a:solidFill>
              <a:srgbClr val="1F2A45"/>
            </a:solidFill>
            <a:prstDash val="solid"/>
          </a:ln>
          <a:effectLst>
            <a:outerShdw blurRad="101600" dist="25400" dir="8100000" algn="bl" rotWithShape="0">
              <a:srgbClr val="000000">
                <a:alpha val="25000"/>
              </a:srgbClr>
            </a:outerShdw>
          </a:effectLst>
        </p:spPr>
      </p:sp>
      <p:sp>
        <p:nvSpPr>
          <p:cNvPr id="13" name="Shape 11"/>
          <p:cNvSpPr/>
          <p:nvPr/>
        </p:nvSpPr>
        <p:spPr>
          <a:xfrm>
            <a:off x="4663440" y="1280160"/>
            <a:ext cx="45720" cy="1554480"/>
          </a:xfrm>
          <a:prstGeom prst="rect">
            <a:avLst/>
          </a:prstGeom>
          <a:solidFill>
            <a:srgbClr val="3D9BE9"/>
          </a:solidFill>
          <a:ln w="12700">
            <a:solidFill>
              <a:srgbClr val="3D9BE9"/>
            </a:solidFill>
            <a:prstDash val="solid"/>
          </a:ln>
        </p:spPr>
      </p:sp>
      <p:sp>
        <p:nvSpPr>
          <p:cNvPr id="14" name="Shape 12"/>
          <p:cNvSpPr/>
          <p:nvPr/>
        </p:nvSpPr>
        <p:spPr>
          <a:xfrm>
            <a:off x="4773168" y="1417320"/>
            <a:ext cx="384048" cy="384048"/>
          </a:xfrm>
          <a:prstGeom prst="rect">
            <a:avLst/>
          </a:prstGeom>
          <a:solidFill>
            <a:srgbClr val="3D9BE9"/>
          </a:solidFill>
          <a:ln w="12700">
            <a:solidFill>
              <a:srgbClr val="3D9BE9"/>
            </a:solidFill>
            <a:prstDash val="solid"/>
          </a:ln>
        </p:spPr>
      </p:sp>
      <p:sp>
        <p:nvSpPr>
          <p:cNvPr id="15" name="Text 13"/>
          <p:cNvSpPr/>
          <p:nvPr/>
        </p:nvSpPr>
        <p:spPr>
          <a:xfrm>
            <a:off x="4773168" y="1417320"/>
            <a:ext cx="384048" cy="384048"/>
          </a:xfrm>
          <a:prstGeom prst="rect">
            <a:avLst/>
          </a:prstGeom>
          <a:noFill/>
          <a:ln/>
        </p:spPr>
        <p:txBody>
          <a:bodyPr wrap="square" lIns="0" tIns="0" rIns="0" bIns="0" rtlCol="0" anchor="ctr"/>
          <a:lstStyle/>
          <a:p>
            <a:pPr marL="0" indent="0" algn="ctr">
              <a:buNone/>
            </a:pPr>
            <a:r>
              <a:rPr lang="en-US" sz="1600" b="1" dirty="0">
                <a:solidFill>
                  <a:srgbClr val="FFFFFF"/>
                </a:solidFill>
              </a:rPr>
              <a:t>2</a:t>
            </a:r>
            <a:endParaRPr lang="en-US" sz="1600" dirty="0"/>
          </a:p>
        </p:txBody>
      </p:sp>
      <p:sp>
        <p:nvSpPr>
          <p:cNvPr id="16" name="Text 14"/>
          <p:cNvSpPr/>
          <p:nvPr/>
        </p:nvSpPr>
        <p:spPr>
          <a:xfrm>
            <a:off x="5257800" y="1417320"/>
            <a:ext cx="3383280" cy="320040"/>
          </a:xfrm>
          <a:prstGeom prst="rect">
            <a:avLst/>
          </a:prstGeom>
          <a:noFill/>
          <a:ln/>
        </p:spPr>
        <p:txBody>
          <a:bodyPr wrap="square" rtlCol="0" anchor="ctr"/>
          <a:lstStyle/>
          <a:p>
            <a:pPr marL="0" indent="0">
              <a:buNone/>
            </a:pPr>
            <a:r>
              <a:rPr lang="en-US" sz="1300" b="1" dirty="0">
                <a:solidFill>
                  <a:srgbClr val="FFFFFF"/>
                </a:solidFill>
              </a:rPr>
              <a:t>Apple Watch の設定（Auto Health Export）</a:t>
            </a:r>
            <a:endParaRPr lang="en-US" sz="1300" dirty="0"/>
          </a:p>
        </p:txBody>
      </p:sp>
      <p:sp>
        <p:nvSpPr>
          <p:cNvPr id="17" name="Text 15"/>
          <p:cNvSpPr/>
          <p:nvPr/>
        </p:nvSpPr>
        <p:spPr>
          <a:xfrm>
            <a:off x="4773168" y="1810512"/>
            <a:ext cx="3886200" cy="914400"/>
          </a:xfrm>
          <a:prstGeom prst="rect">
            <a:avLst/>
          </a:prstGeom>
          <a:noFill/>
          <a:ln/>
        </p:spPr>
        <p:txBody>
          <a:bodyPr wrap="square" rtlCol="0" anchor="ctr"/>
          <a:lstStyle/>
          <a:p>
            <a:pPr marL="0" indent="0">
              <a:buNone/>
            </a:pPr>
            <a:r>
              <a:rPr lang="en-US" sz="950" dirty="0">
                <a:solidFill>
                  <a:srgbClr val="B0BBD0"/>
                </a:solidFill>
              </a:rPr>
              <a:t>Health メトリクス選択画面にて、チェックすべき指標をONにします。</a:t>
            </a:r>
            <a:endParaRPr lang="en-US" sz="950" dirty="0"/>
          </a:p>
          <a:p>
            <a:pPr marL="0" indent="0">
              <a:buNone/>
            </a:pPr>
            <a:r>
              <a:rPr lang="en-US" sz="950" dirty="0">
                <a:solidFill>
                  <a:srgbClr val="B0BBD0"/>
                </a:solidFill>
              </a:rPr>
              <a:t>最重要：心拍変動(HRV)、VO2 Max、睡眠分析、ランニングパワー、ランニングのスピード、安静時心拍数、呼吸数、血圧、睡眠時手首温度</a:t>
            </a:r>
            <a:endParaRPr lang="en-US" sz="950" dirty="0"/>
          </a:p>
        </p:txBody>
      </p:sp>
      <p:sp>
        <p:nvSpPr>
          <p:cNvPr id="18" name="Shape 16"/>
          <p:cNvSpPr/>
          <p:nvPr/>
        </p:nvSpPr>
        <p:spPr>
          <a:xfrm>
            <a:off x="365760" y="2971800"/>
            <a:ext cx="4114800" cy="1554480"/>
          </a:xfrm>
          <a:prstGeom prst="rect">
            <a:avLst/>
          </a:prstGeom>
          <a:solidFill>
            <a:srgbClr val="141929"/>
          </a:solidFill>
          <a:ln w="6350">
            <a:solidFill>
              <a:srgbClr val="1F2A45"/>
            </a:solidFill>
            <a:prstDash val="solid"/>
          </a:ln>
          <a:effectLst>
            <a:outerShdw blurRad="101600" dist="25400" dir="8100000" algn="bl" rotWithShape="0">
              <a:srgbClr val="000000">
                <a:alpha val="25000"/>
              </a:srgbClr>
            </a:outerShdw>
          </a:effectLst>
        </p:spPr>
      </p:sp>
      <p:sp>
        <p:nvSpPr>
          <p:cNvPr id="19" name="Shape 17"/>
          <p:cNvSpPr/>
          <p:nvPr/>
        </p:nvSpPr>
        <p:spPr>
          <a:xfrm>
            <a:off x="365760" y="2971800"/>
            <a:ext cx="45720" cy="1554480"/>
          </a:xfrm>
          <a:prstGeom prst="rect">
            <a:avLst/>
          </a:prstGeom>
          <a:solidFill>
            <a:srgbClr val="00D4C8"/>
          </a:solidFill>
          <a:ln w="12700">
            <a:solidFill>
              <a:srgbClr val="00D4C8"/>
            </a:solidFill>
            <a:prstDash val="solid"/>
          </a:ln>
        </p:spPr>
      </p:sp>
      <p:sp>
        <p:nvSpPr>
          <p:cNvPr id="20" name="Shape 18"/>
          <p:cNvSpPr/>
          <p:nvPr/>
        </p:nvSpPr>
        <p:spPr>
          <a:xfrm>
            <a:off x="475488" y="3108960"/>
            <a:ext cx="384048" cy="384048"/>
          </a:xfrm>
          <a:prstGeom prst="rect">
            <a:avLst/>
          </a:prstGeom>
          <a:solidFill>
            <a:srgbClr val="00D4C8"/>
          </a:solidFill>
          <a:ln w="12700">
            <a:solidFill>
              <a:srgbClr val="00D4C8"/>
            </a:solidFill>
            <a:prstDash val="solid"/>
          </a:ln>
        </p:spPr>
      </p:sp>
      <p:sp>
        <p:nvSpPr>
          <p:cNvPr id="21" name="Text 19"/>
          <p:cNvSpPr/>
          <p:nvPr/>
        </p:nvSpPr>
        <p:spPr>
          <a:xfrm>
            <a:off x="475488" y="3108960"/>
            <a:ext cx="384048" cy="384048"/>
          </a:xfrm>
          <a:prstGeom prst="rect">
            <a:avLst/>
          </a:prstGeom>
          <a:noFill/>
          <a:ln/>
        </p:spPr>
        <p:txBody>
          <a:bodyPr wrap="square" lIns="0" tIns="0" rIns="0" bIns="0" rtlCol="0" anchor="ctr"/>
          <a:lstStyle/>
          <a:p>
            <a:pPr marL="0" indent="0" algn="ctr">
              <a:buNone/>
            </a:pPr>
            <a:r>
              <a:rPr lang="en-US" sz="1600" b="1" dirty="0">
                <a:solidFill>
                  <a:srgbClr val="FFFFFF"/>
                </a:solidFill>
              </a:rPr>
              <a:t>3</a:t>
            </a:r>
            <a:endParaRPr lang="en-US" sz="1600" dirty="0"/>
          </a:p>
        </p:txBody>
      </p:sp>
      <p:sp>
        <p:nvSpPr>
          <p:cNvPr id="22" name="Text 20"/>
          <p:cNvSpPr/>
          <p:nvPr/>
        </p:nvSpPr>
        <p:spPr>
          <a:xfrm>
            <a:off x="960120" y="3108960"/>
            <a:ext cx="3383280" cy="320040"/>
          </a:xfrm>
          <a:prstGeom prst="rect">
            <a:avLst/>
          </a:prstGeom>
          <a:noFill/>
          <a:ln/>
        </p:spPr>
        <p:txBody>
          <a:bodyPr wrap="square" rtlCol="0" anchor="ctr"/>
          <a:lstStyle/>
          <a:p>
            <a:pPr marL="0" indent="0">
              <a:buNone/>
            </a:pPr>
            <a:r>
              <a:rPr lang="en-US" sz="1300" b="1" dirty="0">
                <a:solidFill>
                  <a:srgbClr val="FFFFFF"/>
                </a:solidFill>
              </a:rPr>
              <a:t>CogniFit アプリのダウンロード</a:t>
            </a:r>
            <a:endParaRPr lang="en-US" sz="1300" dirty="0"/>
          </a:p>
        </p:txBody>
      </p:sp>
      <p:sp>
        <p:nvSpPr>
          <p:cNvPr id="23" name="Text 21"/>
          <p:cNvSpPr/>
          <p:nvPr/>
        </p:nvSpPr>
        <p:spPr>
          <a:xfrm>
            <a:off x="475488" y="3502152"/>
            <a:ext cx="3886200" cy="914400"/>
          </a:xfrm>
          <a:prstGeom prst="rect">
            <a:avLst/>
          </a:prstGeom>
          <a:noFill/>
          <a:ln/>
        </p:spPr>
        <p:txBody>
          <a:bodyPr wrap="square" rtlCol="0" anchor="ctr"/>
          <a:lstStyle/>
          <a:p>
            <a:pPr marL="0" indent="0">
              <a:buNone/>
            </a:pPr>
            <a:r>
              <a:rPr lang="en-US" sz="950" dirty="0">
                <a:solidFill>
                  <a:srgbClr val="B0BBD0"/>
                </a:solidFill>
              </a:rPr>
              <a:t>「デュアリーリーワールド」「停止信号テスト」の2種類を毎朝実施します。</a:t>
            </a:r>
            <a:endParaRPr lang="en-US" sz="950" dirty="0"/>
          </a:p>
          <a:p>
            <a:pPr marL="0" indent="0">
              <a:buNone/>
            </a:pPr>
            <a:r>
              <a:rPr lang="en-US" sz="950" dirty="0">
                <a:solidFill>
                  <a:srgbClr val="B0BBD0"/>
                </a:solidFill>
              </a:rPr>
              <a:t>アプリを事前にインストールし、アカウント作成まで完了させておいてください。</a:t>
            </a:r>
            <a:endParaRPr lang="en-US" sz="950" dirty="0"/>
          </a:p>
        </p:txBody>
      </p:sp>
      <p:sp>
        <p:nvSpPr>
          <p:cNvPr id="24" name="Shape 22"/>
          <p:cNvSpPr/>
          <p:nvPr/>
        </p:nvSpPr>
        <p:spPr>
          <a:xfrm>
            <a:off x="4663440" y="2971800"/>
            <a:ext cx="4114800" cy="1554480"/>
          </a:xfrm>
          <a:prstGeom prst="rect">
            <a:avLst/>
          </a:prstGeom>
          <a:solidFill>
            <a:srgbClr val="141929"/>
          </a:solidFill>
          <a:ln w="6350">
            <a:solidFill>
              <a:srgbClr val="1F2A45"/>
            </a:solidFill>
            <a:prstDash val="solid"/>
          </a:ln>
          <a:effectLst>
            <a:outerShdw blurRad="101600" dist="25400" dir="8100000" algn="bl" rotWithShape="0">
              <a:srgbClr val="000000">
                <a:alpha val="25000"/>
              </a:srgbClr>
            </a:outerShdw>
          </a:effectLst>
        </p:spPr>
      </p:sp>
      <p:sp>
        <p:nvSpPr>
          <p:cNvPr id="25" name="Shape 23"/>
          <p:cNvSpPr/>
          <p:nvPr/>
        </p:nvSpPr>
        <p:spPr>
          <a:xfrm>
            <a:off x="4663440" y="2971800"/>
            <a:ext cx="45720" cy="1554480"/>
          </a:xfrm>
          <a:prstGeom prst="rect">
            <a:avLst/>
          </a:prstGeom>
          <a:solidFill>
            <a:srgbClr val="2ED47A"/>
          </a:solidFill>
          <a:ln w="12700">
            <a:solidFill>
              <a:srgbClr val="2ED47A"/>
            </a:solidFill>
            <a:prstDash val="solid"/>
          </a:ln>
        </p:spPr>
      </p:sp>
      <p:sp>
        <p:nvSpPr>
          <p:cNvPr id="26" name="Shape 24"/>
          <p:cNvSpPr/>
          <p:nvPr/>
        </p:nvSpPr>
        <p:spPr>
          <a:xfrm>
            <a:off x="4773168" y="3108960"/>
            <a:ext cx="384048" cy="384048"/>
          </a:xfrm>
          <a:prstGeom prst="rect">
            <a:avLst/>
          </a:prstGeom>
          <a:solidFill>
            <a:srgbClr val="2ED47A"/>
          </a:solidFill>
          <a:ln w="12700">
            <a:solidFill>
              <a:srgbClr val="2ED47A"/>
            </a:solidFill>
            <a:prstDash val="solid"/>
          </a:ln>
        </p:spPr>
      </p:sp>
      <p:sp>
        <p:nvSpPr>
          <p:cNvPr id="27" name="Text 25"/>
          <p:cNvSpPr/>
          <p:nvPr/>
        </p:nvSpPr>
        <p:spPr>
          <a:xfrm>
            <a:off x="4773168" y="3108960"/>
            <a:ext cx="384048" cy="384048"/>
          </a:xfrm>
          <a:prstGeom prst="rect">
            <a:avLst/>
          </a:prstGeom>
          <a:noFill/>
          <a:ln/>
        </p:spPr>
        <p:txBody>
          <a:bodyPr wrap="square" lIns="0" tIns="0" rIns="0" bIns="0" rtlCol="0" anchor="ctr"/>
          <a:lstStyle/>
          <a:p>
            <a:pPr marL="0" indent="0" algn="ctr">
              <a:buNone/>
            </a:pPr>
            <a:r>
              <a:rPr lang="en-US" sz="1600" b="1" dirty="0">
                <a:solidFill>
                  <a:srgbClr val="FFFFFF"/>
                </a:solidFill>
              </a:rPr>
              <a:t>4</a:t>
            </a:r>
            <a:endParaRPr lang="en-US" sz="1600" dirty="0"/>
          </a:p>
        </p:txBody>
      </p:sp>
      <p:sp>
        <p:nvSpPr>
          <p:cNvPr id="28" name="Text 26"/>
          <p:cNvSpPr/>
          <p:nvPr/>
        </p:nvSpPr>
        <p:spPr>
          <a:xfrm>
            <a:off x="5257800" y="3108960"/>
            <a:ext cx="3383280" cy="320040"/>
          </a:xfrm>
          <a:prstGeom prst="rect">
            <a:avLst/>
          </a:prstGeom>
          <a:noFill/>
          <a:ln/>
        </p:spPr>
        <p:txBody>
          <a:bodyPr wrap="square" rtlCol="0" anchor="ctr"/>
          <a:lstStyle/>
          <a:p>
            <a:pPr marL="0" indent="0">
              <a:buNone/>
            </a:pPr>
            <a:r>
              <a:rPr lang="en-US" sz="1300" b="1" dirty="0">
                <a:solidFill>
                  <a:srgbClr val="FFFFFF"/>
                </a:solidFill>
              </a:rPr>
              <a:t>Googleフォームをホーム画面に追加</a:t>
            </a:r>
            <a:endParaRPr lang="en-US" sz="1300" dirty="0"/>
          </a:p>
        </p:txBody>
      </p:sp>
      <p:sp>
        <p:nvSpPr>
          <p:cNvPr id="29" name="Text 27"/>
          <p:cNvSpPr/>
          <p:nvPr/>
        </p:nvSpPr>
        <p:spPr>
          <a:xfrm>
            <a:off x="4773168" y="3502152"/>
            <a:ext cx="3886200" cy="914400"/>
          </a:xfrm>
          <a:prstGeom prst="rect">
            <a:avLst/>
          </a:prstGeom>
          <a:noFill/>
          <a:ln/>
        </p:spPr>
        <p:txBody>
          <a:bodyPr wrap="square" rtlCol="0" anchor="ctr"/>
          <a:lstStyle/>
          <a:p>
            <a:pPr marL="0" indent="0">
              <a:buNone/>
            </a:pPr>
            <a:r>
              <a:rPr lang="en-US" sz="950" dirty="0">
                <a:solidFill>
                  <a:srgbClr val="B0BBD0"/>
                </a:solidFill>
              </a:rPr>
              <a:t>朝フォーム・夜フォームのURLをスマートフォンのホーム画面に追加します。</a:t>
            </a:r>
            <a:endParaRPr lang="en-US" sz="950" dirty="0"/>
          </a:p>
          <a:p>
            <a:pPr marL="0" indent="0">
              <a:buNone/>
            </a:pPr>
            <a:r>
              <a:rPr lang="en-US" sz="950" dirty="0">
                <a:solidFill>
                  <a:srgbClr val="B0BBD0"/>
                </a:solidFill>
              </a:rPr>
              <a:t>毎朝・毎晩スムーズに記入できる導線を作っておきましょう。</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0E1A"/>
        </a:solidFill>
        <a:effectLst/>
      </p:bgPr>
    </p:bg>
    <p:spTree>
      <p:nvGrpSpPr>
        <p:cNvPr id="1" name=""/>
        <p:cNvGrpSpPr/>
        <p:nvPr/>
      </p:nvGrpSpPr>
      <p:grpSpPr>
        <a:xfrm>
          <a:off x="0" y="0"/>
          <a:ext cx="0" cy="0"/>
          <a:chOff x="0" y="0"/>
          <a:chExt cx="0" cy="0"/>
        </a:xfrm>
      </p:grpSpPr>
      <p:sp>
        <p:nvSpPr>
          <p:cNvPr id="2" name="Text 0"/>
          <p:cNvSpPr/>
          <p:nvPr/>
        </p:nvSpPr>
        <p:spPr>
          <a:xfrm>
            <a:off x="365760" y="201168"/>
            <a:ext cx="8229600" cy="228600"/>
          </a:xfrm>
          <a:prstGeom prst="rect">
            <a:avLst/>
          </a:prstGeom>
          <a:noFill/>
          <a:ln/>
        </p:spPr>
        <p:txBody>
          <a:bodyPr wrap="square" rtlCol="0" anchor="ctr"/>
          <a:lstStyle/>
          <a:p>
            <a:pPr marL="0" indent="0">
              <a:buNone/>
            </a:pPr>
            <a:r>
              <a:rPr lang="en-US" sz="800" b="1" kern="0" spc="300" dirty="0">
                <a:solidFill>
                  <a:srgbClr val="00D4C8"/>
                </a:solidFill>
              </a:rPr>
              <a:t>MORNING PROTOCOL  —  毎朝 起床直後</a:t>
            </a:r>
            <a:endParaRPr lang="en-US" sz="800" dirty="0"/>
          </a:p>
        </p:txBody>
      </p:sp>
      <p:sp>
        <p:nvSpPr>
          <p:cNvPr id="3" name="Text 1"/>
          <p:cNvSpPr/>
          <p:nvPr/>
        </p:nvSpPr>
        <p:spPr>
          <a:xfrm>
            <a:off x="365760" y="475488"/>
            <a:ext cx="8412480" cy="548640"/>
          </a:xfrm>
          <a:prstGeom prst="rect">
            <a:avLst/>
          </a:prstGeom>
          <a:noFill/>
          <a:ln/>
        </p:spPr>
        <p:txBody>
          <a:bodyPr wrap="square" rtlCol="0" anchor="ctr"/>
          <a:lstStyle/>
          <a:p>
            <a:pPr marL="0" indent="0">
              <a:buNone/>
            </a:pPr>
            <a:r>
              <a:rPr lang="en-US" sz="2800" b="1" dirty="0">
                <a:solidFill>
                  <a:srgbClr val="FFFFFF"/>
                </a:solidFill>
              </a:rPr>
              <a:t>☀️ 朝のパフォーマンス記録</a:t>
            </a:r>
            <a:endParaRPr lang="en-US" sz="2800" dirty="0"/>
          </a:p>
        </p:txBody>
      </p:sp>
      <p:sp>
        <p:nvSpPr>
          <p:cNvPr id="4" name="Text 2"/>
          <p:cNvSpPr/>
          <p:nvPr/>
        </p:nvSpPr>
        <p:spPr>
          <a:xfrm>
            <a:off x="365760" y="978408"/>
            <a:ext cx="8412480" cy="274320"/>
          </a:xfrm>
          <a:prstGeom prst="rect">
            <a:avLst/>
          </a:prstGeom>
          <a:noFill/>
          <a:ln/>
        </p:spPr>
        <p:txBody>
          <a:bodyPr wrap="square" rtlCol="0" anchor="ctr"/>
          <a:lstStyle/>
          <a:p>
            <a:pPr marL="0" indent="0">
              <a:buNone/>
            </a:pPr>
            <a:r>
              <a:rPr lang="en-US" sz="1200" dirty="0">
                <a:solidFill>
                  <a:srgbClr val="B0BBD0"/>
                </a:solidFill>
              </a:rPr>
              <a:t>カフェイン・食事の前に実施。所要時間：約5〜7分</a:t>
            </a:r>
            <a:endParaRPr lang="en-US" sz="1200" dirty="0"/>
          </a:p>
        </p:txBody>
      </p:sp>
      <p:sp>
        <p:nvSpPr>
          <p:cNvPr id="5" name="Shape 3"/>
          <p:cNvSpPr/>
          <p:nvPr/>
        </p:nvSpPr>
        <p:spPr>
          <a:xfrm>
            <a:off x="365760" y="1371600"/>
            <a:ext cx="8412480" cy="22860"/>
          </a:xfrm>
          <a:prstGeom prst="rect">
            <a:avLst/>
          </a:prstGeom>
          <a:solidFill>
            <a:srgbClr val="1F2A45"/>
          </a:solidFill>
          <a:ln w="12700">
            <a:solidFill>
              <a:srgbClr val="1F2A45"/>
            </a:solidFill>
            <a:prstDash val="solid"/>
          </a:ln>
        </p:spPr>
      </p:sp>
      <p:sp>
        <p:nvSpPr>
          <p:cNvPr id="6" name="Shape 4"/>
          <p:cNvSpPr/>
          <p:nvPr/>
        </p:nvSpPr>
        <p:spPr>
          <a:xfrm>
            <a:off x="365760" y="1188720"/>
            <a:ext cx="1005840" cy="228600"/>
          </a:xfrm>
          <a:prstGeom prst="roundRect">
            <a:avLst>
              <a:gd name="adj" fmla="val 20000"/>
            </a:avLst>
          </a:prstGeom>
          <a:solidFill>
            <a:srgbClr val="F5C842"/>
          </a:solidFill>
          <a:ln w="12700">
            <a:solidFill>
              <a:srgbClr val="F5C842"/>
            </a:solidFill>
            <a:prstDash val="solid"/>
          </a:ln>
        </p:spPr>
      </p:sp>
      <p:sp>
        <p:nvSpPr>
          <p:cNvPr id="7" name="Text 5"/>
          <p:cNvSpPr/>
          <p:nvPr/>
        </p:nvSpPr>
        <p:spPr>
          <a:xfrm>
            <a:off x="365760" y="1188720"/>
            <a:ext cx="1005840" cy="228600"/>
          </a:xfrm>
          <a:prstGeom prst="rect">
            <a:avLst/>
          </a:prstGeom>
          <a:noFill/>
          <a:ln/>
        </p:spPr>
        <p:txBody>
          <a:bodyPr wrap="square" lIns="0" tIns="0" rIns="0" bIns="0" rtlCol="0" anchor="ctr"/>
          <a:lstStyle/>
          <a:p>
            <a:pPr marL="0" indent="0" algn="ctr">
              <a:buNone/>
            </a:pPr>
            <a:r>
              <a:rPr lang="en-US" sz="900" b="1" dirty="0">
                <a:solidFill>
                  <a:srgbClr val="FFFFFF"/>
                </a:solidFill>
              </a:rPr>
              <a:t>01_朝フォーム</a:t>
            </a:r>
            <a:endParaRPr lang="en-US" sz="900" dirty="0"/>
          </a:p>
        </p:txBody>
      </p:sp>
      <p:sp>
        <p:nvSpPr>
          <p:cNvPr id="8" name="Shape 6"/>
          <p:cNvSpPr/>
          <p:nvPr/>
        </p:nvSpPr>
        <p:spPr>
          <a:xfrm>
            <a:off x="365760" y="1554480"/>
            <a:ext cx="2697480" cy="1691640"/>
          </a:xfrm>
          <a:prstGeom prst="rect">
            <a:avLst/>
          </a:prstGeom>
          <a:solidFill>
            <a:srgbClr val="141929"/>
          </a:solidFill>
          <a:ln w="6350">
            <a:solidFill>
              <a:srgbClr val="1F2A45"/>
            </a:solidFill>
            <a:prstDash val="solid"/>
          </a:ln>
          <a:effectLst>
            <a:outerShdw blurRad="101600" dist="25400" dir="8100000" algn="bl" rotWithShape="0">
              <a:srgbClr val="000000">
                <a:alpha val="25000"/>
              </a:srgbClr>
            </a:outerShdw>
          </a:effectLst>
        </p:spPr>
      </p:sp>
      <p:sp>
        <p:nvSpPr>
          <p:cNvPr id="9" name="Shape 7"/>
          <p:cNvSpPr/>
          <p:nvPr/>
        </p:nvSpPr>
        <p:spPr>
          <a:xfrm>
            <a:off x="365760" y="1554480"/>
            <a:ext cx="45720" cy="1691640"/>
          </a:xfrm>
          <a:prstGeom prst="rect">
            <a:avLst/>
          </a:prstGeom>
          <a:solidFill>
            <a:srgbClr val="3D9BE9"/>
          </a:solidFill>
          <a:ln w="12700">
            <a:solidFill>
              <a:srgbClr val="3D9BE9"/>
            </a:solidFill>
            <a:prstDash val="solid"/>
          </a:ln>
        </p:spPr>
      </p:sp>
      <p:sp>
        <p:nvSpPr>
          <p:cNvPr id="10" name="Text 8"/>
          <p:cNvSpPr/>
          <p:nvPr/>
        </p:nvSpPr>
        <p:spPr>
          <a:xfrm>
            <a:off x="475488" y="1664208"/>
            <a:ext cx="2468880" cy="274320"/>
          </a:xfrm>
          <a:prstGeom prst="rect">
            <a:avLst/>
          </a:prstGeom>
          <a:noFill/>
          <a:ln/>
        </p:spPr>
        <p:txBody>
          <a:bodyPr wrap="square" rtlCol="0" anchor="ctr"/>
          <a:lstStyle/>
          <a:p>
            <a:pPr marL="0" indent="0">
              <a:buNone/>
            </a:pPr>
            <a:r>
              <a:rPr lang="en-US" sz="950" b="1" dirty="0">
                <a:solidFill>
                  <a:srgbClr val="3D9BE9"/>
                </a:solidFill>
              </a:rPr>
              <a:t>💤 睡眠データ（バックアップ）</a:t>
            </a:r>
            <a:endParaRPr lang="en-US" sz="950" dirty="0"/>
          </a:p>
        </p:txBody>
      </p:sp>
      <p:sp>
        <p:nvSpPr>
          <p:cNvPr id="11" name="Text 9"/>
          <p:cNvSpPr/>
          <p:nvPr/>
        </p:nvSpPr>
        <p:spPr>
          <a:xfrm>
            <a:off x="475488" y="2029968"/>
            <a:ext cx="2514600" cy="292608"/>
          </a:xfrm>
          <a:prstGeom prst="rect">
            <a:avLst/>
          </a:prstGeom>
          <a:noFill/>
          <a:ln/>
        </p:spPr>
        <p:txBody>
          <a:bodyPr wrap="square" rtlCol="0" anchor="ctr"/>
          <a:lstStyle/>
          <a:p>
            <a:pPr marL="0" indent="0">
              <a:buNone/>
            </a:pPr>
            <a:r>
              <a:rPr lang="en-US" sz="900" dirty="0">
                <a:solidFill>
                  <a:srgbClr val="B0BBD0"/>
                </a:solidFill>
              </a:rPr>
              <a:t>→  睡眠時間（例：7時間29分）</a:t>
            </a:r>
            <a:endParaRPr lang="en-US" sz="900" dirty="0"/>
          </a:p>
        </p:txBody>
      </p:sp>
      <p:sp>
        <p:nvSpPr>
          <p:cNvPr id="12" name="Text 10"/>
          <p:cNvSpPr/>
          <p:nvPr/>
        </p:nvSpPr>
        <p:spPr>
          <a:xfrm>
            <a:off x="475488" y="2377440"/>
            <a:ext cx="2514600" cy="292608"/>
          </a:xfrm>
          <a:prstGeom prst="rect">
            <a:avLst/>
          </a:prstGeom>
          <a:noFill/>
          <a:ln/>
        </p:spPr>
        <p:txBody>
          <a:bodyPr wrap="square" rtlCol="0" anchor="ctr"/>
          <a:lstStyle/>
          <a:p>
            <a:pPr marL="0" indent="0">
              <a:buNone/>
            </a:pPr>
            <a:r>
              <a:rPr lang="en-US" sz="900" dirty="0">
                <a:solidFill>
                  <a:srgbClr val="B0BBD0"/>
                </a:solidFill>
              </a:rPr>
              <a:t>→  深い睡眠（分）</a:t>
            </a:r>
            <a:endParaRPr lang="en-US" sz="900" dirty="0"/>
          </a:p>
        </p:txBody>
      </p:sp>
      <p:sp>
        <p:nvSpPr>
          <p:cNvPr id="13" name="Text 11"/>
          <p:cNvSpPr/>
          <p:nvPr/>
        </p:nvSpPr>
        <p:spPr>
          <a:xfrm>
            <a:off x="475488" y="2724912"/>
            <a:ext cx="2514600" cy="292608"/>
          </a:xfrm>
          <a:prstGeom prst="rect">
            <a:avLst/>
          </a:prstGeom>
          <a:noFill/>
          <a:ln/>
        </p:spPr>
        <p:txBody>
          <a:bodyPr wrap="square" rtlCol="0" anchor="ctr"/>
          <a:lstStyle/>
          <a:p>
            <a:pPr marL="0" indent="0">
              <a:buNone/>
            </a:pPr>
            <a:r>
              <a:rPr lang="en-US" sz="900" dirty="0">
                <a:solidFill>
                  <a:srgbClr val="B0BBD0"/>
                </a:solidFill>
              </a:rPr>
              <a:t>→  睡眠スコア（Apple Watch値）</a:t>
            </a:r>
            <a:endParaRPr lang="en-US" sz="900" dirty="0"/>
          </a:p>
        </p:txBody>
      </p:sp>
      <p:sp>
        <p:nvSpPr>
          <p:cNvPr id="14" name="Shape 12"/>
          <p:cNvSpPr/>
          <p:nvPr/>
        </p:nvSpPr>
        <p:spPr>
          <a:xfrm>
            <a:off x="3200400" y="1554480"/>
            <a:ext cx="2697480" cy="1691640"/>
          </a:xfrm>
          <a:prstGeom prst="rect">
            <a:avLst/>
          </a:prstGeom>
          <a:solidFill>
            <a:srgbClr val="141929"/>
          </a:solidFill>
          <a:ln w="6350">
            <a:solidFill>
              <a:srgbClr val="1F2A45"/>
            </a:solidFill>
            <a:prstDash val="solid"/>
          </a:ln>
          <a:effectLst>
            <a:outerShdw blurRad="101600" dist="25400" dir="8100000" algn="bl" rotWithShape="0">
              <a:srgbClr val="000000">
                <a:alpha val="25000"/>
              </a:srgbClr>
            </a:outerShdw>
          </a:effectLst>
        </p:spPr>
      </p:sp>
      <p:sp>
        <p:nvSpPr>
          <p:cNvPr id="15" name="Shape 13"/>
          <p:cNvSpPr/>
          <p:nvPr/>
        </p:nvSpPr>
        <p:spPr>
          <a:xfrm>
            <a:off x="3200400" y="1554480"/>
            <a:ext cx="45720" cy="1691640"/>
          </a:xfrm>
          <a:prstGeom prst="rect">
            <a:avLst/>
          </a:prstGeom>
          <a:solidFill>
            <a:srgbClr val="00D4C8"/>
          </a:solidFill>
          <a:ln w="12700">
            <a:solidFill>
              <a:srgbClr val="00D4C8"/>
            </a:solidFill>
            <a:prstDash val="solid"/>
          </a:ln>
        </p:spPr>
      </p:sp>
      <p:sp>
        <p:nvSpPr>
          <p:cNvPr id="16" name="Text 14"/>
          <p:cNvSpPr/>
          <p:nvPr/>
        </p:nvSpPr>
        <p:spPr>
          <a:xfrm>
            <a:off x="3310128" y="1664208"/>
            <a:ext cx="2468880" cy="274320"/>
          </a:xfrm>
          <a:prstGeom prst="rect">
            <a:avLst/>
          </a:prstGeom>
          <a:noFill/>
          <a:ln/>
        </p:spPr>
        <p:txBody>
          <a:bodyPr wrap="square" rtlCol="0" anchor="ctr"/>
          <a:lstStyle/>
          <a:p>
            <a:pPr marL="0" indent="0">
              <a:buNone/>
            </a:pPr>
            <a:r>
              <a:rPr lang="en-US" sz="950" b="1" dirty="0">
                <a:solidFill>
                  <a:srgbClr val="00D4C8"/>
                </a:solidFill>
              </a:rPr>
              <a:t>🧠 認知テスト（CogniFit）</a:t>
            </a:r>
            <a:endParaRPr lang="en-US" sz="950" dirty="0"/>
          </a:p>
        </p:txBody>
      </p:sp>
      <p:sp>
        <p:nvSpPr>
          <p:cNvPr id="17" name="Text 15"/>
          <p:cNvSpPr/>
          <p:nvPr/>
        </p:nvSpPr>
        <p:spPr>
          <a:xfrm>
            <a:off x="3310128" y="2029968"/>
            <a:ext cx="2514600" cy="292608"/>
          </a:xfrm>
          <a:prstGeom prst="rect">
            <a:avLst/>
          </a:prstGeom>
          <a:noFill/>
          <a:ln/>
        </p:spPr>
        <p:txBody>
          <a:bodyPr wrap="square" rtlCol="0" anchor="ctr"/>
          <a:lstStyle/>
          <a:p>
            <a:pPr marL="0" indent="0">
              <a:buNone/>
            </a:pPr>
            <a:r>
              <a:rPr lang="en-US" sz="900" dirty="0">
                <a:solidFill>
                  <a:srgbClr val="B0BBD0"/>
                </a:solidFill>
              </a:rPr>
              <a:t>→  デュアリーリーワールド の結果（S）</a:t>
            </a:r>
            <a:endParaRPr lang="en-US" sz="900" dirty="0"/>
          </a:p>
        </p:txBody>
      </p:sp>
      <p:sp>
        <p:nvSpPr>
          <p:cNvPr id="18" name="Text 16"/>
          <p:cNvSpPr/>
          <p:nvPr/>
        </p:nvSpPr>
        <p:spPr>
          <a:xfrm>
            <a:off x="3310128" y="2377440"/>
            <a:ext cx="2514600" cy="292608"/>
          </a:xfrm>
          <a:prstGeom prst="rect">
            <a:avLst/>
          </a:prstGeom>
          <a:noFill/>
          <a:ln/>
        </p:spPr>
        <p:txBody>
          <a:bodyPr wrap="square" rtlCol="0" anchor="ctr"/>
          <a:lstStyle/>
          <a:p>
            <a:pPr marL="0" indent="0">
              <a:buNone/>
            </a:pPr>
            <a:r>
              <a:rPr lang="en-US" sz="900" dirty="0">
                <a:solidFill>
                  <a:srgbClr val="B0BBD0"/>
                </a:solidFill>
              </a:rPr>
              <a:t>→  停止信号テスト 反応時間（s）</a:t>
            </a:r>
            <a:endParaRPr lang="en-US" sz="900" dirty="0"/>
          </a:p>
        </p:txBody>
      </p:sp>
      <p:sp>
        <p:nvSpPr>
          <p:cNvPr id="19" name="Text 17"/>
          <p:cNvSpPr/>
          <p:nvPr/>
        </p:nvSpPr>
        <p:spPr>
          <a:xfrm>
            <a:off x="3310128" y="2724912"/>
            <a:ext cx="2514600" cy="292608"/>
          </a:xfrm>
          <a:prstGeom prst="rect">
            <a:avLst/>
          </a:prstGeom>
          <a:noFill/>
          <a:ln/>
        </p:spPr>
        <p:txBody>
          <a:bodyPr wrap="square" rtlCol="0" anchor="ctr"/>
          <a:lstStyle/>
          <a:p>
            <a:pPr marL="0" indent="0">
              <a:buNone/>
            </a:pPr>
            <a:r>
              <a:rPr lang="en-US" sz="900" dirty="0">
                <a:solidFill>
                  <a:srgbClr val="B0BBD0"/>
                </a:solidFill>
              </a:rPr>
              <a:t>→  停止信号テスト 精度（%）</a:t>
            </a:r>
            <a:endParaRPr lang="en-US" sz="900" dirty="0"/>
          </a:p>
        </p:txBody>
      </p:sp>
      <p:sp>
        <p:nvSpPr>
          <p:cNvPr id="20" name="Shape 18"/>
          <p:cNvSpPr/>
          <p:nvPr/>
        </p:nvSpPr>
        <p:spPr>
          <a:xfrm>
            <a:off x="6035040" y="1554480"/>
            <a:ext cx="2697480" cy="1691640"/>
          </a:xfrm>
          <a:prstGeom prst="rect">
            <a:avLst/>
          </a:prstGeom>
          <a:solidFill>
            <a:srgbClr val="141929"/>
          </a:solidFill>
          <a:ln w="6350">
            <a:solidFill>
              <a:srgbClr val="1F2A45"/>
            </a:solidFill>
            <a:prstDash val="solid"/>
          </a:ln>
          <a:effectLst>
            <a:outerShdw blurRad="101600" dist="25400" dir="8100000" algn="bl" rotWithShape="0">
              <a:srgbClr val="000000">
                <a:alpha val="25000"/>
              </a:srgbClr>
            </a:outerShdw>
          </a:effectLst>
        </p:spPr>
      </p:sp>
      <p:sp>
        <p:nvSpPr>
          <p:cNvPr id="21" name="Shape 19"/>
          <p:cNvSpPr/>
          <p:nvPr/>
        </p:nvSpPr>
        <p:spPr>
          <a:xfrm>
            <a:off x="6035040" y="1554480"/>
            <a:ext cx="45720" cy="1691640"/>
          </a:xfrm>
          <a:prstGeom prst="rect">
            <a:avLst/>
          </a:prstGeom>
          <a:solidFill>
            <a:srgbClr val="F5C842"/>
          </a:solidFill>
          <a:ln w="12700">
            <a:solidFill>
              <a:srgbClr val="F5C842"/>
            </a:solidFill>
            <a:prstDash val="solid"/>
          </a:ln>
        </p:spPr>
      </p:sp>
      <p:sp>
        <p:nvSpPr>
          <p:cNvPr id="22" name="Text 20"/>
          <p:cNvSpPr/>
          <p:nvPr/>
        </p:nvSpPr>
        <p:spPr>
          <a:xfrm>
            <a:off x="6144768" y="1664208"/>
            <a:ext cx="2468880" cy="274320"/>
          </a:xfrm>
          <a:prstGeom prst="rect">
            <a:avLst/>
          </a:prstGeom>
          <a:noFill/>
          <a:ln/>
        </p:spPr>
        <p:txBody>
          <a:bodyPr wrap="square" rtlCol="0" anchor="ctr"/>
          <a:lstStyle/>
          <a:p>
            <a:pPr marL="0" indent="0">
              <a:buNone/>
            </a:pPr>
            <a:r>
              <a:rPr lang="en-US" sz="950" b="1" dirty="0">
                <a:solidFill>
                  <a:srgbClr val="F5C842"/>
                </a:solidFill>
              </a:rPr>
              <a:t>⚡ 神経系テスト</a:t>
            </a:r>
            <a:endParaRPr lang="en-US" sz="950" dirty="0"/>
          </a:p>
        </p:txBody>
      </p:sp>
      <p:sp>
        <p:nvSpPr>
          <p:cNvPr id="23" name="Text 21"/>
          <p:cNvSpPr/>
          <p:nvPr/>
        </p:nvSpPr>
        <p:spPr>
          <a:xfrm>
            <a:off x="6144768" y="2029968"/>
            <a:ext cx="2514600" cy="292608"/>
          </a:xfrm>
          <a:prstGeom prst="rect">
            <a:avLst/>
          </a:prstGeom>
          <a:noFill/>
          <a:ln/>
        </p:spPr>
        <p:txBody>
          <a:bodyPr wrap="square" rtlCol="0" anchor="ctr"/>
          <a:lstStyle/>
          <a:p>
            <a:pPr marL="0" indent="0">
              <a:buNone/>
            </a:pPr>
            <a:r>
              <a:rPr lang="en-US" sz="900" dirty="0">
                <a:solidFill>
                  <a:srgbClr val="B0BBD0"/>
                </a:solidFill>
              </a:rPr>
              <a:t>→  握力 — 右（kg）</a:t>
            </a:r>
            <a:endParaRPr lang="en-US" sz="900" dirty="0"/>
          </a:p>
        </p:txBody>
      </p:sp>
      <p:sp>
        <p:nvSpPr>
          <p:cNvPr id="24" name="Text 22"/>
          <p:cNvSpPr/>
          <p:nvPr/>
        </p:nvSpPr>
        <p:spPr>
          <a:xfrm>
            <a:off x="6144768" y="2377440"/>
            <a:ext cx="2514600" cy="292608"/>
          </a:xfrm>
          <a:prstGeom prst="rect">
            <a:avLst/>
          </a:prstGeom>
          <a:noFill/>
          <a:ln/>
        </p:spPr>
        <p:txBody>
          <a:bodyPr wrap="square" rtlCol="0" anchor="ctr"/>
          <a:lstStyle/>
          <a:p>
            <a:pPr marL="0" indent="0">
              <a:buNone/>
            </a:pPr>
            <a:r>
              <a:rPr lang="en-US" sz="900" dirty="0">
                <a:solidFill>
                  <a:srgbClr val="B0BBD0"/>
                </a:solidFill>
              </a:rPr>
              <a:t>→  握力 — 左（kg）</a:t>
            </a:r>
            <a:endParaRPr lang="en-US" sz="900" dirty="0"/>
          </a:p>
        </p:txBody>
      </p:sp>
      <p:sp>
        <p:nvSpPr>
          <p:cNvPr id="25" name="Text 23"/>
          <p:cNvSpPr/>
          <p:nvPr/>
        </p:nvSpPr>
        <p:spPr>
          <a:xfrm>
            <a:off x="6144768" y="2724912"/>
            <a:ext cx="2514600" cy="292608"/>
          </a:xfrm>
          <a:prstGeom prst="rect">
            <a:avLst/>
          </a:prstGeom>
          <a:noFill/>
          <a:ln/>
        </p:spPr>
        <p:txBody>
          <a:bodyPr wrap="square" rtlCol="0" anchor="ctr"/>
          <a:lstStyle/>
          <a:p>
            <a:pPr marL="0" indent="0">
              <a:buNone/>
            </a:pPr>
            <a:r>
              <a:rPr lang="en-US" sz="900" dirty="0">
                <a:solidFill>
                  <a:srgbClr val="B0BBD0"/>
                </a:solidFill>
              </a:rPr>
              <a:t>→  垂直跳び — ジャンプ高（cm）</a:t>
            </a:r>
            <a:endParaRPr lang="en-US" sz="900" dirty="0"/>
          </a:p>
        </p:txBody>
      </p:sp>
      <p:sp>
        <p:nvSpPr>
          <p:cNvPr id="26" name="Shape 24"/>
          <p:cNvSpPr/>
          <p:nvPr/>
        </p:nvSpPr>
        <p:spPr>
          <a:xfrm>
            <a:off x="365760" y="3108960"/>
            <a:ext cx="2697480" cy="1691640"/>
          </a:xfrm>
          <a:prstGeom prst="rect">
            <a:avLst/>
          </a:prstGeom>
          <a:solidFill>
            <a:srgbClr val="141929"/>
          </a:solidFill>
          <a:ln w="6350">
            <a:solidFill>
              <a:srgbClr val="1F2A45"/>
            </a:solidFill>
            <a:prstDash val="solid"/>
          </a:ln>
          <a:effectLst>
            <a:outerShdw blurRad="101600" dist="25400" dir="8100000" algn="bl" rotWithShape="0">
              <a:srgbClr val="000000">
                <a:alpha val="25000"/>
              </a:srgbClr>
            </a:outerShdw>
          </a:effectLst>
        </p:spPr>
      </p:sp>
      <p:sp>
        <p:nvSpPr>
          <p:cNvPr id="27" name="Shape 25"/>
          <p:cNvSpPr/>
          <p:nvPr/>
        </p:nvSpPr>
        <p:spPr>
          <a:xfrm>
            <a:off x="365760" y="3108960"/>
            <a:ext cx="45720" cy="1691640"/>
          </a:xfrm>
          <a:prstGeom prst="rect">
            <a:avLst/>
          </a:prstGeom>
          <a:solidFill>
            <a:srgbClr val="2ED47A"/>
          </a:solidFill>
          <a:ln w="12700">
            <a:solidFill>
              <a:srgbClr val="2ED47A"/>
            </a:solidFill>
            <a:prstDash val="solid"/>
          </a:ln>
        </p:spPr>
      </p:sp>
      <p:sp>
        <p:nvSpPr>
          <p:cNvPr id="28" name="Text 26"/>
          <p:cNvSpPr/>
          <p:nvPr/>
        </p:nvSpPr>
        <p:spPr>
          <a:xfrm>
            <a:off x="475488" y="3218688"/>
            <a:ext cx="2468880" cy="274320"/>
          </a:xfrm>
          <a:prstGeom prst="rect">
            <a:avLst/>
          </a:prstGeom>
          <a:noFill/>
          <a:ln/>
        </p:spPr>
        <p:txBody>
          <a:bodyPr wrap="square" rtlCol="0" anchor="ctr"/>
          <a:lstStyle/>
          <a:p>
            <a:pPr marL="0" indent="0">
              <a:buNone/>
            </a:pPr>
            <a:r>
              <a:rPr lang="en-US" sz="950" b="1" dirty="0">
                <a:solidFill>
                  <a:srgbClr val="2ED47A"/>
                </a:solidFill>
              </a:rPr>
              <a:t>💬 主観データ</a:t>
            </a:r>
            <a:endParaRPr lang="en-US" sz="950" dirty="0"/>
          </a:p>
        </p:txBody>
      </p:sp>
      <p:sp>
        <p:nvSpPr>
          <p:cNvPr id="29" name="Text 27"/>
          <p:cNvSpPr/>
          <p:nvPr/>
        </p:nvSpPr>
        <p:spPr>
          <a:xfrm>
            <a:off x="475488" y="3584448"/>
            <a:ext cx="2514600" cy="292608"/>
          </a:xfrm>
          <a:prstGeom prst="rect">
            <a:avLst/>
          </a:prstGeom>
          <a:noFill/>
          <a:ln/>
        </p:spPr>
        <p:txBody>
          <a:bodyPr wrap="square" rtlCol="0" anchor="ctr"/>
          <a:lstStyle/>
          <a:p>
            <a:pPr marL="0" indent="0">
              <a:buNone/>
            </a:pPr>
            <a:r>
              <a:rPr lang="en-US" sz="900" dirty="0">
                <a:solidFill>
                  <a:srgbClr val="B0BBD0"/>
                </a:solidFill>
              </a:rPr>
              <a:t>→  今日の総合的な気分（1-5）</a:t>
            </a:r>
            <a:endParaRPr lang="en-US" sz="900" dirty="0"/>
          </a:p>
        </p:txBody>
      </p:sp>
      <p:sp>
        <p:nvSpPr>
          <p:cNvPr id="30" name="Text 28"/>
          <p:cNvSpPr/>
          <p:nvPr/>
        </p:nvSpPr>
        <p:spPr>
          <a:xfrm>
            <a:off x="475488" y="3931920"/>
            <a:ext cx="2514600" cy="292608"/>
          </a:xfrm>
          <a:prstGeom prst="rect">
            <a:avLst/>
          </a:prstGeom>
          <a:noFill/>
          <a:ln/>
        </p:spPr>
        <p:txBody>
          <a:bodyPr wrap="square" rtlCol="0" anchor="ctr"/>
          <a:lstStyle/>
          <a:p>
            <a:pPr marL="0" indent="0">
              <a:buNone/>
            </a:pPr>
            <a:r>
              <a:rPr lang="en-US" sz="900" dirty="0">
                <a:solidFill>
                  <a:srgbClr val="B0BBD0"/>
                </a:solidFill>
              </a:rPr>
              <a:t>→  主観的疲労感（1-10）</a:t>
            </a:r>
            <a:endParaRPr lang="en-US" sz="900" dirty="0"/>
          </a:p>
        </p:txBody>
      </p:sp>
      <p:sp>
        <p:nvSpPr>
          <p:cNvPr id="31" name="Text 29"/>
          <p:cNvSpPr/>
          <p:nvPr/>
        </p:nvSpPr>
        <p:spPr>
          <a:xfrm>
            <a:off x="475488" y="4279392"/>
            <a:ext cx="2514600" cy="292608"/>
          </a:xfrm>
          <a:prstGeom prst="rect">
            <a:avLst/>
          </a:prstGeom>
          <a:noFill/>
          <a:ln/>
        </p:spPr>
        <p:txBody>
          <a:bodyPr wrap="square" rtlCol="0" anchor="ctr"/>
          <a:lstStyle/>
          <a:p>
            <a:pPr marL="0" indent="0">
              <a:buNone/>
            </a:pPr>
            <a:r>
              <a:rPr lang="en-US" sz="900" dirty="0">
                <a:solidFill>
                  <a:srgbClr val="B0BBD0"/>
                </a:solidFill>
              </a:rPr>
              <a:t>→  主観的ストレスレベル（1-10）</a:t>
            </a:r>
            <a:endParaRPr lang="en-US" sz="900" dirty="0"/>
          </a:p>
        </p:txBody>
      </p:sp>
      <p:sp>
        <p:nvSpPr>
          <p:cNvPr id="32" name="Shape 30"/>
          <p:cNvSpPr/>
          <p:nvPr/>
        </p:nvSpPr>
        <p:spPr>
          <a:xfrm>
            <a:off x="3200400" y="3108960"/>
            <a:ext cx="2697480" cy="1691640"/>
          </a:xfrm>
          <a:prstGeom prst="rect">
            <a:avLst/>
          </a:prstGeom>
          <a:solidFill>
            <a:srgbClr val="141929"/>
          </a:solidFill>
          <a:ln w="6350">
            <a:solidFill>
              <a:srgbClr val="1F2A45"/>
            </a:solidFill>
            <a:prstDash val="solid"/>
          </a:ln>
          <a:effectLst>
            <a:outerShdw blurRad="101600" dist="25400" dir="8100000" algn="bl" rotWithShape="0">
              <a:srgbClr val="000000">
                <a:alpha val="25000"/>
              </a:srgbClr>
            </a:outerShdw>
          </a:effectLst>
        </p:spPr>
      </p:sp>
      <p:sp>
        <p:nvSpPr>
          <p:cNvPr id="33" name="Shape 31"/>
          <p:cNvSpPr/>
          <p:nvPr/>
        </p:nvSpPr>
        <p:spPr>
          <a:xfrm>
            <a:off x="3200400" y="3108960"/>
            <a:ext cx="45720" cy="1691640"/>
          </a:xfrm>
          <a:prstGeom prst="rect">
            <a:avLst/>
          </a:prstGeom>
          <a:solidFill>
            <a:srgbClr val="9B59F5"/>
          </a:solidFill>
          <a:ln w="12700">
            <a:solidFill>
              <a:srgbClr val="9B59F5"/>
            </a:solidFill>
            <a:prstDash val="solid"/>
          </a:ln>
        </p:spPr>
      </p:sp>
      <p:sp>
        <p:nvSpPr>
          <p:cNvPr id="34" name="Text 32"/>
          <p:cNvSpPr/>
          <p:nvPr/>
        </p:nvSpPr>
        <p:spPr>
          <a:xfrm>
            <a:off x="3310128" y="3218688"/>
            <a:ext cx="2468880" cy="274320"/>
          </a:xfrm>
          <a:prstGeom prst="rect">
            <a:avLst/>
          </a:prstGeom>
          <a:noFill/>
          <a:ln/>
        </p:spPr>
        <p:txBody>
          <a:bodyPr wrap="square" rtlCol="0" anchor="ctr"/>
          <a:lstStyle/>
          <a:p>
            <a:pPr marL="0" indent="0">
              <a:buNone/>
            </a:pPr>
            <a:r>
              <a:rPr lang="en-US" sz="950" b="1" dirty="0">
                <a:solidFill>
                  <a:srgbClr val="9B59F5"/>
                </a:solidFill>
              </a:rPr>
              <a:t>🌙 前日データ（朝確認）</a:t>
            </a:r>
            <a:endParaRPr lang="en-US" sz="950" dirty="0"/>
          </a:p>
        </p:txBody>
      </p:sp>
      <p:sp>
        <p:nvSpPr>
          <p:cNvPr id="35" name="Text 33"/>
          <p:cNvSpPr/>
          <p:nvPr/>
        </p:nvSpPr>
        <p:spPr>
          <a:xfrm>
            <a:off x="3310128" y="3584448"/>
            <a:ext cx="2514600" cy="292608"/>
          </a:xfrm>
          <a:prstGeom prst="rect">
            <a:avLst/>
          </a:prstGeom>
          <a:noFill/>
          <a:ln/>
        </p:spPr>
        <p:txBody>
          <a:bodyPr wrap="square" rtlCol="0" anchor="ctr"/>
          <a:lstStyle/>
          <a:p>
            <a:pPr marL="0" indent="0">
              <a:buNone/>
            </a:pPr>
            <a:r>
              <a:rPr lang="en-US" sz="900" dirty="0">
                <a:solidFill>
                  <a:srgbClr val="B0BBD0"/>
                </a:solidFill>
              </a:rPr>
              <a:t>→  昨晩のアルコール摂取量（杯）</a:t>
            </a:r>
            <a:endParaRPr lang="en-US" sz="900" dirty="0"/>
          </a:p>
        </p:txBody>
      </p:sp>
      <p:sp>
        <p:nvSpPr>
          <p:cNvPr id="36" name="Text 34"/>
          <p:cNvSpPr/>
          <p:nvPr/>
        </p:nvSpPr>
        <p:spPr>
          <a:xfrm>
            <a:off x="3310128" y="3931920"/>
            <a:ext cx="2514600" cy="292608"/>
          </a:xfrm>
          <a:prstGeom prst="rect">
            <a:avLst/>
          </a:prstGeom>
          <a:noFill/>
          <a:ln/>
        </p:spPr>
        <p:txBody>
          <a:bodyPr wrap="square" rtlCol="0" anchor="ctr"/>
          <a:lstStyle/>
          <a:p>
            <a:pPr marL="0" indent="0">
              <a:buNone/>
            </a:pPr>
            <a:r>
              <a:rPr lang="en-US" sz="900" dirty="0">
                <a:solidFill>
                  <a:srgbClr val="B0BBD0"/>
                </a:solidFill>
              </a:rPr>
              <a:t>→  就寝前30分 デバイス使用の有無</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0E1A"/>
        </a:solidFill>
        <a:effectLst/>
      </p:bgPr>
    </p:bg>
    <p:spTree>
      <p:nvGrpSpPr>
        <p:cNvPr id="1" name=""/>
        <p:cNvGrpSpPr/>
        <p:nvPr/>
      </p:nvGrpSpPr>
      <p:grpSpPr>
        <a:xfrm>
          <a:off x="0" y="0"/>
          <a:ext cx="0" cy="0"/>
          <a:chOff x="0" y="0"/>
          <a:chExt cx="0" cy="0"/>
        </a:xfrm>
      </p:grpSpPr>
      <p:sp>
        <p:nvSpPr>
          <p:cNvPr id="2" name="Text 0"/>
          <p:cNvSpPr/>
          <p:nvPr/>
        </p:nvSpPr>
        <p:spPr>
          <a:xfrm>
            <a:off x="365760" y="201168"/>
            <a:ext cx="8229600" cy="228600"/>
          </a:xfrm>
          <a:prstGeom prst="rect">
            <a:avLst/>
          </a:prstGeom>
          <a:noFill/>
          <a:ln/>
        </p:spPr>
        <p:txBody>
          <a:bodyPr wrap="square" rtlCol="0" anchor="ctr"/>
          <a:lstStyle/>
          <a:p>
            <a:pPr marL="0" indent="0">
              <a:buNone/>
            </a:pPr>
            <a:r>
              <a:rPr lang="en-US" sz="800" b="1" kern="0" spc="300" dirty="0">
                <a:solidFill>
                  <a:srgbClr val="00D4C8"/>
                </a:solidFill>
              </a:rPr>
              <a:t>PERFORMANCE BENCHMARKS  —  「今日のキレ」を4層で計測</a:t>
            </a:r>
            <a:endParaRPr lang="en-US" sz="800" dirty="0"/>
          </a:p>
        </p:txBody>
      </p:sp>
      <p:sp>
        <p:nvSpPr>
          <p:cNvPr id="3" name="Text 1"/>
          <p:cNvSpPr/>
          <p:nvPr/>
        </p:nvSpPr>
        <p:spPr>
          <a:xfrm>
            <a:off x="365760" y="475488"/>
            <a:ext cx="8412480" cy="548640"/>
          </a:xfrm>
          <a:prstGeom prst="rect">
            <a:avLst/>
          </a:prstGeom>
          <a:noFill/>
          <a:ln/>
        </p:spPr>
        <p:txBody>
          <a:bodyPr wrap="square" rtlCol="0" anchor="ctr"/>
          <a:lstStyle/>
          <a:p>
            <a:pPr marL="0" indent="0">
              <a:buNone/>
            </a:pPr>
            <a:r>
              <a:rPr lang="en-US" sz="2800" b="1" dirty="0">
                <a:solidFill>
                  <a:srgbClr val="FFFFFF"/>
                </a:solidFill>
              </a:rPr>
              <a:t>パフォーマンス計測 4レイヤー</a:t>
            </a:r>
            <a:endParaRPr lang="en-US" sz="2800" dirty="0"/>
          </a:p>
        </p:txBody>
      </p:sp>
      <p:sp>
        <p:nvSpPr>
          <p:cNvPr id="4" name="Text 2"/>
          <p:cNvSpPr/>
          <p:nvPr/>
        </p:nvSpPr>
        <p:spPr>
          <a:xfrm>
            <a:off x="365760" y="978408"/>
            <a:ext cx="8412480" cy="274320"/>
          </a:xfrm>
          <a:prstGeom prst="rect">
            <a:avLst/>
          </a:prstGeom>
          <a:noFill/>
          <a:ln/>
        </p:spPr>
        <p:txBody>
          <a:bodyPr wrap="square" rtlCol="0" anchor="ctr"/>
          <a:lstStyle/>
          <a:p>
            <a:pPr marL="0" indent="0">
              <a:buNone/>
            </a:pPr>
            <a:r>
              <a:rPr lang="en-US" sz="1200" dirty="0">
                <a:solidFill>
                  <a:srgbClr val="B0BBD0"/>
                </a:solidFill>
              </a:rPr>
              <a:t>毎日・毎週の計測で中枢神経系の状態をリアルタイムに把握する</a:t>
            </a:r>
            <a:endParaRPr lang="en-US" sz="1200" dirty="0"/>
          </a:p>
        </p:txBody>
      </p:sp>
      <p:sp>
        <p:nvSpPr>
          <p:cNvPr id="5" name="Shape 3"/>
          <p:cNvSpPr/>
          <p:nvPr/>
        </p:nvSpPr>
        <p:spPr>
          <a:xfrm>
            <a:off x="365760" y="1371600"/>
            <a:ext cx="8412480" cy="22860"/>
          </a:xfrm>
          <a:prstGeom prst="rect">
            <a:avLst/>
          </a:prstGeom>
          <a:solidFill>
            <a:srgbClr val="1F2A45"/>
          </a:solidFill>
          <a:ln w="12700">
            <a:solidFill>
              <a:srgbClr val="1F2A45"/>
            </a:solidFill>
            <a:prstDash val="solid"/>
          </a:ln>
        </p:spPr>
      </p:sp>
      <p:sp>
        <p:nvSpPr>
          <p:cNvPr id="6" name="Shape 4"/>
          <p:cNvSpPr/>
          <p:nvPr/>
        </p:nvSpPr>
        <p:spPr>
          <a:xfrm>
            <a:off x="365760" y="1280160"/>
            <a:ext cx="4206240" cy="1645920"/>
          </a:xfrm>
          <a:prstGeom prst="rect">
            <a:avLst/>
          </a:prstGeom>
          <a:solidFill>
            <a:srgbClr val="141929"/>
          </a:solidFill>
          <a:ln w="6350">
            <a:solidFill>
              <a:srgbClr val="1F2A45"/>
            </a:solidFill>
            <a:prstDash val="solid"/>
          </a:ln>
          <a:effectLst>
            <a:outerShdw blurRad="101600" dist="25400" dir="8100000" algn="bl" rotWithShape="0">
              <a:srgbClr val="000000">
                <a:alpha val="25000"/>
              </a:srgbClr>
            </a:outerShdw>
          </a:effectLst>
        </p:spPr>
      </p:sp>
      <p:sp>
        <p:nvSpPr>
          <p:cNvPr id="7" name="Shape 5"/>
          <p:cNvSpPr/>
          <p:nvPr/>
        </p:nvSpPr>
        <p:spPr>
          <a:xfrm>
            <a:off x="365760" y="1280160"/>
            <a:ext cx="45720" cy="1645920"/>
          </a:xfrm>
          <a:prstGeom prst="rect">
            <a:avLst/>
          </a:prstGeom>
          <a:solidFill>
            <a:srgbClr val="00D4C8"/>
          </a:solidFill>
          <a:ln w="12700">
            <a:solidFill>
              <a:srgbClr val="00D4C8"/>
            </a:solidFill>
            <a:prstDash val="solid"/>
          </a:ln>
        </p:spPr>
      </p:sp>
      <p:sp>
        <p:nvSpPr>
          <p:cNvPr id="8" name="Shape 6"/>
          <p:cNvSpPr/>
          <p:nvPr/>
        </p:nvSpPr>
        <p:spPr>
          <a:xfrm>
            <a:off x="3657600" y="1389888"/>
            <a:ext cx="804672" cy="228600"/>
          </a:xfrm>
          <a:prstGeom prst="rect">
            <a:avLst/>
          </a:prstGeom>
          <a:solidFill>
            <a:srgbClr val="00D4C8"/>
          </a:solidFill>
          <a:ln w="12700">
            <a:solidFill>
              <a:srgbClr val="00D4C8"/>
            </a:solidFill>
            <a:prstDash val="solid"/>
          </a:ln>
        </p:spPr>
      </p:sp>
      <p:sp>
        <p:nvSpPr>
          <p:cNvPr id="9" name="Text 7"/>
          <p:cNvSpPr/>
          <p:nvPr/>
        </p:nvSpPr>
        <p:spPr>
          <a:xfrm>
            <a:off x="3657600" y="1389888"/>
            <a:ext cx="804672" cy="228600"/>
          </a:xfrm>
          <a:prstGeom prst="rect">
            <a:avLst/>
          </a:prstGeom>
          <a:noFill/>
          <a:ln/>
        </p:spPr>
        <p:txBody>
          <a:bodyPr wrap="square" lIns="0" tIns="0" rIns="0" bIns="0" rtlCol="0" anchor="ctr"/>
          <a:lstStyle/>
          <a:p>
            <a:pPr marL="0" indent="0" algn="ctr">
              <a:buNone/>
            </a:pPr>
            <a:r>
              <a:rPr lang="en-US" sz="800" b="1" dirty="0">
                <a:solidFill>
                  <a:srgbClr val="0A0E1A"/>
                </a:solidFill>
              </a:rPr>
              <a:t>毎日</a:t>
            </a:r>
            <a:endParaRPr lang="en-US" sz="800" dirty="0"/>
          </a:p>
        </p:txBody>
      </p:sp>
      <p:sp>
        <p:nvSpPr>
          <p:cNvPr id="10" name="Text 8"/>
          <p:cNvSpPr/>
          <p:nvPr/>
        </p:nvSpPr>
        <p:spPr>
          <a:xfrm>
            <a:off x="484632" y="1371600"/>
            <a:ext cx="3200400" cy="228600"/>
          </a:xfrm>
          <a:prstGeom prst="rect">
            <a:avLst/>
          </a:prstGeom>
          <a:noFill/>
          <a:ln/>
        </p:spPr>
        <p:txBody>
          <a:bodyPr wrap="square" rtlCol="0" anchor="ctr"/>
          <a:lstStyle/>
          <a:p>
            <a:pPr marL="0" indent="0">
              <a:buNone/>
            </a:pPr>
            <a:r>
              <a:rPr lang="en-US" sz="800" b="1" kern="0" spc="200" dirty="0">
                <a:solidFill>
                  <a:srgbClr val="00D4C8"/>
                </a:solidFill>
              </a:rPr>
              <a:t>🧠  LAYER 1</a:t>
            </a:r>
            <a:endParaRPr lang="en-US" sz="800" dirty="0"/>
          </a:p>
        </p:txBody>
      </p:sp>
      <p:sp>
        <p:nvSpPr>
          <p:cNvPr id="11" name="Text 9"/>
          <p:cNvSpPr/>
          <p:nvPr/>
        </p:nvSpPr>
        <p:spPr>
          <a:xfrm>
            <a:off x="484632" y="1609344"/>
            <a:ext cx="3840480" cy="320040"/>
          </a:xfrm>
          <a:prstGeom prst="rect">
            <a:avLst/>
          </a:prstGeom>
          <a:noFill/>
          <a:ln/>
        </p:spPr>
        <p:txBody>
          <a:bodyPr wrap="square" rtlCol="0" anchor="ctr"/>
          <a:lstStyle/>
          <a:p>
            <a:pPr marL="0" indent="0">
              <a:buNone/>
            </a:pPr>
            <a:r>
              <a:rPr lang="en-US" sz="1600" b="1" dirty="0">
                <a:solidFill>
                  <a:srgbClr val="FFFFFF"/>
                </a:solidFill>
              </a:rPr>
              <a:t>脳（認知）</a:t>
            </a:r>
            <a:endParaRPr lang="en-US" sz="1600" dirty="0"/>
          </a:p>
        </p:txBody>
      </p:sp>
      <p:sp>
        <p:nvSpPr>
          <p:cNvPr id="12" name="Text 10"/>
          <p:cNvSpPr/>
          <p:nvPr/>
        </p:nvSpPr>
        <p:spPr>
          <a:xfrm>
            <a:off x="484632" y="1965960"/>
            <a:ext cx="3931920" cy="219456"/>
          </a:xfrm>
          <a:prstGeom prst="rect">
            <a:avLst/>
          </a:prstGeom>
          <a:noFill/>
          <a:ln/>
        </p:spPr>
        <p:txBody>
          <a:bodyPr wrap="square" rtlCol="0" anchor="ctr"/>
          <a:lstStyle/>
          <a:p>
            <a:pPr marL="0" indent="0">
              <a:buNone/>
            </a:pPr>
            <a:r>
              <a:rPr lang="en-US" sz="900" dirty="0">
                <a:solidFill>
                  <a:srgbClr val="B0BBD0"/>
                </a:solidFill>
              </a:rPr>
              <a:t>ツール:  CogniFit</a:t>
            </a:r>
            <a:endParaRPr lang="en-US" sz="900" dirty="0"/>
          </a:p>
        </p:txBody>
      </p:sp>
      <p:sp>
        <p:nvSpPr>
          <p:cNvPr id="13" name="Text 11"/>
          <p:cNvSpPr/>
          <p:nvPr/>
        </p:nvSpPr>
        <p:spPr>
          <a:xfrm>
            <a:off x="484632" y="2194560"/>
            <a:ext cx="3931920" cy="274320"/>
          </a:xfrm>
          <a:prstGeom prst="rect">
            <a:avLst/>
          </a:prstGeom>
          <a:noFill/>
          <a:ln/>
        </p:spPr>
        <p:txBody>
          <a:bodyPr wrap="square" rtlCol="0" anchor="ctr"/>
          <a:lstStyle/>
          <a:p>
            <a:pPr marL="0" indent="0">
              <a:buNone/>
            </a:pPr>
            <a:r>
              <a:rPr lang="en-US" sz="900" dirty="0">
                <a:solidFill>
                  <a:srgbClr val="B0BBD0"/>
                </a:solidFill>
              </a:rPr>
              <a:t>計測:  デュアリーリーワールド / 停止信号テスト</a:t>
            </a:r>
            <a:endParaRPr lang="en-US" sz="900" dirty="0"/>
          </a:p>
        </p:txBody>
      </p:sp>
      <p:sp>
        <p:nvSpPr>
          <p:cNvPr id="14" name="Text 12"/>
          <p:cNvSpPr/>
          <p:nvPr/>
        </p:nvSpPr>
        <p:spPr>
          <a:xfrm>
            <a:off x="484632" y="2560320"/>
            <a:ext cx="3931920" cy="256032"/>
          </a:xfrm>
          <a:prstGeom prst="rect">
            <a:avLst/>
          </a:prstGeom>
          <a:noFill/>
          <a:ln/>
        </p:spPr>
        <p:txBody>
          <a:bodyPr wrap="square" rtlCol="0" anchor="ctr"/>
          <a:lstStyle/>
          <a:p>
            <a:pPr marL="0" indent="0">
              <a:buNone/>
            </a:pPr>
            <a:r>
              <a:rPr lang="en-US" sz="950" dirty="0">
                <a:solidFill>
                  <a:srgbClr val="00D4C8"/>
                </a:solidFill>
              </a:rPr>
              <a:t>▶  意思決定の「精度」と「速度」を定量化</a:t>
            </a:r>
            <a:endParaRPr lang="en-US" sz="950" dirty="0"/>
          </a:p>
        </p:txBody>
      </p:sp>
      <p:sp>
        <p:nvSpPr>
          <p:cNvPr id="15" name="Shape 13"/>
          <p:cNvSpPr/>
          <p:nvPr/>
        </p:nvSpPr>
        <p:spPr>
          <a:xfrm>
            <a:off x="4754880" y="1280160"/>
            <a:ext cx="4206240" cy="1645920"/>
          </a:xfrm>
          <a:prstGeom prst="rect">
            <a:avLst/>
          </a:prstGeom>
          <a:solidFill>
            <a:srgbClr val="141929"/>
          </a:solidFill>
          <a:ln w="6350">
            <a:solidFill>
              <a:srgbClr val="1F2A45"/>
            </a:solidFill>
            <a:prstDash val="solid"/>
          </a:ln>
          <a:effectLst>
            <a:outerShdw blurRad="101600" dist="25400" dir="8100000" algn="bl" rotWithShape="0">
              <a:srgbClr val="000000">
                <a:alpha val="25000"/>
              </a:srgbClr>
            </a:outerShdw>
          </a:effectLst>
        </p:spPr>
      </p:sp>
      <p:sp>
        <p:nvSpPr>
          <p:cNvPr id="16" name="Shape 14"/>
          <p:cNvSpPr/>
          <p:nvPr/>
        </p:nvSpPr>
        <p:spPr>
          <a:xfrm>
            <a:off x="4754880" y="1280160"/>
            <a:ext cx="45720" cy="1645920"/>
          </a:xfrm>
          <a:prstGeom prst="rect">
            <a:avLst/>
          </a:prstGeom>
          <a:solidFill>
            <a:srgbClr val="F5C842"/>
          </a:solidFill>
          <a:ln w="12700">
            <a:solidFill>
              <a:srgbClr val="F5C842"/>
            </a:solidFill>
            <a:prstDash val="solid"/>
          </a:ln>
        </p:spPr>
      </p:sp>
      <p:sp>
        <p:nvSpPr>
          <p:cNvPr id="17" name="Shape 15"/>
          <p:cNvSpPr/>
          <p:nvPr/>
        </p:nvSpPr>
        <p:spPr>
          <a:xfrm>
            <a:off x="8046720" y="1389888"/>
            <a:ext cx="804672" cy="228600"/>
          </a:xfrm>
          <a:prstGeom prst="rect">
            <a:avLst/>
          </a:prstGeom>
          <a:solidFill>
            <a:srgbClr val="F5C842"/>
          </a:solidFill>
          <a:ln w="12700">
            <a:solidFill>
              <a:srgbClr val="F5C842"/>
            </a:solidFill>
            <a:prstDash val="solid"/>
          </a:ln>
        </p:spPr>
      </p:sp>
      <p:sp>
        <p:nvSpPr>
          <p:cNvPr id="18" name="Text 16"/>
          <p:cNvSpPr/>
          <p:nvPr/>
        </p:nvSpPr>
        <p:spPr>
          <a:xfrm>
            <a:off x="8046720" y="1389888"/>
            <a:ext cx="804672" cy="228600"/>
          </a:xfrm>
          <a:prstGeom prst="rect">
            <a:avLst/>
          </a:prstGeom>
          <a:noFill/>
          <a:ln/>
        </p:spPr>
        <p:txBody>
          <a:bodyPr wrap="square" lIns="0" tIns="0" rIns="0" bIns="0" rtlCol="0" anchor="ctr"/>
          <a:lstStyle/>
          <a:p>
            <a:pPr marL="0" indent="0" algn="ctr">
              <a:buNone/>
            </a:pPr>
            <a:r>
              <a:rPr lang="en-US" sz="800" b="1" dirty="0">
                <a:solidFill>
                  <a:srgbClr val="0A0E1A"/>
                </a:solidFill>
              </a:rPr>
              <a:t>毎日</a:t>
            </a:r>
            <a:endParaRPr lang="en-US" sz="800" dirty="0"/>
          </a:p>
        </p:txBody>
      </p:sp>
      <p:sp>
        <p:nvSpPr>
          <p:cNvPr id="19" name="Text 17"/>
          <p:cNvSpPr/>
          <p:nvPr/>
        </p:nvSpPr>
        <p:spPr>
          <a:xfrm>
            <a:off x="4873752" y="1371600"/>
            <a:ext cx="3200400" cy="228600"/>
          </a:xfrm>
          <a:prstGeom prst="rect">
            <a:avLst/>
          </a:prstGeom>
          <a:noFill/>
          <a:ln/>
        </p:spPr>
        <p:txBody>
          <a:bodyPr wrap="square" rtlCol="0" anchor="ctr"/>
          <a:lstStyle/>
          <a:p>
            <a:pPr marL="0" indent="0">
              <a:buNone/>
            </a:pPr>
            <a:r>
              <a:rPr lang="en-US" sz="800" b="1" kern="0" spc="200" dirty="0">
                <a:solidFill>
                  <a:srgbClr val="F5C842"/>
                </a:solidFill>
              </a:rPr>
              <a:t>⚡  LAYER 2</a:t>
            </a:r>
            <a:endParaRPr lang="en-US" sz="800" dirty="0"/>
          </a:p>
        </p:txBody>
      </p:sp>
      <p:sp>
        <p:nvSpPr>
          <p:cNvPr id="20" name="Text 18"/>
          <p:cNvSpPr/>
          <p:nvPr/>
        </p:nvSpPr>
        <p:spPr>
          <a:xfrm>
            <a:off x="4873752" y="1609344"/>
            <a:ext cx="3840480" cy="320040"/>
          </a:xfrm>
          <a:prstGeom prst="rect">
            <a:avLst/>
          </a:prstGeom>
          <a:noFill/>
          <a:ln/>
        </p:spPr>
        <p:txBody>
          <a:bodyPr wrap="square" rtlCol="0" anchor="ctr"/>
          <a:lstStyle/>
          <a:p>
            <a:pPr marL="0" indent="0">
              <a:buNone/>
            </a:pPr>
            <a:r>
              <a:rPr lang="en-US" sz="1600" b="1" dirty="0">
                <a:solidFill>
                  <a:srgbClr val="FFFFFF"/>
                </a:solidFill>
              </a:rPr>
              <a:t>神経（爆発力）</a:t>
            </a:r>
            <a:endParaRPr lang="en-US" sz="1600" dirty="0"/>
          </a:p>
        </p:txBody>
      </p:sp>
      <p:sp>
        <p:nvSpPr>
          <p:cNvPr id="21" name="Text 19"/>
          <p:cNvSpPr/>
          <p:nvPr/>
        </p:nvSpPr>
        <p:spPr>
          <a:xfrm>
            <a:off x="4873752" y="1965960"/>
            <a:ext cx="3931920" cy="219456"/>
          </a:xfrm>
          <a:prstGeom prst="rect">
            <a:avLst/>
          </a:prstGeom>
          <a:noFill/>
          <a:ln/>
        </p:spPr>
        <p:txBody>
          <a:bodyPr wrap="square" rtlCol="0" anchor="ctr"/>
          <a:lstStyle/>
          <a:p>
            <a:pPr marL="0" indent="0">
              <a:buNone/>
            </a:pPr>
            <a:r>
              <a:rPr lang="en-US" sz="900" dirty="0">
                <a:solidFill>
                  <a:srgbClr val="B0BBD0"/>
                </a:solidFill>
              </a:rPr>
              <a:t>ツール:  握力計 &amp; My Jump Lab</a:t>
            </a:r>
            <a:endParaRPr lang="en-US" sz="900" dirty="0"/>
          </a:p>
        </p:txBody>
      </p:sp>
      <p:sp>
        <p:nvSpPr>
          <p:cNvPr id="22" name="Text 20"/>
          <p:cNvSpPr/>
          <p:nvPr/>
        </p:nvSpPr>
        <p:spPr>
          <a:xfrm>
            <a:off x="4873752" y="2194560"/>
            <a:ext cx="3931920" cy="274320"/>
          </a:xfrm>
          <a:prstGeom prst="rect">
            <a:avLst/>
          </a:prstGeom>
          <a:noFill/>
          <a:ln/>
        </p:spPr>
        <p:txBody>
          <a:bodyPr wrap="square" rtlCol="0" anchor="ctr"/>
          <a:lstStyle/>
          <a:p>
            <a:pPr marL="0" indent="0">
              <a:buNone/>
            </a:pPr>
            <a:r>
              <a:rPr lang="en-US" sz="900" dirty="0">
                <a:solidFill>
                  <a:srgbClr val="B0BBD0"/>
                </a:solidFill>
              </a:rPr>
              <a:t>計測:  握力（左右）/ 垂直跳び（ジャンプ高 cm）</a:t>
            </a:r>
            <a:endParaRPr lang="en-US" sz="900" dirty="0"/>
          </a:p>
        </p:txBody>
      </p:sp>
      <p:sp>
        <p:nvSpPr>
          <p:cNvPr id="23" name="Text 21"/>
          <p:cNvSpPr/>
          <p:nvPr/>
        </p:nvSpPr>
        <p:spPr>
          <a:xfrm>
            <a:off x="4873752" y="2560320"/>
            <a:ext cx="3931920" cy="256032"/>
          </a:xfrm>
          <a:prstGeom prst="rect">
            <a:avLst/>
          </a:prstGeom>
          <a:noFill/>
          <a:ln/>
        </p:spPr>
        <p:txBody>
          <a:bodyPr wrap="square" rtlCol="0" anchor="ctr"/>
          <a:lstStyle/>
          <a:p>
            <a:pPr marL="0" indent="0">
              <a:buNone/>
            </a:pPr>
            <a:r>
              <a:rPr lang="en-US" sz="950" dirty="0">
                <a:solidFill>
                  <a:srgbClr val="F5C842"/>
                </a:solidFill>
              </a:rPr>
              <a:t>▶  中枢神経系のフレッシュさ・即発力を測定</a:t>
            </a:r>
            <a:endParaRPr lang="en-US" sz="950" dirty="0"/>
          </a:p>
        </p:txBody>
      </p:sp>
      <p:sp>
        <p:nvSpPr>
          <p:cNvPr id="24" name="Shape 22"/>
          <p:cNvSpPr/>
          <p:nvPr/>
        </p:nvSpPr>
        <p:spPr>
          <a:xfrm>
            <a:off x="365760" y="3063240"/>
            <a:ext cx="4206240" cy="1645920"/>
          </a:xfrm>
          <a:prstGeom prst="rect">
            <a:avLst/>
          </a:prstGeom>
          <a:solidFill>
            <a:srgbClr val="141929"/>
          </a:solidFill>
          <a:ln w="6350">
            <a:solidFill>
              <a:srgbClr val="1F2A45"/>
            </a:solidFill>
            <a:prstDash val="solid"/>
          </a:ln>
          <a:effectLst>
            <a:outerShdw blurRad="101600" dist="25400" dir="8100000" algn="bl" rotWithShape="0">
              <a:srgbClr val="000000">
                <a:alpha val="25000"/>
              </a:srgbClr>
            </a:outerShdw>
          </a:effectLst>
        </p:spPr>
      </p:sp>
      <p:sp>
        <p:nvSpPr>
          <p:cNvPr id="25" name="Shape 23"/>
          <p:cNvSpPr/>
          <p:nvPr/>
        </p:nvSpPr>
        <p:spPr>
          <a:xfrm>
            <a:off x="365760" y="3063240"/>
            <a:ext cx="45720" cy="1645920"/>
          </a:xfrm>
          <a:prstGeom prst="rect">
            <a:avLst/>
          </a:prstGeom>
          <a:solidFill>
            <a:srgbClr val="F57C2E"/>
          </a:solidFill>
          <a:ln w="12700">
            <a:solidFill>
              <a:srgbClr val="F57C2E"/>
            </a:solidFill>
            <a:prstDash val="solid"/>
          </a:ln>
        </p:spPr>
      </p:sp>
      <p:sp>
        <p:nvSpPr>
          <p:cNvPr id="26" name="Shape 24"/>
          <p:cNvSpPr/>
          <p:nvPr/>
        </p:nvSpPr>
        <p:spPr>
          <a:xfrm>
            <a:off x="3657600" y="3172968"/>
            <a:ext cx="804672" cy="228600"/>
          </a:xfrm>
          <a:prstGeom prst="rect">
            <a:avLst/>
          </a:prstGeom>
          <a:solidFill>
            <a:srgbClr val="F57C2E"/>
          </a:solidFill>
          <a:ln w="12700">
            <a:solidFill>
              <a:srgbClr val="F57C2E"/>
            </a:solidFill>
            <a:prstDash val="solid"/>
          </a:ln>
        </p:spPr>
      </p:sp>
      <p:sp>
        <p:nvSpPr>
          <p:cNvPr id="27" name="Text 25"/>
          <p:cNvSpPr/>
          <p:nvPr/>
        </p:nvSpPr>
        <p:spPr>
          <a:xfrm>
            <a:off x="3657600" y="3172968"/>
            <a:ext cx="804672" cy="228600"/>
          </a:xfrm>
          <a:prstGeom prst="rect">
            <a:avLst/>
          </a:prstGeom>
          <a:noFill/>
          <a:ln/>
        </p:spPr>
        <p:txBody>
          <a:bodyPr wrap="square" lIns="0" tIns="0" rIns="0" bIns="0" rtlCol="0" anchor="ctr"/>
          <a:lstStyle/>
          <a:p>
            <a:pPr marL="0" indent="0" algn="ctr">
              <a:buNone/>
            </a:pPr>
            <a:r>
              <a:rPr lang="en-US" sz="800" b="1" dirty="0">
                <a:solidFill>
                  <a:srgbClr val="0A0E1A"/>
                </a:solidFill>
              </a:rPr>
              <a:t>週2回</a:t>
            </a:r>
            <a:endParaRPr lang="en-US" sz="800" dirty="0"/>
          </a:p>
        </p:txBody>
      </p:sp>
      <p:sp>
        <p:nvSpPr>
          <p:cNvPr id="28" name="Text 26"/>
          <p:cNvSpPr/>
          <p:nvPr/>
        </p:nvSpPr>
        <p:spPr>
          <a:xfrm>
            <a:off x="484632" y="3154680"/>
            <a:ext cx="3200400" cy="228600"/>
          </a:xfrm>
          <a:prstGeom prst="rect">
            <a:avLst/>
          </a:prstGeom>
          <a:noFill/>
          <a:ln/>
        </p:spPr>
        <p:txBody>
          <a:bodyPr wrap="square" rtlCol="0" anchor="ctr"/>
          <a:lstStyle/>
          <a:p>
            <a:pPr marL="0" indent="0">
              <a:buNone/>
            </a:pPr>
            <a:r>
              <a:rPr lang="en-US" sz="800" b="1" kern="0" spc="200" dirty="0">
                <a:solidFill>
                  <a:srgbClr val="F57C2E"/>
                </a:solidFill>
              </a:rPr>
              <a:t>🫀  LAYER 3</a:t>
            </a:r>
            <a:endParaRPr lang="en-US" sz="800" dirty="0"/>
          </a:p>
        </p:txBody>
      </p:sp>
      <p:sp>
        <p:nvSpPr>
          <p:cNvPr id="29" name="Text 27"/>
          <p:cNvSpPr/>
          <p:nvPr/>
        </p:nvSpPr>
        <p:spPr>
          <a:xfrm>
            <a:off x="484632" y="3392424"/>
            <a:ext cx="3840480" cy="320040"/>
          </a:xfrm>
          <a:prstGeom prst="rect">
            <a:avLst/>
          </a:prstGeom>
          <a:noFill/>
          <a:ln/>
        </p:spPr>
        <p:txBody>
          <a:bodyPr wrap="square" rtlCol="0" anchor="ctr"/>
          <a:lstStyle/>
          <a:p>
            <a:pPr marL="0" indent="0">
              <a:buNone/>
            </a:pPr>
            <a:r>
              <a:rPr lang="en-US" sz="1600" b="1" dirty="0">
                <a:solidFill>
                  <a:srgbClr val="FFFFFF"/>
                </a:solidFill>
              </a:rPr>
              <a:t>心肺（出力）</a:t>
            </a:r>
            <a:endParaRPr lang="en-US" sz="1600" dirty="0"/>
          </a:p>
        </p:txBody>
      </p:sp>
      <p:sp>
        <p:nvSpPr>
          <p:cNvPr id="30" name="Text 28"/>
          <p:cNvSpPr/>
          <p:nvPr/>
        </p:nvSpPr>
        <p:spPr>
          <a:xfrm>
            <a:off x="484632" y="3749040"/>
            <a:ext cx="3931920" cy="219456"/>
          </a:xfrm>
          <a:prstGeom prst="rect">
            <a:avLst/>
          </a:prstGeom>
          <a:noFill/>
          <a:ln/>
        </p:spPr>
        <p:txBody>
          <a:bodyPr wrap="square" rtlCol="0" anchor="ctr"/>
          <a:lstStyle/>
          <a:p>
            <a:pPr marL="0" indent="0">
              <a:buNone/>
            </a:pPr>
            <a:r>
              <a:rPr lang="en-US" sz="900" dirty="0">
                <a:solidFill>
                  <a:srgbClr val="B0BBD0"/>
                </a:solidFill>
              </a:rPr>
              <a:t>ツール:  Apple Watch + Running</a:t>
            </a:r>
            <a:endParaRPr lang="en-US" sz="900" dirty="0"/>
          </a:p>
        </p:txBody>
      </p:sp>
      <p:sp>
        <p:nvSpPr>
          <p:cNvPr id="31" name="Text 29"/>
          <p:cNvSpPr/>
          <p:nvPr/>
        </p:nvSpPr>
        <p:spPr>
          <a:xfrm>
            <a:off x="484632" y="3977640"/>
            <a:ext cx="3931920" cy="274320"/>
          </a:xfrm>
          <a:prstGeom prst="rect">
            <a:avLst/>
          </a:prstGeom>
          <a:noFill/>
          <a:ln/>
        </p:spPr>
        <p:txBody>
          <a:bodyPr wrap="square" rtlCol="0" anchor="ctr"/>
          <a:lstStyle/>
          <a:p>
            <a:pPr marL="0" indent="0">
              <a:buNone/>
            </a:pPr>
            <a:r>
              <a:rPr lang="en-US" sz="900" dirty="0">
                <a:solidFill>
                  <a:srgbClr val="B0BBD0"/>
                </a:solidFill>
              </a:rPr>
              <a:t>計測:  10分間ランニング — 全力の平均パワー（W）/ 距離（km）</a:t>
            </a:r>
            <a:endParaRPr lang="en-US" sz="900" dirty="0"/>
          </a:p>
        </p:txBody>
      </p:sp>
      <p:sp>
        <p:nvSpPr>
          <p:cNvPr id="32" name="Text 30"/>
          <p:cNvSpPr/>
          <p:nvPr/>
        </p:nvSpPr>
        <p:spPr>
          <a:xfrm>
            <a:off x="484632" y="4343400"/>
            <a:ext cx="3931920" cy="256032"/>
          </a:xfrm>
          <a:prstGeom prst="rect">
            <a:avLst/>
          </a:prstGeom>
          <a:noFill/>
          <a:ln/>
        </p:spPr>
        <p:txBody>
          <a:bodyPr wrap="square" rtlCol="0" anchor="ctr"/>
          <a:lstStyle/>
          <a:p>
            <a:pPr marL="0" indent="0">
              <a:buNone/>
            </a:pPr>
            <a:r>
              <a:rPr lang="en-US" sz="950" dirty="0">
                <a:solidFill>
                  <a:srgbClr val="F57C2E"/>
                </a:solidFill>
              </a:rPr>
              <a:t>▶  短時間最大出力。HRVとの相関を週次で検証</a:t>
            </a:r>
            <a:endParaRPr lang="en-US" sz="950" dirty="0"/>
          </a:p>
        </p:txBody>
      </p:sp>
      <p:sp>
        <p:nvSpPr>
          <p:cNvPr id="33" name="Shape 31"/>
          <p:cNvSpPr/>
          <p:nvPr/>
        </p:nvSpPr>
        <p:spPr>
          <a:xfrm>
            <a:off x="4754880" y="3063240"/>
            <a:ext cx="4206240" cy="1645920"/>
          </a:xfrm>
          <a:prstGeom prst="rect">
            <a:avLst/>
          </a:prstGeom>
          <a:solidFill>
            <a:srgbClr val="141929"/>
          </a:solidFill>
          <a:ln w="6350">
            <a:solidFill>
              <a:srgbClr val="1F2A45"/>
            </a:solidFill>
            <a:prstDash val="solid"/>
          </a:ln>
          <a:effectLst>
            <a:outerShdw blurRad="101600" dist="25400" dir="8100000" algn="bl" rotWithShape="0">
              <a:srgbClr val="000000">
                <a:alpha val="25000"/>
              </a:srgbClr>
            </a:outerShdw>
          </a:effectLst>
        </p:spPr>
      </p:sp>
      <p:sp>
        <p:nvSpPr>
          <p:cNvPr id="34" name="Shape 32"/>
          <p:cNvSpPr/>
          <p:nvPr/>
        </p:nvSpPr>
        <p:spPr>
          <a:xfrm>
            <a:off x="4754880" y="3063240"/>
            <a:ext cx="45720" cy="1645920"/>
          </a:xfrm>
          <a:prstGeom prst="rect">
            <a:avLst/>
          </a:prstGeom>
          <a:solidFill>
            <a:srgbClr val="3D9BE9"/>
          </a:solidFill>
          <a:ln w="12700">
            <a:solidFill>
              <a:srgbClr val="3D9BE9"/>
            </a:solidFill>
            <a:prstDash val="solid"/>
          </a:ln>
        </p:spPr>
      </p:sp>
      <p:sp>
        <p:nvSpPr>
          <p:cNvPr id="35" name="Shape 33"/>
          <p:cNvSpPr/>
          <p:nvPr/>
        </p:nvSpPr>
        <p:spPr>
          <a:xfrm>
            <a:off x="8046720" y="3172968"/>
            <a:ext cx="804672" cy="228600"/>
          </a:xfrm>
          <a:prstGeom prst="rect">
            <a:avLst/>
          </a:prstGeom>
          <a:solidFill>
            <a:srgbClr val="3D9BE9"/>
          </a:solidFill>
          <a:ln w="12700">
            <a:solidFill>
              <a:srgbClr val="3D9BE9"/>
            </a:solidFill>
            <a:prstDash val="solid"/>
          </a:ln>
        </p:spPr>
      </p:sp>
      <p:sp>
        <p:nvSpPr>
          <p:cNvPr id="36" name="Text 34"/>
          <p:cNvSpPr/>
          <p:nvPr/>
        </p:nvSpPr>
        <p:spPr>
          <a:xfrm>
            <a:off x="8046720" y="3172968"/>
            <a:ext cx="804672" cy="228600"/>
          </a:xfrm>
          <a:prstGeom prst="rect">
            <a:avLst/>
          </a:prstGeom>
          <a:noFill/>
          <a:ln/>
        </p:spPr>
        <p:txBody>
          <a:bodyPr wrap="square" lIns="0" tIns="0" rIns="0" bIns="0" rtlCol="0" anchor="ctr"/>
          <a:lstStyle/>
          <a:p>
            <a:pPr marL="0" indent="0" algn="ctr">
              <a:buNone/>
            </a:pPr>
            <a:r>
              <a:rPr lang="en-US" sz="800" b="1" dirty="0">
                <a:solidFill>
                  <a:srgbClr val="0A0E1A"/>
                </a:solidFill>
              </a:rPr>
              <a:t>週1回</a:t>
            </a:r>
            <a:endParaRPr lang="en-US" sz="800" dirty="0"/>
          </a:p>
        </p:txBody>
      </p:sp>
      <p:sp>
        <p:nvSpPr>
          <p:cNvPr id="37" name="Text 35"/>
          <p:cNvSpPr/>
          <p:nvPr/>
        </p:nvSpPr>
        <p:spPr>
          <a:xfrm>
            <a:off x="4873752" y="3154680"/>
            <a:ext cx="3200400" cy="228600"/>
          </a:xfrm>
          <a:prstGeom prst="rect">
            <a:avLst/>
          </a:prstGeom>
          <a:noFill/>
          <a:ln/>
        </p:spPr>
        <p:txBody>
          <a:bodyPr wrap="square" rtlCol="0" anchor="ctr"/>
          <a:lstStyle/>
          <a:p>
            <a:pPr marL="0" indent="0">
              <a:buNone/>
            </a:pPr>
            <a:r>
              <a:rPr lang="en-US" sz="800" b="1" kern="0" spc="200" dirty="0">
                <a:solidFill>
                  <a:srgbClr val="3D9BE9"/>
                </a:solidFill>
              </a:rPr>
              <a:t>💪  LAYER 4</a:t>
            </a:r>
            <a:endParaRPr lang="en-US" sz="800" dirty="0"/>
          </a:p>
        </p:txBody>
      </p:sp>
      <p:sp>
        <p:nvSpPr>
          <p:cNvPr id="38" name="Text 36"/>
          <p:cNvSpPr/>
          <p:nvPr/>
        </p:nvSpPr>
        <p:spPr>
          <a:xfrm>
            <a:off x="4873752" y="3392424"/>
            <a:ext cx="3840480" cy="320040"/>
          </a:xfrm>
          <a:prstGeom prst="rect">
            <a:avLst/>
          </a:prstGeom>
          <a:noFill/>
          <a:ln/>
        </p:spPr>
        <p:txBody>
          <a:bodyPr wrap="square" rtlCol="0" anchor="ctr"/>
          <a:lstStyle/>
          <a:p>
            <a:pPr marL="0" indent="0">
              <a:buNone/>
            </a:pPr>
            <a:r>
              <a:rPr lang="en-US" sz="1600" b="1" dirty="0">
                <a:solidFill>
                  <a:srgbClr val="FFFFFF"/>
                </a:solidFill>
              </a:rPr>
              <a:t>筋持久力（タフネス）</a:t>
            </a:r>
            <a:endParaRPr lang="en-US" sz="1600" dirty="0"/>
          </a:p>
        </p:txBody>
      </p:sp>
      <p:sp>
        <p:nvSpPr>
          <p:cNvPr id="39" name="Text 37"/>
          <p:cNvSpPr/>
          <p:nvPr/>
        </p:nvSpPr>
        <p:spPr>
          <a:xfrm>
            <a:off x="4873752" y="3749040"/>
            <a:ext cx="3931920" cy="219456"/>
          </a:xfrm>
          <a:prstGeom prst="rect">
            <a:avLst/>
          </a:prstGeom>
          <a:noFill/>
          <a:ln/>
        </p:spPr>
        <p:txBody>
          <a:bodyPr wrap="square" rtlCol="0" anchor="ctr"/>
          <a:lstStyle/>
          <a:p>
            <a:pPr marL="0" indent="0">
              <a:buNone/>
            </a:pPr>
            <a:r>
              <a:rPr lang="en-US" sz="900" dirty="0">
                <a:solidFill>
                  <a:srgbClr val="B0BBD0"/>
                </a:solidFill>
              </a:rPr>
              <a:t>ツール:  メトロノーム使用推奨</a:t>
            </a:r>
            <a:endParaRPr lang="en-US" sz="900" dirty="0"/>
          </a:p>
        </p:txBody>
      </p:sp>
      <p:sp>
        <p:nvSpPr>
          <p:cNvPr id="40" name="Text 38"/>
          <p:cNvSpPr/>
          <p:nvPr/>
        </p:nvSpPr>
        <p:spPr>
          <a:xfrm>
            <a:off x="4873752" y="3977640"/>
            <a:ext cx="3931920" cy="274320"/>
          </a:xfrm>
          <a:prstGeom prst="rect">
            <a:avLst/>
          </a:prstGeom>
          <a:noFill/>
          <a:ln/>
        </p:spPr>
        <p:txBody>
          <a:bodyPr wrap="square" rtlCol="0" anchor="ctr"/>
          <a:lstStyle/>
          <a:p>
            <a:pPr marL="0" indent="0">
              <a:buNone/>
            </a:pPr>
            <a:r>
              <a:rPr lang="en-US" sz="900" dirty="0">
                <a:solidFill>
                  <a:srgbClr val="B0BBD0"/>
                </a:solidFill>
              </a:rPr>
              <a:t>計測:  プッシュアップ（腕立て伏せ）最大回数</a:t>
            </a:r>
            <a:endParaRPr lang="en-US" sz="900" dirty="0"/>
          </a:p>
        </p:txBody>
      </p:sp>
      <p:sp>
        <p:nvSpPr>
          <p:cNvPr id="41" name="Text 39"/>
          <p:cNvSpPr/>
          <p:nvPr/>
        </p:nvSpPr>
        <p:spPr>
          <a:xfrm>
            <a:off x="4873752" y="4343400"/>
            <a:ext cx="3931920" cy="256032"/>
          </a:xfrm>
          <a:prstGeom prst="rect">
            <a:avLst/>
          </a:prstGeom>
          <a:noFill/>
          <a:ln/>
        </p:spPr>
        <p:txBody>
          <a:bodyPr wrap="square" rtlCol="0" anchor="ctr"/>
          <a:lstStyle/>
          <a:p>
            <a:pPr marL="0" indent="0">
              <a:buNone/>
            </a:pPr>
            <a:r>
              <a:rPr lang="en-US" sz="950" dirty="0">
                <a:solidFill>
                  <a:srgbClr val="3D9BE9"/>
                </a:solidFill>
              </a:rPr>
              <a:t>▶  一定リズムで何回できるか。精神の粘りも測定</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0E1A"/>
        </a:solidFill>
        <a:effectLst/>
      </p:bgPr>
    </p:bg>
    <p:spTree>
      <p:nvGrpSpPr>
        <p:cNvPr id="1" name=""/>
        <p:cNvGrpSpPr/>
        <p:nvPr/>
      </p:nvGrpSpPr>
      <p:grpSpPr>
        <a:xfrm>
          <a:off x="0" y="0"/>
          <a:ext cx="0" cy="0"/>
          <a:chOff x="0" y="0"/>
          <a:chExt cx="0" cy="0"/>
        </a:xfrm>
      </p:grpSpPr>
      <p:sp>
        <p:nvSpPr>
          <p:cNvPr id="2" name="Text 0"/>
          <p:cNvSpPr/>
          <p:nvPr/>
        </p:nvSpPr>
        <p:spPr>
          <a:xfrm>
            <a:off x="365760" y="201168"/>
            <a:ext cx="8229600" cy="228600"/>
          </a:xfrm>
          <a:prstGeom prst="rect">
            <a:avLst/>
          </a:prstGeom>
          <a:noFill/>
          <a:ln/>
        </p:spPr>
        <p:txBody>
          <a:bodyPr wrap="square" rtlCol="0" anchor="ctr"/>
          <a:lstStyle/>
          <a:p>
            <a:pPr marL="0" indent="0">
              <a:buNone/>
            </a:pPr>
            <a:r>
              <a:rPr lang="en-US" sz="800" b="1" kern="0" spc="300" dirty="0">
                <a:solidFill>
                  <a:srgbClr val="00D4C8"/>
                </a:solidFill>
              </a:rPr>
              <a:t>APPLE WATCH  —  AUTO HEALTH EXPORT  —  自動同期</a:t>
            </a:r>
            <a:endParaRPr lang="en-US" sz="800" dirty="0"/>
          </a:p>
        </p:txBody>
      </p:sp>
      <p:sp>
        <p:nvSpPr>
          <p:cNvPr id="3" name="Text 1"/>
          <p:cNvSpPr/>
          <p:nvPr/>
        </p:nvSpPr>
        <p:spPr>
          <a:xfrm>
            <a:off x="365760" y="475488"/>
            <a:ext cx="8412480" cy="548640"/>
          </a:xfrm>
          <a:prstGeom prst="rect">
            <a:avLst/>
          </a:prstGeom>
          <a:noFill/>
          <a:ln/>
        </p:spPr>
        <p:txBody>
          <a:bodyPr wrap="square" rtlCol="0" anchor="ctr"/>
          <a:lstStyle/>
          <a:p>
            <a:pPr marL="0" indent="0">
              <a:buNone/>
            </a:pPr>
            <a:r>
              <a:rPr lang="en-US" sz="2800" b="1" dirty="0">
                <a:solidFill>
                  <a:srgbClr val="FFFFFF"/>
                </a:solidFill>
              </a:rPr>
              <a:t>Apple Watch 取得データ一覧</a:t>
            </a:r>
            <a:endParaRPr lang="en-US" sz="2800" dirty="0"/>
          </a:p>
        </p:txBody>
      </p:sp>
      <p:sp>
        <p:nvSpPr>
          <p:cNvPr id="4" name="Text 2"/>
          <p:cNvSpPr/>
          <p:nvPr/>
        </p:nvSpPr>
        <p:spPr>
          <a:xfrm>
            <a:off x="365760" y="978408"/>
            <a:ext cx="8412480" cy="274320"/>
          </a:xfrm>
          <a:prstGeom prst="rect">
            <a:avLst/>
          </a:prstGeom>
          <a:noFill/>
          <a:ln/>
        </p:spPr>
        <p:txBody>
          <a:bodyPr wrap="square" rtlCol="0" anchor="ctr"/>
          <a:lstStyle/>
          <a:p>
            <a:pPr marL="0" indent="0">
              <a:buNone/>
            </a:pPr>
            <a:r>
              <a:rPr lang="en-US" sz="1200" dirty="0">
                <a:solidFill>
                  <a:srgbClr val="B0BBD0"/>
                </a:solidFill>
              </a:rPr>
              <a:t>以下の指標を「健康メトリクスを選択」画面でON（✅）にしてください</a:t>
            </a:r>
            <a:endParaRPr lang="en-US" sz="1200" dirty="0"/>
          </a:p>
        </p:txBody>
      </p:sp>
      <p:sp>
        <p:nvSpPr>
          <p:cNvPr id="5" name="Shape 3"/>
          <p:cNvSpPr/>
          <p:nvPr/>
        </p:nvSpPr>
        <p:spPr>
          <a:xfrm>
            <a:off x="365760" y="1371600"/>
            <a:ext cx="8412480" cy="22860"/>
          </a:xfrm>
          <a:prstGeom prst="rect">
            <a:avLst/>
          </a:prstGeom>
          <a:solidFill>
            <a:srgbClr val="1F2A45"/>
          </a:solidFill>
          <a:ln w="12700">
            <a:solidFill>
              <a:srgbClr val="1F2A45"/>
            </a:solidFill>
            <a:prstDash val="solid"/>
          </a:ln>
        </p:spPr>
      </p:sp>
      <p:sp>
        <p:nvSpPr>
          <p:cNvPr id="6" name="Shape 4"/>
          <p:cNvSpPr/>
          <p:nvPr/>
        </p:nvSpPr>
        <p:spPr>
          <a:xfrm>
            <a:off x="365760" y="1234440"/>
            <a:ext cx="5029200" cy="868680"/>
          </a:xfrm>
          <a:prstGeom prst="rect">
            <a:avLst/>
          </a:prstGeom>
          <a:solidFill>
            <a:srgbClr val="141929"/>
          </a:solidFill>
          <a:ln w="6350">
            <a:solidFill>
              <a:srgbClr val="1F2A45"/>
            </a:solidFill>
            <a:prstDash val="solid"/>
          </a:ln>
          <a:effectLst>
            <a:outerShdw blurRad="101600" dist="25400" dir="8100000" algn="bl" rotWithShape="0">
              <a:srgbClr val="000000">
                <a:alpha val="25000"/>
              </a:srgbClr>
            </a:outerShdw>
          </a:effectLst>
        </p:spPr>
      </p:sp>
      <p:sp>
        <p:nvSpPr>
          <p:cNvPr id="7" name="Shape 5"/>
          <p:cNvSpPr/>
          <p:nvPr/>
        </p:nvSpPr>
        <p:spPr>
          <a:xfrm>
            <a:off x="365760" y="1234440"/>
            <a:ext cx="45720" cy="868680"/>
          </a:xfrm>
          <a:prstGeom prst="rect">
            <a:avLst/>
          </a:prstGeom>
          <a:solidFill>
            <a:srgbClr val="F5C842"/>
          </a:solidFill>
          <a:ln w="12700">
            <a:solidFill>
              <a:srgbClr val="F5C842"/>
            </a:solidFill>
            <a:prstDash val="solid"/>
          </a:ln>
        </p:spPr>
      </p:sp>
      <p:sp>
        <p:nvSpPr>
          <p:cNvPr id="8" name="Text 6"/>
          <p:cNvSpPr/>
          <p:nvPr/>
        </p:nvSpPr>
        <p:spPr>
          <a:xfrm>
            <a:off x="502920" y="1325880"/>
            <a:ext cx="4754880" cy="228600"/>
          </a:xfrm>
          <a:prstGeom prst="rect">
            <a:avLst/>
          </a:prstGeom>
          <a:noFill/>
          <a:ln/>
        </p:spPr>
        <p:txBody>
          <a:bodyPr wrap="square" rtlCol="0" anchor="ctr"/>
          <a:lstStyle/>
          <a:p>
            <a:pPr marL="0" indent="0">
              <a:buNone/>
            </a:pPr>
            <a:r>
              <a:rPr lang="en-US" sz="900" b="1" dirty="0">
                <a:solidFill>
                  <a:srgbClr val="F5C842"/>
                </a:solidFill>
              </a:rPr>
              <a:t>⭐ 最重要指標（毎朝自動取得）</a:t>
            </a:r>
            <a:endParaRPr lang="en-US" sz="900" dirty="0"/>
          </a:p>
        </p:txBody>
      </p:sp>
      <p:sp>
        <p:nvSpPr>
          <p:cNvPr id="9" name="Text 7"/>
          <p:cNvSpPr/>
          <p:nvPr/>
        </p:nvSpPr>
        <p:spPr>
          <a:xfrm>
            <a:off x="502920" y="1581912"/>
            <a:ext cx="4754880" cy="411480"/>
          </a:xfrm>
          <a:prstGeom prst="rect">
            <a:avLst/>
          </a:prstGeom>
          <a:noFill/>
          <a:ln/>
        </p:spPr>
        <p:txBody>
          <a:bodyPr wrap="square" rtlCol="0" anchor="ctr"/>
          <a:lstStyle/>
          <a:p>
            <a:pPr marL="0" indent="0">
              <a:buNone/>
            </a:pPr>
            <a:r>
              <a:rPr lang="en-US" sz="900" dirty="0">
                <a:solidFill>
                  <a:srgbClr val="B0BBD0"/>
                </a:solidFill>
              </a:rPr>
              <a:t>心拍変動（HRV）ms   ·   VO2 Max  mL/kg/min   ·   睡眠分析（総睡眠・深睡眠・睡眠スコア）</a:t>
            </a:r>
            <a:endParaRPr lang="en-US" sz="900" dirty="0"/>
          </a:p>
        </p:txBody>
      </p:sp>
      <p:sp>
        <p:nvSpPr>
          <p:cNvPr id="10" name="Shape 8"/>
          <p:cNvSpPr/>
          <p:nvPr/>
        </p:nvSpPr>
        <p:spPr>
          <a:xfrm>
            <a:off x="365760" y="2185416"/>
            <a:ext cx="5029200" cy="868680"/>
          </a:xfrm>
          <a:prstGeom prst="rect">
            <a:avLst/>
          </a:prstGeom>
          <a:solidFill>
            <a:srgbClr val="141929"/>
          </a:solidFill>
          <a:ln w="6350">
            <a:solidFill>
              <a:srgbClr val="1F2A45"/>
            </a:solidFill>
            <a:prstDash val="solid"/>
          </a:ln>
          <a:effectLst>
            <a:outerShdw blurRad="101600" dist="25400" dir="8100000" algn="bl" rotWithShape="0">
              <a:srgbClr val="000000">
                <a:alpha val="25000"/>
              </a:srgbClr>
            </a:outerShdw>
          </a:effectLst>
        </p:spPr>
      </p:sp>
      <p:sp>
        <p:nvSpPr>
          <p:cNvPr id="11" name="Shape 9"/>
          <p:cNvSpPr/>
          <p:nvPr/>
        </p:nvSpPr>
        <p:spPr>
          <a:xfrm>
            <a:off x="365760" y="2185416"/>
            <a:ext cx="45720" cy="868680"/>
          </a:xfrm>
          <a:prstGeom prst="rect">
            <a:avLst/>
          </a:prstGeom>
          <a:solidFill>
            <a:srgbClr val="F57C2E"/>
          </a:solidFill>
          <a:ln w="12700">
            <a:solidFill>
              <a:srgbClr val="F57C2E"/>
            </a:solidFill>
            <a:prstDash val="solid"/>
          </a:ln>
        </p:spPr>
      </p:sp>
      <p:sp>
        <p:nvSpPr>
          <p:cNvPr id="12" name="Text 10"/>
          <p:cNvSpPr/>
          <p:nvPr/>
        </p:nvSpPr>
        <p:spPr>
          <a:xfrm>
            <a:off x="502920" y="2276856"/>
            <a:ext cx="4754880" cy="228600"/>
          </a:xfrm>
          <a:prstGeom prst="rect">
            <a:avLst/>
          </a:prstGeom>
          <a:noFill/>
          <a:ln/>
        </p:spPr>
        <p:txBody>
          <a:bodyPr wrap="square" rtlCol="0" anchor="ctr"/>
          <a:lstStyle/>
          <a:p>
            <a:pPr marL="0" indent="0">
              <a:buNone/>
            </a:pPr>
            <a:r>
              <a:rPr lang="en-US" sz="900" b="1" dirty="0">
                <a:solidFill>
                  <a:srgbClr val="F57C2E"/>
                </a:solidFill>
              </a:rPr>
              <a:t>🏃 ランニング分析</a:t>
            </a:r>
            <a:endParaRPr lang="en-US" sz="900" dirty="0"/>
          </a:p>
        </p:txBody>
      </p:sp>
      <p:sp>
        <p:nvSpPr>
          <p:cNvPr id="13" name="Text 11"/>
          <p:cNvSpPr/>
          <p:nvPr/>
        </p:nvSpPr>
        <p:spPr>
          <a:xfrm>
            <a:off x="502920" y="2532888"/>
            <a:ext cx="4754880" cy="411480"/>
          </a:xfrm>
          <a:prstGeom prst="rect">
            <a:avLst/>
          </a:prstGeom>
          <a:noFill/>
          <a:ln/>
        </p:spPr>
        <p:txBody>
          <a:bodyPr wrap="square" rtlCol="0" anchor="ctr"/>
          <a:lstStyle/>
          <a:p>
            <a:pPr marL="0" indent="0">
              <a:buNone/>
            </a:pPr>
            <a:r>
              <a:rPr lang="en-US" sz="900" dirty="0">
                <a:solidFill>
                  <a:srgbClr val="B0BBD0"/>
                </a:solidFill>
              </a:rPr>
              <a:t>ランニングパワー（W）   ·   ランニングのスピード（min/km）</a:t>
            </a:r>
            <a:endParaRPr lang="en-US" sz="900" dirty="0"/>
          </a:p>
        </p:txBody>
      </p:sp>
      <p:sp>
        <p:nvSpPr>
          <p:cNvPr id="14" name="Shape 12"/>
          <p:cNvSpPr/>
          <p:nvPr/>
        </p:nvSpPr>
        <p:spPr>
          <a:xfrm>
            <a:off x="365760" y="3136392"/>
            <a:ext cx="5029200" cy="868680"/>
          </a:xfrm>
          <a:prstGeom prst="rect">
            <a:avLst/>
          </a:prstGeom>
          <a:solidFill>
            <a:srgbClr val="141929"/>
          </a:solidFill>
          <a:ln w="6350">
            <a:solidFill>
              <a:srgbClr val="1F2A45"/>
            </a:solidFill>
            <a:prstDash val="solid"/>
          </a:ln>
          <a:effectLst>
            <a:outerShdw blurRad="101600" dist="25400" dir="8100000" algn="bl" rotWithShape="0">
              <a:srgbClr val="000000">
                <a:alpha val="25000"/>
              </a:srgbClr>
            </a:outerShdw>
          </a:effectLst>
        </p:spPr>
      </p:sp>
      <p:sp>
        <p:nvSpPr>
          <p:cNvPr id="15" name="Shape 13"/>
          <p:cNvSpPr/>
          <p:nvPr/>
        </p:nvSpPr>
        <p:spPr>
          <a:xfrm>
            <a:off x="365760" y="3136392"/>
            <a:ext cx="45720" cy="868680"/>
          </a:xfrm>
          <a:prstGeom prst="rect">
            <a:avLst/>
          </a:prstGeom>
          <a:solidFill>
            <a:srgbClr val="3D9BE9"/>
          </a:solidFill>
          <a:ln w="12700">
            <a:solidFill>
              <a:srgbClr val="3D9BE9"/>
            </a:solidFill>
            <a:prstDash val="solid"/>
          </a:ln>
        </p:spPr>
      </p:sp>
      <p:sp>
        <p:nvSpPr>
          <p:cNvPr id="16" name="Text 14"/>
          <p:cNvSpPr/>
          <p:nvPr/>
        </p:nvSpPr>
        <p:spPr>
          <a:xfrm>
            <a:off x="502920" y="3227832"/>
            <a:ext cx="4754880" cy="228600"/>
          </a:xfrm>
          <a:prstGeom prst="rect">
            <a:avLst/>
          </a:prstGeom>
          <a:noFill/>
          <a:ln/>
        </p:spPr>
        <p:txBody>
          <a:bodyPr wrap="square" rtlCol="0" anchor="ctr"/>
          <a:lstStyle/>
          <a:p>
            <a:pPr marL="0" indent="0">
              <a:buNone/>
            </a:pPr>
            <a:r>
              <a:rPr lang="en-US" sz="900" b="1" dirty="0">
                <a:solidFill>
                  <a:srgbClr val="3D9BE9"/>
                </a:solidFill>
              </a:rPr>
              <a:t>❤️ 健康状態モニタリング</a:t>
            </a:r>
            <a:endParaRPr lang="en-US" sz="900" dirty="0"/>
          </a:p>
        </p:txBody>
      </p:sp>
      <p:sp>
        <p:nvSpPr>
          <p:cNvPr id="17" name="Text 15"/>
          <p:cNvSpPr/>
          <p:nvPr/>
        </p:nvSpPr>
        <p:spPr>
          <a:xfrm>
            <a:off x="502920" y="3483864"/>
            <a:ext cx="4754880" cy="411480"/>
          </a:xfrm>
          <a:prstGeom prst="rect">
            <a:avLst/>
          </a:prstGeom>
          <a:noFill/>
          <a:ln/>
        </p:spPr>
        <p:txBody>
          <a:bodyPr wrap="square" rtlCol="0" anchor="ctr"/>
          <a:lstStyle/>
          <a:p>
            <a:pPr marL="0" indent="0">
              <a:buNone/>
            </a:pPr>
            <a:r>
              <a:rPr lang="en-US" sz="900" dirty="0">
                <a:solidFill>
                  <a:srgbClr val="B0BBD0"/>
                </a:solidFill>
              </a:rPr>
              <a:t>安静時心拍数（RHR）bpm   ·   睡眠時手首温度（℃）   ·   呼吸数（回/分）   ·   血圧（mmHg） ※手入力または対応機器</a:t>
            </a:r>
            <a:endParaRPr lang="en-US" sz="900" dirty="0"/>
          </a:p>
        </p:txBody>
      </p:sp>
      <p:sp>
        <p:nvSpPr>
          <p:cNvPr id="18" name="Shape 16"/>
          <p:cNvSpPr/>
          <p:nvPr/>
        </p:nvSpPr>
        <p:spPr>
          <a:xfrm>
            <a:off x="365760" y="4087368"/>
            <a:ext cx="5029200" cy="868680"/>
          </a:xfrm>
          <a:prstGeom prst="rect">
            <a:avLst/>
          </a:prstGeom>
          <a:solidFill>
            <a:srgbClr val="141929"/>
          </a:solidFill>
          <a:ln w="6350">
            <a:solidFill>
              <a:srgbClr val="1F2A45"/>
            </a:solidFill>
            <a:prstDash val="solid"/>
          </a:ln>
          <a:effectLst>
            <a:outerShdw blurRad="101600" dist="25400" dir="8100000" algn="bl" rotWithShape="0">
              <a:srgbClr val="000000">
                <a:alpha val="25000"/>
              </a:srgbClr>
            </a:outerShdw>
          </a:effectLst>
        </p:spPr>
      </p:sp>
      <p:sp>
        <p:nvSpPr>
          <p:cNvPr id="19" name="Shape 17"/>
          <p:cNvSpPr/>
          <p:nvPr/>
        </p:nvSpPr>
        <p:spPr>
          <a:xfrm>
            <a:off x="365760" y="4087368"/>
            <a:ext cx="45720" cy="868680"/>
          </a:xfrm>
          <a:prstGeom prst="rect">
            <a:avLst/>
          </a:prstGeom>
          <a:solidFill>
            <a:srgbClr val="7B8BAD"/>
          </a:solidFill>
          <a:ln w="12700">
            <a:solidFill>
              <a:srgbClr val="7B8BAD"/>
            </a:solidFill>
            <a:prstDash val="solid"/>
          </a:ln>
        </p:spPr>
      </p:sp>
      <p:sp>
        <p:nvSpPr>
          <p:cNvPr id="20" name="Text 18"/>
          <p:cNvSpPr/>
          <p:nvPr/>
        </p:nvSpPr>
        <p:spPr>
          <a:xfrm>
            <a:off x="502920" y="4178808"/>
            <a:ext cx="4754880" cy="228600"/>
          </a:xfrm>
          <a:prstGeom prst="rect">
            <a:avLst/>
          </a:prstGeom>
          <a:noFill/>
          <a:ln/>
        </p:spPr>
        <p:txBody>
          <a:bodyPr wrap="square" rtlCol="0" anchor="ctr"/>
          <a:lstStyle/>
          <a:p>
            <a:pPr marL="0" indent="0">
              <a:buNone/>
            </a:pPr>
            <a:r>
              <a:rPr lang="en-US" sz="900" b="1" dirty="0">
                <a:solidFill>
                  <a:srgbClr val="7B8BAD"/>
                </a:solidFill>
              </a:rPr>
              <a:t>📊 補助データ（参考）</a:t>
            </a:r>
            <a:endParaRPr lang="en-US" sz="900" dirty="0"/>
          </a:p>
        </p:txBody>
      </p:sp>
      <p:sp>
        <p:nvSpPr>
          <p:cNvPr id="21" name="Text 19"/>
          <p:cNvSpPr/>
          <p:nvPr/>
        </p:nvSpPr>
        <p:spPr>
          <a:xfrm>
            <a:off x="502920" y="4434840"/>
            <a:ext cx="4754880" cy="411480"/>
          </a:xfrm>
          <a:prstGeom prst="rect">
            <a:avLst/>
          </a:prstGeom>
          <a:noFill/>
          <a:ln/>
        </p:spPr>
        <p:txBody>
          <a:bodyPr wrap="square" rtlCol="0" anchor="ctr"/>
          <a:lstStyle/>
          <a:p>
            <a:pPr marL="0" indent="0">
              <a:buNone/>
            </a:pPr>
            <a:r>
              <a:rPr lang="en-US" sz="900" dirty="0">
                <a:solidFill>
                  <a:srgbClr val="B0BBD0"/>
                </a:solidFill>
              </a:rPr>
              <a:t>アクティブエネルギー   ·   歩行速度 / 歩行心拍数平均   ·   マインドフルネス分数</a:t>
            </a:r>
            <a:endParaRPr lang="en-US" sz="900" dirty="0"/>
          </a:p>
        </p:txBody>
      </p:sp>
      <p:sp>
        <p:nvSpPr>
          <p:cNvPr id="22" name="Shape 20"/>
          <p:cNvSpPr/>
          <p:nvPr/>
        </p:nvSpPr>
        <p:spPr>
          <a:xfrm>
            <a:off x="5577840" y="1234440"/>
            <a:ext cx="3200400" cy="3611880"/>
          </a:xfrm>
          <a:prstGeom prst="rect">
            <a:avLst/>
          </a:prstGeom>
          <a:solidFill>
            <a:srgbClr val="1A2035"/>
          </a:solidFill>
          <a:ln w="6350">
            <a:solidFill>
              <a:srgbClr val="1F2A45"/>
            </a:solidFill>
            <a:prstDash val="solid"/>
          </a:ln>
          <a:effectLst>
            <a:outerShdw blurRad="101600" dist="25400" dir="8100000" algn="bl" rotWithShape="0">
              <a:srgbClr val="000000">
                <a:alpha val="25000"/>
              </a:srgbClr>
            </a:outerShdw>
          </a:effectLst>
        </p:spPr>
      </p:sp>
      <p:sp>
        <p:nvSpPr>
          <p:cNvPr id="23" name="Text 21"/>
          <p:cNvSpPr/>
          <p:nvPr/>
        </p:nvSpPr>
        <p:spPr>
          <a:xfrm>
            <a:off x="5715000" y="1353312"/>
            <a:ext cx="2926080" cy="256032"/>
          </a:xfrm>
          <a:prstGeom prst="rect">
            <a:avLst/>
          </a:prstGeom>
          <a:noFill/>
          <a:ln/>
        </p:spPr>
        <p:txBody>
          <a:bodyPr wrap="square" rtlCol="0" anchor="ctr"/>
          <a:lstStyle/>
          <a:p>
            <a:pPr marL="0" indent="0">
              <a:buNone/>
            </a:pPr>
            <a:r>
              <a:rPr lang="en-US" sz="1100" b="1" dirty="0">
                <a:solidFill>
                  <a:srgbClr val="00D4C8"/>
                </a:solidFill>
              </a:rPr>
              <a:t>📱  設定手順</a:t>
            </a:r>
            <a:endParaRPr lang="en-US" sz="1100" dirty="0"/>
          </a:p>
        </p:txBody>
      </p:sp>
      <p:sp>
        <p:nvSpPr>
          <p:cNvPr id="24" name="Shape 22"/>
          <p:cNvSpPr/>
          <p:nvPr/>
        </p:nvSpPr>
        <p:spPr>
          <a:xfrm>
            <a:off x="5705856" y="1645920"/>
            <a:ext cx="329184" cy="329184"/>
          </a:xfrm>
          <a:prstGeom prst="ellipse">
            <a:avLst/>
          </a:prstGeom>
          <a:solidFill>
            <a:srgbClr val="3D9BE9"/>
          </a:solidFill>
          <a:ln w="12700">
            <a:solidFill>
              <a:srgbClr val="3D9BE9"/>
            </a:solidFill>
            <a:prstDash val="solid"/>
          </a:ln>
        </p:spPr>
      </p:sp>
      <p:sp>
        <p:nvSpPr>
          <p:cNvPr id="25" name="Text 23"/>
          <p:cNvSpPr/>
          <p:nvPr/>
        </p:nvSpPr>
        <p:spPr>
          <a:xfrm>
            <a:off x="5705856" y="1645920"/>
            <a:ext cx="329184" cy="329184"/>
          </a:xfrm>
          <a:prstGeom prst="rect">
            <a:avLst/>
          </a:prstGeom>
          <a:noFill/>
          <a:ln/>
        </p:spPr>
        <p:txBody>
          <a:bodyPr wrap="square" lIns="0" tIns="0" rIns="0" bIns="0" rtlCol="0" anchor="ctr"/>
          <a:lstStyle/>
          <a:p>
            <a:pPr marL="0" indent="0" algn="ctr">
              <a:buNone/>
            </a:pPr>
            <a:r>
              <a:rPr lang="en-US" sz="1100" b="1" dirty="0">
                <a:solidFill>
                  <a:srgbClr val="FFFFFF"/>
                </a:solidFill>
              </a:rPr>
              <a:t>1</a:t>
            </a:r>
            <a:endParaRPr lang="en-US" sz="1100" dirty="0"/>
          </a:p>
        </p:txBody>
      </p:sp>
      <p:sp>
        <p:nvSpPr>
          <p:cNvPr id="26" name="Text 24"/>
          <p:cNvSpPr/>
          <p:nvPr/>
        </p:nvSpPr>
        <p:spPr>
          <a:xfrm>
            <a:off x="6080760" y="1709928"/>
            <a:ext cx="2578608" cy="365760"/>
          </a:xfrm>
          <a:prstGeom prst="rect">
            <a:avLst/>
          </a:prstGeom>
          <a:noFill/>
          <a:ln/>
        </p:spPr>
        <p:txBody>
          <a:bodyPr wrap="square" rtlCol="0" anchor="ctr"/>
          <a:lstStyle/>
          <a:p>
            <a:pPr marL="0" indent="0">
              <a:buNone/>
            </a:pPr>
            <a:r>
              <a:rPr lang="en-US" sz="900" dirty="0">
                <a:solidFill>
                  <a:srgbClr val="B0BBD0"/>
                </a:solidFill>
              </a:rPr>
              <a:t>Auto Health Export アプリを開く</a:t>
            </a:r>
            <a:endParaRPr lang="en-US" sz="900" dirty="0"/>
          </a:p>
        </p:txBody>
      </p:sp>
      <p:sp>
        <p:nvSpPr>
          <p:cNvPr id="27" name="Shape 25"/>
          <p:cNvSpPr/>
          <p:nvPr/>
        </p:nvSpPr>
        <p:spPr>
          <a:xfrm>
            <a:off x="5705856" y="2212848"/>
            <a:ext cx="329184" cy="329184"/>
          </a:xfrm>
          <a:prstGeom prst="ellipse">
            <a:avLst/>
          </a:prstGeom>
          <a:solidFill>
            <a:srgbClr val="3D9BE9"/>
          </a:solidFill>
          <a:ln w="12700">
            <a:solidFill>
              <a:srgbClr val="3D9BE9"/>
            </a:solidFill>
            <a:prstDash val="solid"/>
          </a:ln>
        </p:spPr>
      </p:sp>
      <p:sp>
        <p:nvSpPr>
          <p:cNvPr id="28" name="Text 26"/>
          <p:cNvSpPr/>
          <p:nvPr/>
        </p:nvSpPr>
        <p:spPr>
          <a:xfrm>
            <a:off x="5705856" y="2212848"/>
            <a:ext cx="329184" cy="329184"/>
          </a:xfrm>
          <a:prstGeom prst="rect">
            <a:avLst/>
          </a:prstGeom>
          <a:noFill/>
          <a:ln/>
        </p:spPr>
        <p:txBody>
          <a:bodyPr wrap="square" lIns="0" tIns="0" rIns="0" bIns="0" rtlCol="0" anchor="ctr"/>
          <a:lstStyle/>
          <a:p>
            <a:pPr marL="0" indent="0" algn="ctr">
              <a:buNone/>
            </a:pPr>
            <a:r>
              <a:rPr lang="en-US" sz="1100" b="1" dirty="0">
                <a:solidFill>
                  <a:srgbClr val="FFFFFF"/>
                </a:solidFill>
              </a:rPr>
              <a:t>2</a:t>
            </a:r>
            <a:endParaRPr lang="en-US" sz="1100" dirty="0"/>
          </a:p>
        </p:txBody>
      </p:sp>
      <p:sp>
        <p:nvSpPr>
          <p:cNvPr id="29" name="Text 27"/>
          <p:cNvSpPr/>
          <p:nvPr/>
        </p:nvSpPr>
        <p:spPr>
          <a:xfrm>
            <a:off x="6080760" y="2276856"/>
            <a:ext cx="2578608" cy="365760"/>
          </a:xfrm>
          <a:prstGeom prst="rect">
            <a:avLst/>
          </a:prstGeom>
          <a:noFill/>
          <a:ln/>
        </p:spPr>
        <p:txBody>
          <a:bodyPr wrap="square" rtlCol="0" anchor="ctr"/>
          <a:lstStyle/>
          <a:p>
            <a:pPr marL="0" indent="0">
              <a:buNone/>
            </a:pPr>
            <a:r>
              <a:rPr lang="en-US" sz="900" dirty="0">
                <a:solidFill>
                  <a:srgbClr val="B0BBD0"/>
                </a:solidFill>
              </a:rPr>
              <a:t>「健康メトリクスを選択」をタップ</a:t>
            </a:r>
            <a:endParaRPr lang="en-US" sz="900" dirty="0"/>
          </a:p>
        </p:txBody>
      </p:sp>
      <p:sp>
        <p:nvSpPr>
          <p:cNvPr id="30" name="Shape 28"/>
          <p:cNvSpPr/>
          <p:nvPr/>
        </p:nvSpPr>
        <p:spPr>
          <a:xfrm>
            <a:off x="5705856" y="2779776"/>
            <a:ext cx="329184" cy="329184"/>
          </a:xfrm>
          <a:prstGeom prst="ellipse">
            <a:avLst/>
          </a:prstGeom>
          <a:solidFill>
            <a:srgbClr val="3D9BE9"/>
          </a:solidFill>
          <a:ln w="12700">
            <a:solidFill>
              <a:srgbClr val="3D9BE9"/>
            </a:solidFill>
            <a:prstDash val="solid"/>
          </a:ln>
        </p:spPr>
      </p:sp>
      <p:sp>
        <p:nvSpPr>
          <p:cNvPr id="31" name="Text 29"/>
          <p:cNvSpPr/>
          <p:nvPr/>
        </p:nvSpPr>
        <p:spPr>
          <a:xfrm>
            <a:off x="5705856" y="2779776"/>
            <a:ext cx="329184" cy="329184"/>
          </a:xfrm>
          <a:prstGeom prst="rect">
            <a:avLst/>
          </a:prstGeom>
          <a:noFill/>
          <a:ln/>
        </p:spPr>
        <p:txBody>
          <a:bodyPr wrap="square" lIns="0" tIns="0" rIns="0" bIns="0" rtlCol="0" anchor="ctr"/>
          <a:lstStyle/>
          <a:p>
            <a:pPr marL="0" indent="0" algn="ctr">
              <a:buNone/>
            </a:pPr>
            <a:r>
              <a:rPr lang="en-US" sz="1100" b="1" dirty="0">
                <a:solidFill>
                  <a:srgbClr val="FFFFFF"/>
                </a:solidFill>
              </a:rPr>
              <a:t>3</a:t>
            </a:r>
            <a:endParaRPr lang="en-US" sz="1100" dirty="0"/>
          </a:p>
        </p:txBody>
      </p:sp>
      <p:sp>
        <p:nvSpPr>
          <p:cNvPr id="32" name="Text 30"/>
          <p:cNvSpPr/>
          <p:nvPr/>
        </p:nvSpPr>
        <p:spPr>
          <a:xfrm>
            <a:off x="6080760" y="2843784"/>
            <a:ext cx="2578608" cy="365760"/>
          </a:xfrm>
          <a:prstGeom prst="rect">
            <a:avLst/>
          </a:prstGeom>
          <a:noFill/>
          <a:ln/>
        </p:spPr>
        <p:txBody>
          <a:bodyPr wrap="square" rtlCol="0" anchor="ctr"/>
          <a:lstStyle/>
          <a:p>
            <a:pPr marL="0" indent="0">
              <a:buNone/>
            </a:pPr>
            <a:r>
              <a:rPr lang="en-US" sz="900" dirty="0">
                <a:solidFill>
                  <a:srgbClr val="B0BBD0"/>
                </a:solidFill>
              </a:rPr>
              <a:t>左記の指標を長押し → ⭐ お気に入り設定</a:t>
            </a:r>
            <a:endParaRPr lang="en-US" sz="900" dirty="0"/>
          </a:p>
        </p:txBody>
      </p:sp>
      <p:sp>
        <p:nvSpPr>
          <p:cNvPr id="33" name="Shape 31"/>
          <p:cNvSpPr/>
          <p:nvPr/>
        </p:nvSpPr>
        <p:spPr>
          <a:xfrm>
            <a:off x="5705856" y="3346704"/>
            <a:ext cx="329184" cy="329184"/>
          </a:xfrm>
          <a:prstGeom prst="ellipse">
            <a:avLst/>
          </a:prstGeom>
          <a:solidFill>
            <a:srgbClr val="3D9BE9"/>
          </a:solidFill>
          <a:ln w="12700">
            <a:solidFill>
              <a:srgbClr val="3D9BE9"/>
            </a:solidFill>
            <a:prstDash val="solid"/>
          </a:ln>
        </p:spPr>
      </p:sp>
      <p:sp>
        <p:nvSpPr>
          <p:cNvPr id="34" name="Text 32"/>
          <p:cNvSpPr/>
          <p:nvPr/>
        </p:nvSpPr>
        <p:spPr>
          <a:xfrm>
            <a:off x="5705856" y="3346704"/>
            <a:ext cx="329184" cy="329184"/>
          </a:xfrm>
          <a:prstGeom prst="rect">
            <a:avLst/>
          </a:prstGeom>
          <a:noFill/>
          <a:ln/>
        </p:spPr>
        <p:txBody>
          <a:bodyPr wrap="square" lIns="0" tIns="0" rIns="0" bIns="0" rtlCol="0" anchor="ctr"/>
          <a:lstStyle/>
          <a:p>
            <a:pPr marL="0" indent="0" algn="ctr">
              <a:buNone/>
            </a:pPr>
            <a:r>
              <a:rPr lang="en-US" sz="1100" b="1" dirty="0">
                <a:solidFill>
                  <a:srgbClr val="FFFFFF"/>
                </a:solidFill>
              </a:rPr>
              <a:t>4</a:t>
            </a:r>
            <a:endParaRPr lang="en-US" sz="1100" dirty="0"/>
          </a:p>
        </p:txBody>
      </p:sp>
      <p:sp>
        <p:nvSpPr>
          <p:cNvPr id="35" name="Text 33"/>
          <p:cNvSpPr/>
          <p:nvPr/>
        </p:nvSpPr>
        <p:spPr>
          <a:xfrm>
            <a:off x="6080760" y="3410712"/>
            <a:ext cx="2578608" cy="365760"/>
          </a:xfrm>
          <a:prstGeom prst="rect">
            <a:avLst/>
          </a:prstGeom>
          <a:noFill/>
          <a:ln/>
        </p:spPr>
        <p:txBody>
          <a:bodyPr wrap="square" rtlCol="0" anchor="ctr"/>
          <a:lstStyle/>
          <a:p>
            <a:pPr marL="0" indent="0">
              <a:buNone/>
            </a:pPr>
            <a:r>
              <a:rPr lang="en-US" sz="900" dirty="0">
                <a:solidFill>
                  <a:srgbClr val="B0BBD0"/>
                </a:solidFill>
              </a:rPr>
              <a:t>「完了」を押して保存</a:t>
            </a:r>
            <a:endParaRPr lang="en-US" sz="900" dirty="0"/>
          </a:p>
        </p:txBody>
      </p:sp>
      <p:sp>
        <p:nvSpPr>
          <p:cNvPr id="36" name="Shape 34"/>
          <p:cNvSpPr/>
          <p:nvPr/>
        </p:nvSpPr>
        <p:spPr>
          <a:xfrm>
            <a:off x="5705856" y="3913632"/>
            <a:ext cx="329184" cy="329184"/>
          </a:xfrm>
          <a:prstGeom prst="ellipse">
            <a:avLst/>
          </a:prstGeom>
          <a:solidFill>
            <a:srgbClr val="3D9BE9"/>
          </a:solidFill>
          <a:ln w="12700">
            <a:solidFill>
              <a:srgbClr val="3D9BE9"/>
            </a:solidFill>
            <a:prstDash val="solid"/>
          </a:ln>
        </p:spPr>
      </p:sp>
      <p:sp>
        <p:nvSpPr>
          <p:cNvPr id="37" name="Text 35"/>
          <p:cNvSpPr/>
          <p:nvPr/>
        </p:nvSpPr>
        <p:spPr>
          <a:xfrm>
            <a:off x="5705856" y="3913632"/>
            <a:ext cx="329184" cy="329184"/>
          </a:xfrm>
          <a:prstGeom prst="rect">
            <a:avLst/>
          </a:prstGeom>
          <a:noFill/>
          <a:ln/>
        </p:spPr>
        <p:txBody>
          <a:bodyPr wrap="square" lIns="0" tIns="0" rIns="0" bIns="0" rtlCol="0" anchor="ctr"/>
          <a:lstStyle/>
          <a:p>
            <a:pPr marL="0" indent="0" algn="ctr">
              <a:buNone/>
            </a:pPr>
            <a:r>
              <a:rPr lang="en-US" sz="1100" b="1" dirty="0">
                <a:solidFill>
                  <a:srgbClr val="FFFFFF"/>
                </a:solidFill>
              </a:rPr>
              <a:t>5</a:t>
            </a:r>
            <a:endParaRPr lang="en-US" sz="1100" dirty="0"/>
          </a:p>
        </p:txBody>
      </p:sp>
      <p:sp>
        <p:nvSpPr>
          <p:cNvPr id="38" name="Text 36"/>
          <p:cNvSpPr/>
          <p:nvPr/>
        </p:nvSpPr>
        <p:spPr>
          <a:xfrm>
            <a:off x="6080760" y="3977640"/>
            <a:ext cx="2578608" cy="365760"/>
          </a:xfrm>
          <a:prstGeom prst="rect">
            <a:avLst/>
          </a:prstGeom>
          <a:noFill/>
          <a:ln/>
        </p:spPr>
        <p:txBody>
          <a:bodyPr wrap="square" rtlCol="0" anchor="ctr"/>
          <a:lstStyle/>
          <a:p>
            <a:pPr marL="0" indent="0">
              <a:buNone/>
            </a:pPr>
            <a:r>
              <a:rPr lang="en-US" sz="900" dirty="0">
                <a:solidFill>
                  <a:srgbClr val="B0BBD0"/>
                </a:solidFill>
              </a:rPr>
              <a:t>GAS Webhook URLとの連携を確認</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0E1A"/>
        </a:solidFill>
        <a:effectLst/>
      </p:bgPr>
    </p:bg>
    <p:spTree>
      <p:nvGrpSpPr>
        <p:cNvPr id="1" name=""/>
        <p:cNvGrpSpPr/>
        <p:nvPr/>
      </p:nvGrpSpPr>
      <p:grpSpPr>
        <a:xfrm>
          <a:off x="0" y="0"/>
          <a:ext cx="0" cy="0"/>
          <a:chOff x="0" y="0"/>
          <a:chExt cx="0" cy="0"/>
        </a:xfrm>
      </p:grpSpPr>
      <p:sp>
        <p:nvSpPr>
          <p:cNvPr id="2" name="Text 0"/>
          <p:cNvSpPr/>
          <p:nvPr/>
        </p:nvSpPr>
        <p:spPr>
          <a:xfrm>
            <a:off x="365760" y="201168"/>
            <a:ext cx="8229600" cy="228600"/>
          </a:xfrm>
          <a:prstGeom prst="rect">
            <a:avLst/>
          </a:prstGeom>
          <a:noFill/>
          <a:ln/>
        </p:spPr>
        <p:txBody>
          <a:bodyPr wrap="square" rtlCol="0" anchor="ctr"/>
          <a:lstStyle/>
          <a:p>
            <a:pPr marL="0" indent="0">
              <a:buNone/>
            </a:pPr>
            <a:r>
              <a:rPr lang="en-US" sz="800" b="1" kern="0" spc="300" dirty="0">
                <a:solidFill>
                  <a:srgbClr val="00D4C8"/>
                </a:solidFill>
              </a:rPr>
              <a:t>EVENING PROTOCOL  —  就寝1〜2時間前</a:t>
            </a:r>
            <a:endParaRPr lang="en-US" sz="800" dirty="0"/>
          </a:p>
        </p:txBody>
      </p:sp>
      <p:sp>
        <p:nvSpPr>
          <p:cNvPr id="3" name="Text 1"/>
          <p:cNvSpPr/>
          <p:nvPr/>
        </p:nvSpPr>
        <p:spPr>
          <a:xfrm>
            <a:off x="365760" y="475488"/>
            <a:ext cx="8412480" cy="548640"/>
          </a:xfrm>
          <a:prstGeom prst="rect">
            <a:avLst/>
          </a:prstGeom>
          <a:noFill/>
          <a:ln/>
        </p:spPr>
        <p:txBody>
          <a:bodyPr wrap="square" rtlCol="0" anchor="ctr"/>
          <a:lstStyle/>
          <a:p>
            <a:pPr marL="0" indent="0">
              <a:buNone/>
            </a:pPr>
            <a:r>
              <a:rPr lang="en-US" sz="2800" b="1" dirty="0">
                <a:solidFill>
                  <a:srgbClr val="FFFFFF"/>
                </a:solidFill>
              </a:rPr>
              <a:t>🌙 夜のライフログ記録</a:t>
            </a:r>
            <a:endParaRPr lang="en-US" sz="2800" dirty="0"/>
          </a:p>
        </p:txBody>
      </p:sp>
      <p:sp>
        <p:nvSpPr>
          <p:cNvPr id="4" name="Text 2"/>
          <p:cNvSpPr/>
          <p:nvPr/>
        </p:nvSpPr>
        <p:spPr>
          <a:xfrm>
            <a:off x="365760" y="978408"/>
            <a:ext cx="8412480" cy="274320"/>
          </a:xfrm>
          <a:prstGeom prst="rect">
            <a:avLst/>
          </a:prstGeom>
          <a:noFill/>
          <a:ln/>
        </p:spPr>
        <p:txBody>
          <a:bodyPr wrap="square" rtlCol="0" anchor="ctr"/>
          <a:lstStyle/>
          <a:p>
            <a:pPr marL="0" indent="0">
              <a:buNone/>
            </a:pPr>
            <a:r>
              <a:rPr lang="en-US" sz="1200" dirty="0">
                <a:solidFill>
                  <a:srgbClr val="B0BBD0"/>
                </a:solidFill>
              </a:rPr>
              <a:t>所要時間：約1分。トレーニング実施日はプラス1〜2分</a:t>
            </a:r>
            <a:endParaRPr lang="en-US" sz="1200" dirty="0"/>
          </a:p>
        </p:txBody>
      </p:sp>
      <p:sp>
        <p:nvSpPr>
          <p:cNvPr id="5" name="Shape 3"/>
          <p:cNvSpPr/>
          <p:nvPr/>
        </p:nvSpPr>
        <p:spPr>
          <a:xfrm>
            <a:off x="365760" y="1371600"/>
            <a:ext cx="8412480" cy="22860"/>
          </a:xfrm>
          <a:prstGeom prst="rect">
            <a:avLst/>
          </a:prstGeom>
          <a:solidFill>
            <a:srgbClr val="1F2A45"/>
          </a:solidFill>
          <a:ln w="12700">
            <a:solidFill>
              <a:srgbClr val="1F2A45"/>
            </a:solidFill>
            <a:prstDash val="solid"/>
          </a:ln>
        </p:spPr>
      </p:sp>
      <p:sp>
        <p:nvSpPr>
          <p:cNvPr id="6" name="Shape 4"/>
          <p:cNvSpPr/>
          <p:nvPr/>
        </p:nvSpPr>
        <p:spPr>
          <a:xfrm>
            <a:off x="365760" y="1188720"/>
            <a:ext cx="1005840" cy="228600"/>
          </a:xfrm>
          <a:prstGeom prst="roundRect">
            <a:avLst>
              <a:gd name="adj" fmla="val 20000"/>
            </a:avLst>
          </a:prstGeom>
          <a:solidFill>
            <a:srgbClr val="9B59F5"/>
          </a:solidFill>
          <a:ln w="12700">
            <a:solidFill>
              <a:srgbClr val="9B59F5"/>
            </a:solidFill>
            <a:prstDash val="solid"/>
          </a:ln>
        </p:spPr>
      </p:sp>
      <p:sp>
        <p:nvSpPr>
          <p:cNvPr id="7" name="Text 5"/>
          <p:cNvSpPr/>
          <p:nvPr/>
        </p:nvSpPr>
        <p:spPr>
          <a:xfrm>
            <a:off x="365760" y="1188720"/>
            <a:ext cx="1005840" cy="228600"/>
          </a:xfrm>
          <a:prstGeom prst="rect">
            <a:avLst/>
          </a:prstGeom>
          <a:noFill/>
          <a:ln/>
        </p:spPr>
        <p:txBody>
          <a:bodyPr wrap="square" lIns="0" tIns="0" rIns="0" bIns="0" rtlCol="0" anchor="ctr"/>
          <a:lstStyle/>
          <a:p>
            <a:pPr marL="0" indent="0" algn="ctr">
              <a:buNone/>
            </a:pPr>
            <a:r>
              <a:rPr lang="en-US" sz="900" b="1" dirty="0">
                <a:solidFill>
                  <a:srgbClr val="FFFFFF"/>
                </a:solidFill>
              </a:rPr>
              <a:t>02_夜フォーム</a:t>
            </a:r>
            <a:endParaRPr lang="en-US" sz="900" dirty="0"/>
          </a:p>
        </p:txBody>
      </p:sp>
      <p:sp>
        <p:nvSpPr>
          <p:cNvPr id="8" name="Shape 6"/>
          <p:cNvSpPr/>
          <p:nvPr/>
        </p:nvSpPr>
        <p:spPr>
          <a:xfrm>
            <a:off x="365760" y="1554480"/>
            <a:ext cx="4160520" cy="1325880"/>
          </a:xfrm>
          <a:prstGeom prst="rect">
            <a:avLst/>
          </a:prstGeom>
          <a:solidFill>
            <a:srgbClr val="141929"/>
          </a:solidFill>
          <a:ln w="6350">
            <a:solidFill>
              <a:srgbClr val="1F2A45"/>
            </a:solidFill>
            <a:prstDash val="solid"/>
          </a:ln>
          <a:effectLst>
            <a:outerShdw blurRad="101600" dist="25400" dir="8100000" algn="bl" rotWithShape="0">
              <a:srgbClr val="000000">
                <a:alpha val="25000"/>
              </a:srgbClr>
            </a:outerShdw>
          </a:effectLst>
        </p:spPr>
      </p:sp>
      <p:sp>
        <p:nvSpPr>
          <p:cNvPr id="9" name="Shape 7"/>
          <p:cNvSpPr/>
          <p:nvPr/>
        </p:nvSpPr>
        <p:spPr>
          <a:xfrm>
            <a:off x="365760" y="1554480"/>
            <a:ext cx="45720" cy="1325880"/>
          </a:xfrm>
          <a:prstGeom prst="rect">
            <a:avLst/>
          </a:prstGeom>
          <a:solidFill>
            <a:srgbClr val="00D4C8"/>
          </a:solidFill>
          <a:ln w="12700">
            <a:solidFill>
              <a:srgbClr val="00D4C8"/>
            </a:solidFill>
            <a:prstDash val="solid"/>
          </a:ln>
        </p:spPr>
      </p:sp>
      <p:sp>
        <p:nvSpPr>
          <p:cNvPr id="10" name="Text 8"/>
          <p:cNvSpPr/>
          <p:nvPr/>
        </p:nvSpPr>
        <p:spPr>
          <a:xfrm>
            <a:off x="502920" y="1627632"/>
            <a:ext cx="3840480" cy="256032"/>
          </a:xfrm>
          <a:prstGeom prst="rect">
            <a:avLst/>
          </a:prstGeom>
          <a:noFill/>
          <a:ln/>
        </p:spPr>
        <p:txBody>
          <a:bodyPr wrap="square" rtlCol="0" anchor="ctr"/>
          <a:lstStyle/>
          <a:p>
            <a:pPr marL="0" indent="0">
              <a:buNone/>
            </a:pPr>
            <a:r>
              <a:rPr lang="en-US" sz="1000" b="1" dirty="0">
                <a:solidFill>
                  <a:srgbClr val="00D4C8"/>
                </a:solidFill>
              </a:rPr>
              <a:t>💧 摂取物ログ</a:t>
            </a:r>
            <a:endParaRPr lang="en-US" sz="1000" dirty="0"/>
          </a:p>
        </p:txBody>
      </p:sp>
      <p:sp>
        <p:nvSpPr>
          <p:cNvPr id="11" name="Text 9"/>
          <p:cNvSpPr/>
          <p:nvPr/>
        </p:nvSpPr>
        <p:spPr>
          <a:xfrm>
            <a:off x="502920" y="1920240"/>
            <a:ext cx="3840480" cy="256032"/>
          </a:xfrm>
          <a:prstGeom prst="rect">
            <a:avLst/>
          </a:prstGeom>
          <a:noFill/>
          <a:ln/>
        </p:spPr>
        <p:txBody>
          <a:bodyPr wrap="square" rtlCol="0" anchor="ctr"/>
          <a:lstStyle/>
          <a:p>
            <a:pPr marL="0" indent="0">
              <a:buNone/>
            </a:pPr>
            <a:r>
              <a:rPr lang="en-US" sz="900" dirty="0">
                <a:solidFill>
                  <a:srgbClr val="B0BBD0"/>
                </a:solidFill>
              </a:rPr>
              <a:t>→  今日の水分摂取量（mL）</a:t>
            </a:r>
            <a:endParaRPr lang="en-US" sz="900" dirty="0"/>
          </a:p>
        </p:txBody>
      </p:sp>
      <p:sp>
        <p:nvSpPr>
          <p:cNvPr id="12" name="Text 10"/>
          <p:cNvSpPr/>
          <p:nvPr/>
        </p:nvSpPr>
        <p:spPr>
          <a:xfrm>
            <a:off x="502920" y="2212848"/>
            <a:ext cx="3840480" cy="256032"/>
          </a:xfrm>
          <a:prstGeom prst="rect">
            <a:avLst/>
          </a:prstGeom>
          <a:noFill/>
          <a:ln/>
        </p:spPr>
        <p:txBody>
          <a:bodyPr wrap="square" rtlCol="0" anchor="ctr"/>
          <a:lstStyle/>
          <a:p>
            <a:pPr marL="0" indent="0">
              <a:buNone/>
            </a:pPr>
            <a:r>
              <a:rPr lang="en-US" sz="900" dirty="0">
                <a:solidFill>
                  <a:srgbClr val="B0BBD0"/>
                </a:solidFill>
              </a:rPr>
              <a:t>→  コーヒー杯数（16時以降は ⭐ マーク）</a:t>
            </a:r>
            <a:endParaRPr lang="en-US" sz="900" dirty="0"/>
          </a:p>
        </p:txBody>
      </p:sp>
      <p:sp>
        <p:nvSpPr>
          <p:cNvPr id="13" name="Text 11"/>
          <p:cNvSpPr/>
          <p:nvPr/>
        </p:nvSpPr>
        <p:spPr>
          <a:xfrm>
            <a:off x="502920" y="2505456"/>
            <a:ext cx="3840480" cy="256032"/>
          </a:xfrm>
          <a:prstGeom prst="rect">
            <a:avLst/>
          </a:prstGeom>
          <a:noFill/>
          <a:ln/>
        </p:spPr>
        <p:txBody>
          <a:bodyPr wrap="square" rtlCol="0" anchor="ctr"/>
          <a:lstStyle/>
          <a:p>
            <a:pPr marL="0" indent="0">
              <a:buNone/>
            </a:pPr>
            <a:r>
              <a:rPr lang="en-US" sz="900" dirty="0">
                <a:solidFill>
                  <a:srgbClr val="B0BBD0"/>
                </a:solidFill>
              </a:rPr>
              <a:t>→  アルコール摂取量（杯）</a:t>
            </a:r>
            <a:endParaRPr lang="en-US" sz="900" dirty="0"/>
          </a:p>
        </p:txBody>
      </p:sp>
      <p:sp>
        <p:nvSpPr>
          <p:cNvPr id="14" name="Shape 12"/>
          <p:cNvSpPr/>
          <p:nvPr/>
        </p:nvSpPr>
        <p:spPr>
          <a:xfrm>
            <a:off x="365760" y="2971800"/>
            <a:ext cx="4160520" cy="822960"/>
          </a:xfrm>
          <a:prstGeom prst="rect">
            <a:avLst/>
          </a:prstGeom>
          <a:solidFill>
            <a:srgbClr val="141929"/>
          </a:solidFill>
          <a:ln w="6350">
            <a:solidFill>
              <a:srgbClr val="1F2A45"/>
            </a:solidFill>
            <a:prstDash val="solid"/>
          </a:ln>
          <a:effectLst>
            <a:outerShdw blurRad="101600" dist="25400" dir="8100000" algn="bl" rotWithShape="0">
              <a:srgbClr val="000000">
                <a:alpha val="25000"/>
              </a:srgbClr>
            </a:outerShdw>
          </a:effectLst>
        </p:spPr>
      </p:sp>
      <p:sp>
        <p:nvSpPr>
          <p:cNvPr id="15" name="Shape 13"/>
          <p:cNvSpPr/>
          <p:nvPr/>
        </p:nvSpPr>
        <p:spPr>
          <a:xfrm>
            <a:off x="365760" y="2971800"/>
            <a:ext cx="45720" cy="822960"/>
          </a:xfrm>
          <a:prstGeom prst="rect">
            <a:avLst/>
          </a:prstGeom>
          <a:solidFill>
            <a:srgbClr val="9B59F5"/>
          </a:solidFill>
          <a:ln w="12700">
            <a:solidFill>
              <a:srgbClr val="9B59F5"/>
            </a:solidFill>
            <a:prstDash val="solid"/>
          </a:ln>
        </p:spPr>
      </p:sp>
      <p:sp>
        <p:nvSpPr>
          <p:cNvPr id="16" name="Text 14"/>
          <p:cNvSpPr/>
          <p:nvPr/>
        </p:nvSpPr>
        <p:spPr>
          <a:xfrm>
            <a:off x="502920" y="3044952"/>
            <a:ext cx="3840480" cy="256032"/>
          </a:xfrm>
          <a:prstGeom prst="rect">
            <a:avLst/>
          </a:prstGeom>
          <a:noFill/>
          <a:ln/>
        </p:spPr>
        <p:txBody>
          <a:bodyPr wrap="square" rtlCol="0" anchor="ctr"/>
          <a:lstStyle/>
          <a:p>
            <a:pPr marL="0" indent="0">
              <a:buNone/>
            </a:pPr>
            <a:r>
              <a:rPr lang="en-US" sz="1000" b="1" dirty="0">
                <a:solidFill>
                  <a:srgbClr val="9B59F5"/>
                </a:solidFill>
              </a:rPr>
              <a:t>📵 環境ログ</a:t>
            </a:r>
            <a:endParaRPr lang="en-US" sz="1000" dirty="0"/>
          </a:p>
        </p:txBody>
      </p:sp>
      <p:sp>
        <p:nvSpPr>
          <p:cNvPr id="17" name="Text 15"/>
          <p:cNvSpPr/>
          <p:nvPr/>
        </p:nvSpPr>
        <p:spPr>
          <a:xfrm>
            <a:off x="502920" y="3310128"/>
            <a:ext cx="3840480" cy="365760"/>
          </a:xfrm>
          <a:prstGeom prst="rect">
            <a:avLst/>
          </a:prstGeom>
          <a:noFill/>
          <a:ln/>
        </p:spPr>
        <p:txBody>
          <a:bodyPr wrap="square" rtlCol="0" anchor="ctr"/>
          <a:lstStyle/>
          <a:p>
            <a:pPr marL="0" indent="0">
              <a:buNone/>
            </a:pPr>
            <a:r>
              <a:rPr lang="en-US" sz="900" dirty="0">
                <a:solidFill>
                  <a:srgbClr val="B0BBD0"/>
                </a:solidFill>
              </a:rPr>
              <a:t>→  就寝前30分のスマートフォン・PCデバイス使用の有無（はい / いいえ）</a:t>
            </a:r>
            <a:endParaRPr lang="en-US" sz="900" dirty="0"/>
          </a:p>
        </p:txBody>
      </p:sp>
      <p:sp>
        <p:nvSpPr>
          <p:cNvPr id="18" name="Shape 16"/>
          <p:cNvSpPr/>
          <p:nvPr/>
        </p:nvSpPr>
        <p:spPr>
          <a:xfrm>
            <a:off x="365760" y="3886200"/>
            <a:ext cx="4160520" cy="960120"/>
          </a:xfrm>
          <a:prstGeom prst="rect">
            <a:avLst/>
          </a:prstGeom>
          <a:solidFill>
            <a:srgbClr val="141929"/>
          </a:solidFill>
          <a:ln w="6350">
            <a:solidFill>
              <a:srgbClr val="1F2A45"/>
            </a:solidFill>
            <a:prstDash val="solid"/>
          </a:ln>
          <a:effectLst>
            <a:outerShdw blurRad="101600" dist="25400" dir="8100000" algn="bl" rotWithShape="0">
              <a:srgbClr val="000000">
                <a:alpha val="25000"/>
              </a:srgbClr>
            </a:outerShdw>
          </a:effectLst>
        </p:spPr>
      </p:sp>
      <p:sp>
        <p:nvSpPr>
          <p:cNvPr id="19" name="Shape 17"/>
          <p:cNvSpPr/>
          <p:nvPr/>
        </p:nvSpPr>
        <p:spPr>
          <a:xfrm>
            <a:off x="365760" y="3886200"/>
            <a:ext cx="45720" cy="960120"/>
          </a:xfrm>
          <a:prstGeom prst="rect">
            <a:avLst/>
          </a:prstGeom>
          <a:solidFill>
            <a:srgbClr val="7B8BAD"/>
          </a:solidFill>
          <a:ln w="12700">
            <a:solidFill>
              <a:srgbClr val="7B8BAD"/>
            </a:solidFill>
            <a:prstDash val="solid"/>
          </a:ln>
        </p:spPr>
      </p:sp>
      <p:sp>
        <p:nvSpPr>
          <p:cNvPr id="20" name="Text 18"/>
          <p:cNvSpPr/>
          <p:nvPr/>
        </p:nvSpPr>
        <p:spPr>
          <a:xfrm>
            <a:off x="502920" y="3959352"/>
            <a:ext cx="3840480" cy="256032"/>
          </a:xfrm>
          <a:prstGeom prst="rect">
            <a:avLst/>
          </a:prstGeom>
          <a:noFill/>
          <a:ln/>
        </p:spPr>
        <p:txBody>
          <a:bodyPr wrap="square" rtlCol="0" anchor="ctr"/>
          <a:lstStyle/>
          <a:p>
            <a:pPr marL="0" indent="0">
              <a:buNone/>
            </a:pPr>
            <a:r>
              <a:rPr lang="en-US" sz="1000" b="1" dirty="0">
                <a:solidFill>
                  <a:srgbClr val="B0BBD0"/>
                </a:solidFill>
              </a:rPr>
              <a:t>📝 その他</a:t>
            </a:r>
            <a:endParaRPr lang="en-US" sz="1000" dirty="0"/>
          </a:p>
        </p:txBody>
      </p:sp>
      <p:sp>
        <p:nvSpPr>
          <p:cNvPr id="21" name="Text 19"/>
          <p:cNvSpPr/>
          <p:nvPr/>
        </p:nvSpPr>
        <p:spPr>
          <a:xfrm>
            <a:off x="502920" y="4251960"/>
            <a:ext cx="3840480" cy="237744"/>
          </a:xfrm>
          <a:prstGeom prst="rect">
            <a:avLst/>
          </a:prstGeom>
          <a:noFill/>
          <a:ln/>
        </p:spPr>
        <p:txBody>
          <a:bodyPr wrap="square" rtlCol="0" anchor="ctr"/>
          <a:lstStyle/>
          <a:p>
            <a:pPr marL="0" indent="0">
              <a:buNone/>
            </a:pPr>
            <a:r>
              <a:rPr lang="en-US" sz="900" dirty="0">
                <a:solidFill>
                  <a:srgbClr val="7B8BAD"/>
                </a:solidFill>
              </a:rPr>
              <a:t>→  勉強 / Deep Work 時間（h）</a:t>
            </a:r>
            <a:endParaRPr lang="en-US" sz="900" dirty="0"/>
          </a:p>
        </p:txBody>
      </p:sp>
      <p:sp>
        <p:nvSpPr>
          <p:cNvPr id="22" name="Text 20"/>
          <p:cNvSpPr/>
          <p:nvPr/>
        </p:nvSpPr>
        <p:spPr>
          <a:xfrm>
            <a:off x="502920" y="4526280"/>
            <a:ext cx="3840480" cy="237744"/>
          </a:xfrm>
          <a:prstGeom prst="rect">
            <a:avLst/>
          </a:prstGeom>
          <a:noFill/>
          <a:ln/>
        </p:spPr>
        <p:txBody>
          <a:bodyPr wrap="square" rtlCol="0" anchor="ctr"/>
          <a:lstStyle/>
          <a:p>
            <a:pPr marL="0" indent="0">
              <a:buNone/>
            </a:pPr>
            <a:r>
              <a:rPr lang="en-US" sz="900" dirty="0">
                <a:solidFill>
                  <a:srgbClr val="7B8BAD"/>
                </a:solidFill>
              </a:rPr>
              <a:t>→  その他追記事項（ルーティン外の出来事など）</a:t>
            </a:r>
            <a:endParaRPr lang="en-US" sz="900" dirty="0"/>
          </a:p>
        </p:txBody>
      </p:sp>
      <p:sp>
        <p:nvSpPr>
          <p:cNvPr id="23" name="Shape 21"/>
          <p:cNvSpPr/>
          <p:nvPr/>
        </p:nvSpPr>
        <p:spPr>
          <a:xfrm>
            <a:off x="4663440" y="1554480"/>
            <a:ext cx="4114800" cy="3291840"/>
          </a:xfrm>
          <a:prstGeom prst="rect">
            <a:avLst/>
          </a:prstGeom>
          <a:solidFill>
            <a:srgbClr val="1A2035"/>
          </a:solidFill>
          <a:ln w="6350">
            <a:solidFill>
              <a:srgbClr val="1F2A45"/>
            </a:solidFill>
            <a:prstDash val="solid"/>
          </a:ln>
          <a:effectLst>
            <a:outerShdw blurRad="101600" dist="25400" dir="8100000" algn="bl" rotWithShape="0">
              <a:srgbClr val="000000">
                <a:alpha val="25000"/>
              </a:srgbClr>
            </a:outerShdw>
          </a:effectLst>
        </p:spPr>
      </p:sp>
      <p:sp>
        <p:nvSpPr>
          <p:cNvPr id="24" name="Shape 22"/>
          <p:cNvSpPr/>
          <p:nvPr/>
        </p:nvSpPr>
        <p:spPr>
          <a:xfrm>
            <a:off x="4663440" y="1554480"/>
            <a:ext cx="45720" cy="3291840"/>
          </a:xfrm>
          <a:prstGeom prst="rect">
            <a:avLst/>
          </a:prstGeom>
          <a:solidFill>
            <a:srgbClr val="F57C2E"/>
          </a:solidFill>
          <a:ln w="12700">
            <a:solidFill>
              <a:srgbClr val="F57C2E"/>
            </a:solidFill>
            <a:prstDash val="solid"/>
          </a:ln>
        </p:spPr>
      </p:sp>
      <p:sp>
        <p:nvSpPr>
          <p:cNvPr id="25" name="Text 23"/>
          <p:cNvSpPr/>
          <p:nvPr/>
        </p:nvSpPr>
        <p:spPr>
          <a:xfrm>
            <a:off x="4800600" y="1627632"/>
            <a:ext cx="3840480" cy="274320"/>
          </a:xfrm>
          <a:prstGeom prst="rect">
            <a:avLst/>
          </a:prstGeom>
          <a:noFill/>
          <a:ln/>
        </p:spPr>
        <p:txBody>
          <a:bodyPr wrap="square" rtlCol="0" anchor="ctr"/>
          <a:lstStyle/>
          <a:p>
            <a:pPr marL="0" indent="0">
              <a:buNone/>
            </a:pPr>
            <a:r>
              <a:rPr lang="en-US" sz="1000" b="1" dirty="0">
                <a:solidFill>
                  <a:srgbClr val="F57C2E"/>
                </a:solidFill>
              </a:rPr>
              <a:t>🏃 トレーニング実施日のみ</a:t>
            </a:r>
            <a:endParaRPr lang="en-US" sz="1000" dirty="0"/>
          </a:p>
        </p:txBody>
      </p:sp>
      <p:sp>
        <p:nvSpPr>
          <p:cNvPr id="26" name="Shape 24"/>
          <p:cNvSpPr/>
          <p:nvPr/>
        </p:nvSpPr>
        <p:spPr>
          <a:xfrm>
            <a:off x="4800600" y="1965960"/>
            <a:ext cx="3840480" cy="1188720"/>
          </a:xfrm>
          <a:prstGeom prst="rect">
            <a:avLst/>
          </a:prstGeom>
          <a:solidFill>
            <a:srgbClr val="101520"/>
          </a:solidFill>
          <a:ln w="6350">
            <a:solidFill>
              <a:srgbClr val="1F2A45"/>
            </a:solidFill>
            <a:prstDash val="solid"/>
          </a:ln>
          <a:effectLst>
            <a:outerShdw blurRad="101600" dist="25400" dir="8100000" algn="bl" rotWithShape="0">
              <a:srgbClr val="000000">
                <a:alpha val="25000"/>
              </a:srgbClr>
            </a:outerShdw>
          </a:effectLst>
        </p:spPr>
      </p:sp>
      <p:sp>
        <p:nvSpPr>
          <p:cNvPr id="27" name="Shape 25"/>
          <p:cNvSpPr/>
          <p:nvPr/>
        </p:nvSpPr>
        <p:spPr>
          <a:xfrm>
            <a:off x="4800600" y="1965960"/>
            <a:ext cx="45720" cy="1188720"/>
          </a:xfrm>
          <a:prstGeom prst="rect">
            <a:avLst/>
          </a:prstGeom>
          <a:solidFill>
            <a:srgbClr val="F57C2E"/>
          </a:solidFill>
          <a:ln w="12700">
            <a:solidFill>
              <a:srgbClr val="F57C2E"/>
            </a:solidFill>
            <a:prstDash val="solid"/>
          </a:ln>
        </p:spPr>
      </p:sp>
      <p:sp>
        <p:nvSpPr>
          <p:cNvPr id="28" name="Text 26"/>
          <p:cNvSpPr/>
          <p:nvPr/>
        </p:nvSpPr>
        <p:spPr>
          <a:xfrm>
            <a:off x="4919472" y="2029968"/>
            <a:ext cx="3566160" cy="256032"/>
          </a:xfrm>
          <a:prstGeom prst="rect">
            <a:avLst/>
          </a:prstGeom>
          <a:noFill/>
          <a:ln/>
        </p:spPr>
        <p:txBody>
          <a:bodyPr wrap="square" rtlCol="0" anchor="ctr"/>
          <a:lstStyle/>
          <a:p>
            <a:pPr marL="0" indent="0">
              <a:buNone/>
            </a:pPr>
            <a:r>
              <a:rPr lang="en-US" sz="950" b="1" dirty="0">
                <a:solidFill>
                  <a:srgbClr val="F57C2E"/>
                </a:solidFill>
              </a:rPr>
              <a:t>💨 週2回  /  10分間ランニング</a:t>
            </a:r>
            <a:endParaRPr lang="en-US" sz="950" dirty="0"/>
          </a:p>
        </p:txBody>
      </p:sp>
      <p:sp>
        <p:nvSpPr>
          <p:cNvPr id="29" name="Text 27"/>
          <p:cNvSpPr/>
          <p:nvPr/>
        </p:nvSpPr>
        <p:spPr>
          <a:xfrm>
            <a:off x="4919472" y="2331720"/>
            <a:ext cx="3566160" cy="228600"/>
          </a:xfrm>
          <a:prstGeom prst="rect">
            <a:avLst/>
          </a:prstGeom>
          <a:noFill/>
          <a:ln/>
        </p:spPr>
        <p:txBody>
          <a:bodyPr wrap="square" rtlCol="0" anchor="ctr"/>
          <a:lstStyle/>
          <a:p>
            <a:pPr marL="0" indent="0">
              <a:buNone/>
            </a:pPr>
            <a:r>
              <a:rPr lang="en-US" sz="900" dirty="0">
                <a:solidFill>
                  <a:srgbClr val="B0BBD0"/>
                </a:solidFill>
              </a:rPr>
              <a:t>→  記録①  平均ランニングパワー（W）</a:t>
            </a:r>
            <a:endParaRPr lang="en-US" sz="900" dirty="0"/>
          </a:p>
        </p:txBody>
      </p:sp>
      <p:sp>
        <p:nvSpPr>
          <p:cNvPr id="30" name="Text 28"/>
          <p:cNvSpPr/>
          <p:nvPr/>
        </p:nvSpPr>
        <p:spPr>
          <a:xfrm>
            <a:off x="4919472" y="2587752"/>
            <a:ext cx="3566160" cy="228600"/>
          </a:xfrm>
          <a:prstGeom prst="rect">
            <a:avLst/>
          </a:prstGeom>
          <a:noFill/>
          <a:ln/>
        </p:spPr>
        <p:txBody>
          <a:bodyPr wrap="square" rtlCol="0" anchor="ctr"/>
          <a:lstStyle/>
          <a:p>
            <a:pPr marL="0" indent="0">
              <a:buNone/>
            </a:pPr>
            <a:r>
              <a:rPr lang="en-US" sz="900" dirty="0">
                <a:solidFill>
                  <a:srgbClr val="B0BBD0"/>
                </a:solidFill>
              </a:rPr>
              <a:t>→  記録②  走行距離（km）</a:t>
            </a:r>
            <a:endParaRPr lang="en-US" sz="900" dirty="0"/>
          </a:p>
        </p:txBody>
      </p:sp>
      <p:sp>
        <p:nvSpPr>
          <p:cNvPr id="31" name="Text 29"/>
          <p:cNvSpPr/>
          <p:nvPr/>
        </p:nvSpPr>
        <p:spPr>
          <a:xfrm>
            <a:off x="4919472" y="2852928"/>
            <a:ext cx="3566160" cy="237744"/>
          </a:xfrm>
          <a:prstGeom prst="rect">
            <a:avLst/>
          </a:prstGeom>
          <a:noFill/>
          <a:ln/>
        </p:spPr>
        <p:txBody>
          <a:bodyPr wrap="square" rtlCol="0" anchor="ctr"/>
          <a:lstStyle/>
          <a:p>
            <a:pPr marL="0" indent="0">
              <a:buNone/>
            </a:pPr>
            <a:r>
              <a:rPr lang="en-US" sz="800" dirty="0">
                <a:solidFill>
                  <a:srgbClr val="7B8BAD"/>
                </a:solidFill>
              </a:rPr>
              <a:t>Apple Watch の「ランニングパワー」「ランニングのスピード」と照合</a:t>
            </a:r>
            <a:endParaRPr lang="en-US" sz="800" dirty="0"/>
          </a:p>
        </p:txBody>
      </p:sp>
      <p:sp>
        <p:nvSpPr>
          <p:cNvPr id="32" name="Shape 30"/>
          <p:cNvSpPr/>
          <p:nvPr/>
        </p:nvSpPr>
        <p:spPr>
          <a:xfrm>
            <a:off x="4800600" y="3273552"/>
            <a:ext cx="3840480" cy="1005840"/>
          </a:xfrm>
          <a:prstGeom prst="rect">
            <a:avLst/>
          </a:prstGeom>
          <a:solidFill>
            <a:srgbClr val="101520"/>
          </a:solidFill>
          <a:ln w="6350">
            <a:solidFill>
              <a:srgbClr val="1F2A45"/>
            </a:solidFill>
            <a:prstDash val="solid"/>
          </a:ln>
          <a:effectLst>
            <a:outerShdw blurRad="101600" dist="25400" dir="8100000" algn="bl" rotWithShape="0">
              <a:srgbClr val="000000">
                <a:alpha val="25000"/>
              </a:srgbClr>
            </a:outerShdw>
          </a:effectLst>
        </p:spPr>
      </p:sp>
      <p:sp>
        <p:nvSpPr>
          <p:cNvPr id="33" name="Shape 31"/>
          <p:cNvSpPr/>
          <p:nvPr/>
        </p:nvSpPr>
        <p:spPr>
          <a:xfrm>
            <a:off x="4800600" y="3273552"/>
            <a:ext cx="45720" cy="1005840"/>
          </a:xfrm>
          <a:prstGeom prst="rect">
            <a:avLst/>
          </a:prstGeom>
          <a:solidFill>
            <a:srgbClr val="3D9BE9"/>
          </a:solidFill>
          <a:ln w="12700">
            <a:solidFill>
              <a:srgbClr val="3D9BE9"/>
            </a:solidFill>
            <a:prstDash val="solid"/>
          </a:ln>
        </p:spPr>
      </p:sp>
      <p:sp>
        <p:nvSpPr>
          <p:cNvPr id="34" name="Text 32"/>
          <p:cNvSpPr/>
          <p:nvPr/>
        </p:nvSpPr>
        <p:spPr>
          <a:xfrm>
            <a:off x="4919472" y="3337560"/>
            <a:ext cx="3566160" cy="256032"/>
          </a:xfrm>
          <a:prstGeom prst="rect">
            <a:avLst/>
          </a:prstGeom>
          <a:noFill/>
          <a:ln/>
        </p:spPr>
        <p:txBody>
          <a:bodyPr wrap="square" rtlCol="0" anchor="ctr"/>
          <a:lstStyle/>
          <a:p>
            <a:pPr marL="0" indent="0">
              <a:buNone/>
            </a:pPr>
            <a:r>
              <a:rPr lang="en-US" sz="950" b="1" dirty="0">
                <a:solidFill>
                  <a:srgbClr val="3D9BE9"/>
                </a:solidFill>
              </a:rPr>
              <a:t>💪 週1回  /  プッシュアップ</a:t>
            </a:r>
            <a:endParaRPr lang="en-US" sz="950" dirty="0"/>
          </a:p>
        </p:txBody>
      </p:sp>
      <p:sp>
        <p:nvSpPr>
          <p:cNvPr id="35" name="Text 33"/>
          <p:cNvSpPr/>
          <p:nvPr/>
        </p:nvSpPr>
        <p:spPr>
          <a:xfrm>
            <a:off x="4919472" y="3630168"/>
            <a:ext cx="3566160" cy="228600"/>
          </a:xfrm>
          <a:prstGeom prst="rect">
            <a:avLst/>
          </a:prstGeom>
          <a:noFill/>
          <a:ln/>
        </p:spPr>
        <p:txBody>
          <a:bodyPr wrap="square" rtlCol="0" anchor="ctr"/>
          <a:lstStyle/>
          <a:p>
            <a:pPr marL="0" indent="0">
              <a:buNone/>
            </a:pPr>
            <a:r>
              <a:rPr lang="en-US" sz="900" dirty="0">
                <a:solidFill>
                  <a:srgbClr val="B0BBD0"/>
                </a:solidFill>
              </a:rPr>
              <a:t>→  最大回数（回）</a:t>
            </a:r>
            <a:endParaRPr lang="en-US" sz="900" dirty="0"/>
          </a:p>
        </p:txBody>
      </p:sp>
      <p:sp>
        <p:nvSpPr>
          <p:cNvPr id="36" name="Text 34"/>
          <p:cNvSpPr/>
          <p:nvPr/>
        </p:nvSpPr>
        <p:spPr>
          <a:xfrm>
            <a:off x="4919472" y="3886200"/>
            <a:ext cx="3566160" cy="256032"/>
          </a:xfrm>
          <a:prstGeom prst="rect">
            <a:avLst/>
          </a:prstGeom>
          <a:noFill/>
          <a:ln/>
        </p:spPr>
        <p:txBody>
          <a:bodyPr wrap="square" rtlCol="0" anchor="ctr"/>
          <a:lstStyle/>
          <a:p>
            <a:pPr marL="0" indent="0">
              <a:buNone/>
            </a:pPr>
            <a:r>
              <a:rPr lang="en-US" sz="800" dirty="0">
                <a:solidFill>
                  <a:srgbClr val="7B8BAD"/>
                </a:solidFill>
              </a:rPr>
              <a:t>メトロノーム使用推奨（一定リズムで実施）</a:t>
            </a:r>
            <a:endParaRPr lang="en-US" sz="800" dirty="0"/>
          </a:p>
        </p:txBody>
      </p:sp>
      <p:sp>
        <p:nvSpPr>
          <p:cNvPr id="37" name="Text 35"/>
          <p:cNvSpPr/>
          <p:nvPr/>
        </p:nvSpPr>
        <p:spPr>
          <a:xfrm>
            <a:off x="4919472" y="4133088"/>
            <a:ext cx="3566160" cy="228600"/>
          </a:xfrm>
          <a:prstGeom prst="rect">
            <a:avLst/>
          </a:prstGeom>
          <a:noFill/>
          <a:ln/>
        </p:spPr>
        <p:txBody>
          <a:bodyPr wrap="square" rtlCol="0" anchor="ctr"/>
          <a:lstStyle/>
          <a:p>
            <a:pPr marL="0" indent="0">
              <a:buNone/>
            </a:pPr>
            <a:r>
              <a:rPr lang="en-US" sz="800" dirty="0">
                <a:solidFill>
                  <a:srgbClr val="7B8BAD"/>
                </a:solidFill>
              </a:rPr>
              <a:t>今日のトレーニング強度 RPE（1-10）も記録</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0E1A"/>
        </a:solidFill>
        <a:effectLst/>
      </p:bgPr>
    </p:bg>
    <p:spTree>
      <p:nvGrpSpPr>
        <p:cNvPr id="1" name=""/>
        <p:cNvGrpSpPr/>
        <p:nvPr/>
      </p:nvGrpSpPr>
      <p:grpSpPr>
        <a:xfrm>
          <a:off x="0" y="0"/>
          <a:ext cx="0" cy="0"/>
          <a:chOff x="0" y="0"/>
          <a:chExt cx="0" cy="0"/>
        </a:xfrm>
      </p:grpSpPr>
      <p:sp>
        <p:nvSpPr>
          <p:cNvPr id="2" name="Text 0"/>
          <p:cNvSpPr/>
          <p:nvPr/>
        </p:nvSpPr>
        <p:spPr>
          <a:xfrm>
            <a:off x="365760" y="201168"/>
            <a:ext cx="8229600" cy="228600"/>
          </a:xfrm>
          <a:prstGeom prst="rect">
            <a:avLst/>
          </a:prstGeom>
          <a:noFill/>
          <a:ln/>
        </p:spPr>
        <p:txBody>
          <a:bodyPr wrap="square" rtlCol="0" anchor="ctr"/>
          <a:lstStyle/>
          <a:p>
            <a:pPr marL="0" indent="0">
              <a:buNone/>
            </a:pPr>
            <a:r>
              <a:rPr lang="en-US" sz="800" b="1" kern="0" spc="300" dirty="0">
                <a:solidFill>
                  <a:srgbClr val="00D4C8"/>
                </a:solidFill>
              </a:rPr>
              <a:t>NUTRITION TRACKING  —  日次  —  食事時</a:t>
            </a:r>
            <a:endParaRPr lang="en-US" sz="800" dirty="0"/>
          </a:p>
        </p:txBody>
      </p:sp>
      <p:sp>
        <p:nvSpPr>
          <p:cNvPr id="3" name="Text 1"/>
          <p:cNvSpPr/>
          <p:nvPr/>
        </p:nvSpPr>
        <p:spPr>
          <a:xfrm>
            <a:off x="365760" y="475488"/>
            <a:ext cx="8412480" cy="548640"/>
          </a:xfrm>
          <a:prstGeom prst="rect">
            <a:avLst/>
          </a:prstGeom>
          <a:noFill/>
          <a:ln/>
        </p:spPr>
        <p:txBody>
          <a:bodyPr wrap="square" rtlCol="0" anchor="ctr"/>
          <a:lstStyle/>
          <a:p>
            <a:pPr marL="0" indent="0">
              <a:buNone/>
            </a:pPr>
            <a:r>
              <a:rPr lang="en-US" sz="2800" b="1" dirty="0">
                <a:solidFill>
                  <a:srgbClr val="FFFFFF"/>
                </a:solidFill>
              </a:rPr>
              <a:t>🍽️ 食事管理：Gemini 栄養チャット</a:t>
            </a:r>
            <a:endParaRPr lang="en-US" sz="2800" dirty="0"/>
          </a:p>
        </p:txBody>
      </p:sp>
      <p:sp>
        <p:nvSpPr>
          <p:cNvPr id="4" name="Text 2"/>
          <p:cNvSpPr/>
          <p:nvPr/>
        </p:nvSpPr>
        <p:spPr>
          <a:xfrm>
            <a:off x="365760" y="978408"/>
            <a:ext cx="8412480" cy="274320"/>
          </a:xfrm>
          <a:prstGeom prst="rect">
            <a:avLst/>
          </a:prstGeom>
          <a:noFill/>
          <a:ln/>
        </p:spPr>
        <p:txBody>
          <a:bodyPr wrap="square" rtlCol="0" anchor="ctr"/>
          <a:lstStyle/>
          <a:p>
            <a:pPr marL="0" indent="0">
              <a:buNone/>
            </a:pPr>
            <a:r>
              <a:rPr lang="en-US" sz="1200" dirty="0">
                <a:solidFill>
                  <a:srgbClr val="B0BBD0"/>
                </a:solidFill>
              </a:rPr>
              <a:t>写真を送るだけ。PFCバランスと改善アドバイスを即座に取得</a:t>
            </a:r>
            <a:endParaRPr lang="en-US" sz="1200" dirty="0"/>
          </a:p>
        </p:txBody>
      </p:sp>
      <p:sp>
        <p:nvSpPr>
          <p:cNvPr id="5" name="Shape 3"/>
          <p:cNvSpPr/>
          <p:nvPr/>
        </p:nvSpPr>
        <p:spPr>
          <a:xfrm>
            <a:off x="365760" y="1371600"/>
            <a:ext cx="8412480" cy="22860"/>
          </a:xfrm>
          <a:prstGeom prst="rect">
            <a:avLst/>
          </a:prstGeom>
          <a:solidFill>
            <a:srgbClr val="1F2A45"/>
          </a:solidFill>
          <a:ln w="12700">
            <a:solidFill>
              <a:srgbClr val="1F2A45"/>
            </a:solidFill>
            <a:prstDash val="solid"/>
          </a:ln>
        </p:spPr>
      </p:sp>
      <p:sp>
        <p:nvSpPr>
          <p:cNvPr id="6" name="Shape 4"/>
          <p:cNvSpPr/>
          <p:nvPr/>
        </p:nvSpPr>
        <p:spPr>
          <a:xfrm>
            <a:off x="365760" y="1371600"/>
            <a:ext cx="1965960" cy="2011680"/>
          </a:xfrm>
          <a:prstGeom prst="rect">
            <a:avLst/>
          </a:prstGeom>
          <a:solidFill>
            <a:srgbClr val="141929"/>
          </a:solidFill>
          <a:ln w="6350">
            <a:solidFill>
              <a:srgbClr val="1F2A45"/>
            </a:solidFill>
            <a:prstDash val="solid"/>
          </a:ln>
          <a:effectLst>
            <a:outerShdw blurRad="101600" dist="25400" dir="8100000" algn="bl" rotWithShape="0">
              <a:srgbClr val="000000">
                <a:alpha val="25000"/>
              </a:srgbClr>
            </a:outerShdw>
          </a:effectLst>
        </p:spPr>
      </p:sp>
      <p:sp>
        <p:nvSpPr>
          <p:cNvPr id="7" name="Shape 5"/>
          <p:cNvSpPr/>
          <p:nvPr/>
        </p:nvSpPr>
        <p:spPr>
          <a:xfrm>
            <a:off x="365760" y="1371600"/>
            <a:ext cx="45720" cy="2011680"/>
          </a:xfrm>
          <a:prstGeom prst="rect">
            <a:avLst/>
          </a:prstGeom>
          <a:solidFill>
            <a:srgbClr val="F5C842"/>
          </a:solidFill>
          <a:ln w="12700">
            <a:solidFill>
              <a:srgbClr val="F5C842"/>
            </a:solidFill>
            <a:prstDash val="solid"/>
          </a:ln>
        </p:spPr>
      </p:sp>
      <p:sp>
        <p:nvSpPr>
          <p:cNvPr id="8" name="Shape 6"/>
          <p:cNvSpPr/>
          <p:nvPr/>
        </p:nvSpPr>
        <p:spPr>
          <a:xfrm>
            <a:off x="438912" y="1444752"/>
            <a:ext cx="292608" cy="292608"/>
          </a:xfrm>
          <a:prstGeom prst="ellipse">
            <a:avLst/>
          </a:prstGeom>
          <a:solidFill>
            <a:srgbClr val="F5C842"/>
          </a:solidFill>
          <a:ln w="12700">
            <a:solidFill>
              <a:srgbClr val="F5C842"/>
            </a:solidFill>
            <a:prstDash val="solid"/>
          </a:ln>
        </p:spPr>
      </p:sp>
      <p:sp>
        <p:nvSpPr>
          <p:cNvPr id="9" name="Text 7"/>
          <p:cNvSpPr/>
          <p:nvPr/>
        </p:nvSpPr>
        <p:spPr>
          <a:xfrm>
            <a:off x="438912" y="1444752"/>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rPr>
              <a:t>1</a:t>
            </a:r>
            <a:endParaRPr lang="en-US" sz="1100" dirty="0"/>
          </a:p>
        </p:txBody>
      </p:sp>
      <p:sp>
        <p:nvSpPr>
          <p:cNvPr id="10" name="Text 8"/>
          <p:cNvSpPr/>
          <p:nvPr/>
        </p:nvSpPr>
        <p:spPr>
          <a:xfrm>
            <a:off x="475488" y="1828800"/>
            <a:ext cx="1737360" cy="411480"/>
          </a:xfrm>
          <a:prstGeom prst="rect">
            <a:avLst/>
          </a:prstGeom>
          <a:noFill/>
          <a:ln/>
        </p:spPr>
        <p:txBody>
          <a:bodyPr wrap="square" rtlCol="0" anchor="ctr"/>
          <a:lstStyle/>
          <a:p>
            <a:pPr marL="0" indent="0" algn="ctr">
              <a:buNone/>
            </a:pPr>
            <a:r>
              <a:rPr lang="en-US" sz="2800" dirty="0">
                <a:solidFill>
                  <a:srgbClr val="000000"/>
                </a:solidFill>
              </a:rPr>
              <a:t>📸</a:t>
            </a:r>
            <a:endParaRPr lang="en-US" sz="2800" dirty="0"/>
          </a:p>
        </p:txBody>
      </p:sp>
      <p:sp>
        <p:nvSpPr>
          <p:cNvPr id="11" name="Text 9"/>
          <p:cNvSpPr/>
          <p:nvPr/>
        </p:nvSpPr>
        <p:spPr>
          <a:xfrm>
            <a:off x="475488" y="2286000"/>
            <a:ext cx="1737360" cy="411480"/>
          </a:xfrm>
          <a:prstGeom prst="rect">
            <a:avLst/>
          </a:prstGeom>
          <a:noFill/>
          <a:ln/>
        </p:spPr>
        <p:txBody>
          <a:bodyPr wrap="square" rtlCol="0" anchor="ctr"/>
          <a:lstStyle/>
          <a:p>
            <a:pPr marL="0" indent="0" algn="ctr">
              <a:buNone/>
            </a:pPr>
            <a:r>
              <a:rPr lang="en-US" sz="1200" b="1" dirty="0">
                <a:solidFill>
                  <a:srgbClr val="FFFFFF"/>
                </a:solidFill>
              </a:rPr>
              <a:t>食事を撮影</a:t>
            </a:r>
            <a:endParaRPr lang="en-US" sz="1200" dirty="0"/>
          </a:p>
        </p:txBody>
      </p:sp>
      <p:sp>
        <p:nvSpPr>
          <p:cNvPr id="12" name="Text 10"/>
          <p:cNvSpPr/>
          <p:nvPr/>
        </p:nvSpPr>
        <p:spPr>
          <a:xfrm>
            <a:off x="475488" y="2743200"/>
            <a:ext cx="1737360" cy="502920"/>
          </a:xfrm>
          <a:prstGeom prst="rect">
            <a:avLst/>
          </a:prstGeom>
          <a:noFill/>
          <a:ln/>
        </p:spPr>
        <p:txBody>
          <a:bodyPr wrap="square" rtlCol="0" anchor="ctr"/>
          <a:lstStyle/>
          <a:p>
            <a:pPr marL="0" indent="0" algn="ctr">
              <a:buNone/>
            </a:pPr>
            <a:r>
              <a:rPr lang="en-US" sz="900" dirty="0">
                <a:solidFill>
                  <a:srgbClr val="B0BBD0"/>
                </a:solidFill>
              </a:rPr>
              <a:t>料理全体が</a:t>
            </a:r>
            <a:endParaRPr lang="en-US" sz="900" dirty="0"/>
          </a:p>
          <a:p>
            <a:pPr marL="0" indent="0" algn="ctr">
              <a:buNone/>
            </a:pPr>
            <a:r>
              <a:rPr lang="en-US" sz="900" dirty="0">
                <a:solidFill>
                  <a:srgbClr val="B0BBD0"/>
                </a:solidFill>
              </a:rPr>
              <a:t>映るように</a:t>
            </a:r>
            <a:endParaRPr lang="en-US" sz="900" dirty="0"/>
          </a:p>
        </p:txBody>
      </p:sp>
      <p:sp>
        <p:nvSpPr>
          <p:cNvPr id="13" name="Text 11"/>
          <p:cNvSpPr/>
          <p:nvPr/>
        </p:nvSpPr>
        <p:spPr>
          <a:xfrm>
            <a:off x="2377440" y="2148840"/>
            <a:ext cx="274320" cy="365760"/>
          </a:xfrm>
          <a:prstGeom prst="rect">
            <a:avLst/>
          </a:prstGeom>
          <a:noFill/>
          <a:ln/>
        </p:spPr>
        <p:txBody>
          <a:bodyPr wrap="square" rtlCol="0" anchor="ctr"/>
          <a:lstStyle/>
          <a:p>
            <a:pPr marL="0" indent="0" algn="ctr">
              <a:buNone/>
            </a:pPr>
            <a:r>
              <a:rPr lang="en-US" sz="2000" dirty="0">
                <a:solidFill>
                  <a:srgbClr val="7B8BAD"/>
                </a:solidFill>
              </a:rPr>
              <a:t>→</a:t>
            </a:r>
            <a:endParaRPr lang="en-US" sz="2000" dirty="0"/>
          </a:p>
        </p:txBody>
      </p:sp>
      <p:sp>
        <p:nvSpPr>
          <p:cNvPr id="14" name="Shape 12"/>
          <p:cNvSpPr/>
          <p:nvPr/>
        </p:nvSpPr>
        <p:spPr>
          <a:xfrm>
            <a:off x="2514600" y="1371600"/>
            <a:ext cx="1965960" cy="2011680"/>
          </a:xfrm>
          <a:prstGeom prst="rect">
            <a:avLst/>
          </a:prstGeom>
          <a:solidFill>
            <a:srgbClr val="141929"/>
          </a:solidFill>
          <a:ln w="6350">
            <a:solidFill>
              <a:srgbClr val="1F2A45"/>
            </a:solidFill>
            <a:prstDash val="solid"/>
          </a:ln>
          <a:effectLst>
            <a:outerShdw blurRad="101600" dist="25400" dir="8100000" algn="bl" rotWithShape="0">
              <a:srgbClr val="000000">
                <a:alpha val="25000"/>
              </a:srgbClr>
            </a:outerShdw>
          </a:effectLst>
        </p:spPr>
      </p:sp>
      <p:sp>
        <p:nvSpPr>
          <p:cNvPr id="15" name="Shape 13"/>
          <p:cNvSpPr/>
          <p:nvPr/>
        </p:nvSpPr>
        <p:spPr>
          <a:xfrm>
            <a:off x="2514600" y="1371600"/>
            <a:ext cx="45720" cy="2011680"/>
          </a:xfrm>
          <a:prstGeom prst="rect">
            <a:avLst/>
          </a:prstGeom>
          <a:solidFill>
            <a:srgbClr val="00D4C8"/>
          </a:solidFill>
          <a:ln w="12700">
            <a:solidFill>
              <a:srgbClr val="00D4C8"/>
            </a:solidFill>
            <a:prstDash val="solid"/>
          </a:ln>
        </p:spPr>
      </p:sp>
      <p:sp>
        <p:nvSpPr>
          <p:cNvPr id="16" name="Shape 14"/>
          <p:cNvSpPr/>
          <p:nvPr/>
        </p:nvSpPr>
        <p:spPr>
          <a:xfrm>
            <a:off x="2587752" y="1444752"/>
            <a:ext cx="292608" cy="292608"/>
          </a:xfrm>
          <a:prstGeom prst="ellipse">
            <a:avLst/>
          </a:prstGeom>
          <a:solidFill>
            <a:srgbClr val="00D4C8"/>
          </a:solidFill>
          <a:ln w="12700">
            <a:solidFill>
              <a:srgbClr val="00D4C8"/>
            </a:solidFill>
            <a:prstDash val="solid"/>
          </a:ln>
        </p:spPr>
      </p:sp>
      <p:sp>
        <p:nvSpPr>
          <p:cNvPr id="17" name="Text 15"/>
          <p:cNvSpPr/>
          <p:nvPr/>
        </p:nvSpPr>
        <p:spPr>
          <a:xfrm>
            <a:off x="2587752" y="1444752"/>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rPr>
              <a:t>2</a:t>
            </a:r>
            <a:endParaRPr lang="en-US" sz="1100" dirty="0"/>
          </a:p>
        </p:txBody>
      </p:sp>
      <p:sp>
        <p:nvSpPr>
          <p:cNvPr id="18" name="Text 16"/>
          <p:cNvSpPr/>
          <p:nvPr/>
        </p:nvSpPr>
        <p:spPr>
          <a:xfrm>
            <a:off x="2624328" y="1828800"/>
            <a:ext cx="1737360" cy="411480"/>
          </a:xfrm>
          <a:prstGeom prst="rect">
            <a:avLst/>
          </a:prstGeom>
          <a:noFill/>
          <a:ln/>
        </p:spPr>
        <p:txBody>
          <a:bodyPr wrap="square" rtlCol="0" anchor="ctr"/>
          <a:lstStyle/>
          <a:p>
            <a:pPr marL="0" indent="0" algn="ctr">
              <a:buNone/>
            </a:pPr>
            <a:r>
              <a:rPr lang="en-US" sz="2800" dirty="0">
                <a:solidFill>
                  <a:srgbClr val="000000"/>
                </a:solidFill>
              </a:rPr>
              <a:t>💬</a:t>
            </a:r>
            <a:endParaRPr lang="en-US" sz="2800" dirty="0"/>
          </a:p>
        </p:txBody>
      </p:sp>
      <p:sp>
        <p:nvSpPr>
          <p:cNvPr id="19" name="Text 17"/>
          <p:cNvSpPr/>
          <p:nvPr/>
        </p:nvSpPr>
        <p:spPr>
          <a:xfrm>
            <a:off x="2624328" y="2286000"/>
            <a:ext cx="1737360" cy="411480"/>
          </a:xfrm>
          <a:prstGeom prst="rect">
            <a:avLst/>
          </a:prstGeom>
          <a:noFill/>
          <a:ln/>
        </p:spPr>
        <p:txBody>
          <a:bodyPr wrap="square" rtlCol="0" anchor="ctr"/>
          <a:lstStyle/>
          <a:p>
            <a:pPr marL="0" indent="0" algn="ctr">
              <a:buNone/>
            </a:pPr>
            <a:r>
              <a:rPr lang="en-US" sz="1200" b="1" dirty="0">
                <a:solidFill>
                  <a:srgbClr val="FFFFFF"/>
                </a:solidFill>
              </a:rPr>
              <a:t>Geminiに</a:t>
            </a:r>
            <a:endParaRPr lang="en-US" sz="1200" dirty="0"/>
          </a:p>
          <a:p>
            <a:pPr marL="0" indent="0" algn="ctr">
              <a:buNone/>
            </a:pPr>
            <a:r>
              <a:rPr lang="en-US" sz="1200" b="1" dirty="0">
                <a:solidFill>
                  <a:srgbClr val="FFFFFF"/>
                </a:solidFill>
              </a:rPr>
              <a:t>写真を送信</a:t>
            </a:r>
            <a:endParaRPr lang="en-US" sz="1200" dirty="0"/>
          </a:p>
        </p:txBody>
      </p:sp>
      <p:sp>
        <p:nvSpPr>
          <p:cNvPr id="20" name="Text 18"/>
          <p:cNvSpPr/>
          <p:nvPr/>
        </p:nvSpPr>
        <p:spPr>
          <a:xfrm>
            <a:off x="2624328" y="2743200"/>
            <a:ext cx="1737360" cy="502920"/>
          </a:xfrm>
          <a:prstGeom prst="rect">
            <a:avLst/>
          </a:prstGeom>
          <a:noFill/>
          <a:ln/>
        </p:spPr>
        <p:txBody>
          <a:bodyPr wrap="square" rtlCol="0" anchor="ctr"/>
          <a:lstStyle/>
          <a:p>
            <a:pPr marL="0" indent="0" algn="ctr">
              <a:buNone/>
            </a:pPr>
            <a:r>
              <a:rPr lang="en-US" sz="900" dirty="0">
                <a:solidFill>
                  <a:srgbClr val="B0BBD0"/>
                </a:solidFill>
              </a:rPr>
              <a:t>専用プロンプト</a:t>
            </a:r>
            <a:endParaRPr lang="en-US" sz="900" dirty="0"/>
          </a:p>
          <a:p>
            <a:pPr marL="0" indent="0" algn="ctr">
              <a:buNone/>
            </a:pPr>
            <a:r>
              <a:rPr lang="en-US" sz="900" dirty="0" err="1">
                <a:solidFill>
                  <a:srgbClr val="B0BBD0"/>
                </a:solidFill>
              </a:rPr>
              <a:t>を使用（共有予定</a:t>
            </a:r>
            <a:r>
              <a:rPr lang="en-US" sz="900" dirty="0">
                <a:solidFill>
                  <a:srgbClr val="B0BBD0"/>
                </a:solidFill>
              </a:rPr>
              <a:t>）</a:t>
            </a:r>
            <a:endParaRPr lang="en-US" sz="900" dirty="0"/>
          </a:p>
        </p:txBody>
      </p:sp>
      <p:sp>
        <p:nvSpPr>
          <p:cNvPr id="21" name="Text 19"/>
          <p:cNvSpPr/>
          <p:nvPr/>
        </p:nvSpPr>
        <p:spPr>
          <a:xfrm>
            <a:off x="4526280" y="2148840"/>
            <a:ext cx="274320" cy="365760"/>
          </a:xfrm>
          <a:prstGeom prst="rect">
            <a:avLst/>
          </a:prstGeom>
          <a:noFill/>
          <a:ln/>
        </p:spPr>
        <p:txBody>
          <a:bodyPr wrap="square" rtlCol="0" anchor="ctr"/>
          <a:lstStyle/>
          <a:p>
            <a:pPr marL="0" indent="0" algn="ctr">
              <a:buNone/>
            </a:pPr>
            <a:r>
              <a:rPr lang="en-US" sz="2000" dirty="0">
                <a:solidFill>
                  <a:srgbClr val="7B8BAD"/>
                </a:solidFill>
              </a:rPr>
              <a:t>→</a:t>
            </a:r>
            <a:endParaRPr lang="en-US" sz="2000" dirty="0"/>
          </a:p>
        </p:txBody>
      </p:sp>
      <p:sp>
        <p:nvSpPr>
          <p:cNvPr id="22" name="Shape 20"/>
          <p:cNvSpPr/>
          <p:nvPr/>
        </p:nvSpPr>
        <p:spPr>
          <a:xfrm>
            <a:off x="4663440" y="1371600"/>
            <a:ext cx="1965960" cy="2011680"/>
          </a:xfrm>
          <a:prstGeom prst="rect">
            <a:avLst/>
          </a:prstGeom>
          <a:solidFill>
            <a:srgbClr val="141929"/>
          </a:solidFill>
          <a:ln w="6350">
            <a:solidFill>
              <a:srgbClr val="1F2A45"/>
            </a:solidFill>
            <a:prstDash val="solid"/>
          </a:ln>
          <a:effectLst>
            <a:outerShdw blurRad="101600" dist="25400" dir="8100000" algn="bl" rotWithShape="0">
              <a:srgbClr val="000000">
                <a:alpha val="25000"/>
              </a:srgbClr>
            </a:outerShdw>
          </a:effectLst>
        </p:spPr>
      </p:sp>
      <p:sp>
        <p:nvSpPr>
          <p:cNvPr id="23" name="Shape 21"/>
          <p:cNvSpPr/>
          <p:nvPr/>
        </p:nvSpPr>
        <p:spPr>
          <a:xfrm>
            <a:off x="4663440" y="1371600"/>
            <a:ext cx="45720" cy="2011680"/>
          </a:xfrm>
          <a:prstGeom prst="rect">
            <a:avLst/>
          </a:prstGeom>
          <a:solidFill>
            <a:srgbClr val="3D9BE9"/>
          </a:solidFill>
          <a:ln w="12700">
            <a:solidFill>
              <a:srgbClr val="3D9BE9"/>
            </a:solidFill>
            <a:prstDash val="solid"/>
          </a:ln>
        </p:spPr>
      </p:sp>
      <p:sp>
        <p:nvSpPr>
          <p:cNvPr id="24" name="Shape 22"/>
          <p:cNvSpPr/>
          <p:nvPr/>
        </p:nvSpPr>
        <p:spPr>
          <a:xfrm>
            <a:off x="4736592" y="1444752"/>
            <a:ext cx="292608" cy="292608"/>
          </a:xfrm>
          <a:prstGeom prst="ellipse">
            <a:avLst/>
          </a:prstGeom>
          <a:solidFill>
            <a:srgbClr val="3D9BE9"/>
          </a:solidFill>
          <a:ln w="12700">
            <a:solidFill>
              <a:srgbClr val="3D9BE9"/>
            </a:solidFill>
            <a:prstDash val="solid"/>
          </a:ln>
        </p:spPr>
      </p:sp>
      <p:sp>
        <p:nvSpPr>
          <p:cNvPr id="25" name="Text 23"/>
          <p:cNvSpPr/>
          <p:nvPr/>
        </p:nvSpPr>
        <p:spPr>
          <a:xfrm>
            <a:off x="4736592" y="1444752"/>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rPr>
              <a:t>3</a:t>
            </a:r>
            <a:endParaRPr lang="en-US" sz="1100" dirty="0"/>
          </a:p>
        </p:txBody>
      </p:sp>
      <p:sp>
        <p:nvSpPr>
          <p:cNvPr id="26" name="Text 24"/>
          <p:cNvSpPr/>
          <p:nvPr/>
        </p:nvSpPr>
        <p:spPr>
          <a:xfrm>
            <a:off x="4773168" y="1828800"/>
            <a:ext cx="1737360" cy="411480"/>
          </a:xfrm>
          <a:prstGeom prst="rect">
            <a:avLst/>
          </a:prstGeom>
          <a:noFill/>
          <a:ln/>
        </p:spPr>
        <p:txBody>
          <a:bodyPr wrap="square" rtlCol="0" anchor="ctr"/>
          <a:lstStyle/>
          <a:p>
            <a:pPr marL="0" indent="0" algn="ctr">
              <a:buNone/>
            </a:pPr>
            <a:r>
              <a:rPr lang="en-US" sz="2800" dirty="0">
                <a:solidFill>
                  <a:srgbClr val="000000"/>
                </a:solidFill>
              </a:rPr>
              <a:t>🧮</a:t>
            </a:r>
            <a:endParaRPr lang="en-US" sz="2800" dirty="0"/>
          </a:p>
        </p:txBody>
      </p:sp>
      <p:sp>
        <p:nvSpPr>
          <p:cNvPr id="27" name="Text 25"/>
          <p:cNvSpPr/>
          <p:nvPr/>
        </p:nvSpPr>
        <p:spPr>
          <a:xfrm>
            <a:off x="4773168" y="2286000"/>
            <a:ext cx="1737360" cy="411480"/>
          </a:xfrm>
          <a:prstGeom prst="rect">
            <a:avLst/>
          </a:prstGeom>
          <a:noFill/>
          <a:ln/>
        </p:spPr>
        <p:txBody>
          <a:bodyPr wrap="square" rtlCol="0" anchor="ctr"/>
          <a:lstStyle/>
          <a:p>
            <a:pPr marL="0" indent="0" algn="ctr">
              <a:buNone/>
            </a:pPr>
            <a:r>
              <a:rPr lang="en-US" sz="1200" b="1" dirty="0">
                <a:solidFill>
                  <a:srgbClr val="FFFFFF"/>
                </a:solidFill>
              </a:rPr>
              <a:t>PFC分析</a:t>
            </a:r>
            <a:endParaRPr lang="en-US" sz="1200" dirty="0"/>
          </a:p>
          <a:p>
            <a:pPr marL="0" indent="0" algn="ctr">
              <a:buNone/>
            </a:pPr>
            <a:r>
              <a:rPr lang="en-US" sz="1200" b="1" dirty="0">
                <a:solidFill>
                  <a:srgbClr val="FFFFFF"/>
                </a:solidFill>
              </a:rPr>
              <a:t>即時取得</a:t>
            </a:r>
            <a:endParaRPr lang="en-US" sz="1200" dirty="0"/>
          </a:p>
        </p:txBody>
      </p:sp>
      <p:sp>
        <p:nvSpPr>
          <p:cNvPr id="28" name="Text 26"/>
          <p:cNvSpPr/>
          <p:nvPr/>
        </p:nvSpPr>
        <p:spPr>
          <a:xfrm>
            <a:off x="4773168" y="2743200"/>
            <a:ext cx="1737360" cy="502920"/>
          </a:xfrm>
          <a:prstGeom prst="rect">
            <a:avLst/>
          </a:prstGeom>
          <a:noFill/>
          <a:ln/>
        </p:spPr>
        <p:txBody>
          <a:bodyPr wrap="square" rtlCol="0" anchor="ctr"/>
          <a:lstStyle/>
          <a:p>
            <a:pPr marL="0" indent="0" algn="ctr">
              <a:buNone/>
            </a:pPr>
            <a:r>
              <a:rPr lang="en-US" sz="900" dirty="0">
                <a:solidFill>
                  <a:srgbClr val="B0BBD0"/>
                </a:solidFill>
              </a:rPr>
              <a:t>タンパク質・脂質</a:t>
            </a:r>
            <a:endParaRPr lang="en-US" sz="900" dirty="0"/>
          </a:p>
          <a:p>
            <a:pPr marL="0" indent="0" algn="ctr">
              <a:buNone/>
            </a:pPr>
            <a:r>
              <a:rPr lang="en-US" sz="900" dirty="0">
                <a:solidFill>
                  <a:srgbClr val="B0BBD0"/>
                </a:solidFill>
              </a:rPr>
              <a:t>炭水化物の比率</a:t>
            </a:r>
            <a:endParaRPr lang="en-US" sz="900" dirty="0"/>
          </a:p>
        </p:txBody>
      </p:sp>
      <p:sp>
        <p:nvSpPr>
          <p:cNvPr id="29" name="Text 27"/>
          <p:cNvSpPr/>
          <p:nvPr/>
        </p:nvSpPr>
        <p:spPr>
          <a:xfrm>
            <a:off x="6675120" y="2148840"/>
            <a:ext cx="274320" cy="365760"/>
          </a:xfrm>
          <a:prstGeom prst="rect">
            <a:avLst/>
          </a:prstGeom>
          <a:noFill/>
          <a:ln/>
        </p:spPr>
        <p:txBody>
          <a:bodyPr wrap="square" rtlCol="0" anchor="ctr"/>
          <a:lstStyle/>
          <a:p>
            <a:pPr marL="0" indent="0" algn="ctr">
              <a:buNone/>
            </a:pPr>
            <a:r>
              <a:rPr lang="en-US" sz="2000" dirty="0">
                <a:solidFill>
                  <a:srgbClr val="7B8BAD"/>
                </a:solidFill>
              </a:rPr>
              <a:t>→</a:t>
            </a:r>
            <a:endParaRPr lang="en-US" sz="2000" dirty="0"/>
          </a:p>
        </p:txBody>
      </p:sp>
      <p:sp>
        <p:nvSpPr>
          <p:cNvPr id="30" name="Shape 28"/>
          <p:cNvSpPr/>
          <p:nvPr/>
        </p:nvSpPr>
        <p:spPr>
          <a:xfrm>
            <a:off x="6812280" y="1371600"/>
            <a:ext cx="1965960" cy="2011680"/>
          </a:xfrm>
          <a:prstGeom prst="rect">
            <a:avLst/>
          </a:prstGeom>
          <a:solidFill>
            <a:srgbClr val="141929"/>
          </a:solidFill>
          <a:ln w="6350">
            <a:solidFill>
              <a:srgbClr val="1F2A45"/>
            </a:solidFill>
            <a:prstDash val="solid"/>
          </a:ln>
          <a:effectLst>
            <a:outerShdw blurRad="101600" dist="25400" dir="8100000" algn="bl" rotWithShape="0">
              <a:srgbClr val="000000">
                <a:alpha val="25000"/>
              </a:srgbClr>
            </a:outerShdw>
          </a:effectLst>
        </p:spPr>
      </p:sp>
      <p:sp>
        <p:nvSpPr>
          <p:cNvPr id="31" name="Shape 29"/>
          <p:cNvSpPr/>
          <p:nvPr/>
        </p:nvSpPr>
        <p:spPr>
          <a:xfrm>
            <a:off x="6812280" y="1371600"/>
            <a:ext cx="45720" cy="2011680"/>
          </a:xfrm>
          <a:prstGeom prst="rect">
            <a:avLst/>
          </a:prstGeom>
          <a:solidFill>
            <a:srgbClr val="2ED47A"/>
          </a:solidFill>
          <a:ln w="12700">
            <a:solidFill>
              <a:srgbClr val="2ED47A"/>
            </a:solidFill>
            <a:prstDash val="solid"/>
          </a:ln>
        </p:spPr>
      </p:sp>
      <p:sp>
        <p:nvSpPr>
          <p:cNvPr id="32" name="Shape 30"/>
          <p:cNvSpPr/>
          <p:nvPr/>
        </p:nvSpPr>
        <p:spPr>
          <a:xfrm>
            <a:off x="6885432" y="1444752"/>
            <a:ext cx="292608" cy="292608"/>
          </a:xfrm>
          <a:prstGeom prst="ellipse">
            <a:avLst/>
          </a:prstGeom>
          <a:solidFill>
            <a:srgbClr val="2ED47A"/>
          </a:solidFill>
          <a:ln w="12700">
            <a:solidFill>
              <a:srgbClr val="2ED47A"/>
            </a:solidFill>
            <a:prstDash val="solid"/>
          </a:ln>
        </p:spPr>
      </p:sp>
      <p:sp>
        <p:nvSpPr>
          <p:cNvPr id="33" name="Text 31"/>
          <p:cNvSpPr/>
          <p:nvPr/>
        </p:nvSpPr>
        <p:spPr>
          <a:xfrm>
            <a:off x="6885432" y="1444752"/>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rPr>
              <a:t>4</a:t>
            </a:r>
            <a:endParaRPr lang="en-US" sz="1100" dirty="0"/>
          </a:p>
        </p:txBody>
      </p:sp>
      <p:sp>
        <p:nvSpPr>
          <p:cNvPr id="34" name="Text 32"/>
          <p:cNvSpPr/>
          <p:nvPr/>
        </p:nvSpPr>
        <p:spPr>
          <a:xfrm>
            <a:off x="6922008" y="1828800"/>
            <a:ext cx="1737360" cy="411480"/>
          </a:xfrm>
          <a:prstGeom prst="rect">
            <a:avLst/>
          </a:prstGeom>
          <a:noFill/>
          <a:ln/>
        </p:spPr>
        <p:txBody>
          <a:bodyPr wrap="square" rtlCol="0" anchor="ctr"/>
          <a:lstStyle/>
          <a:p>
            <a:pPr marL="0" indent="0" algn="ctr">
              <a:buNone/>
            </a:pPr>
            <a:r>
              <a:rPr lang="en-US" sz="2800" dirty="0">
                <a:solidFill>
                  <a:srgbClr val="000000"/>
                </a:solidFill>
              </a:rPr>
              <a:t>💡</a:t>
            </a:r>
            <a:endParaRPr lang="en-US" sz="2800" dirty="0"/>
          </a:p>
        </p:txBody>
      </p:sp>
      <p:sp>
        <p:nvSpPr>
          <p:cNvPr id="35" name="Text 33"/>
          <p:cNvSpPr/>
          <p:nvPr/>
        </p:nvSpPr>
        <p:spPr>
          <a:xfrm>
            <a:off x="6922008" y="2286000"/>
            <a:ext cx="1737360" cy="411480"/>
          </a:xfrm>
          <a:prstGeom prst="rect">
            <a:avLst/>
          </a:prstGeom>
          <a:noFill/>
          <a:ln/>
        </p:spPr>
        <p:txBody>
          <a:bodyPr wrap="square" rtlCol="0" anchor="ctr"/>
          <a:lstStyle/>
          <a:p>
            <a:pPr marL="0" indent="0" algn="ctr">
              <a:buNone/>
            </a:pPr>
            <a:r>
              <a:rPr lang="en-US" sz="1200" b="1" dirty="0">
                <a:solidFill>
                  <a:srgbClr val="FFFFFF"/>
                </a:solidFill>
              </a:rPr>
              <a:t>改善アドバイス</a:t>
            </a:r>
            <a:endParaRPr lang="en-US" sz="1200" dirty="0"/>
          </a:p>
          <a:p>
            <a:pPr marL="0" indent="0" algn="ctr">
              <a:buNone/>
            </a:pPr>
            <a:r>
              <a:rPr lang="en-US" sz="1200" b="1" dirty="0">
                <a:solidFill>
                  <a:srgbClr val="FFFFFF"/>
                </a:solidFill>
              </a:rPr>
              <a:t>を確認</a:t>
            </a:r>
            <a:endParaRPr lang="en-US" sz="1200" dirty="0"/>
          </a:p>
        </p:txBody>
      </p:sp>
      <p:sp>
        <p:nvSpPr>
          <p:cNvPr id="36" name="Text 34"/>
          <p:cNvSpPr/>
          <p:nvPr/>
        </p:nvSpPr>
        <p:spPr>
          <a:xfrm>
            <a:off x="6922008" y="2743200"/>
            <a:ext cx="1737360" cy="502920"/>
          </a:xfrm>
          <a:prstGeom prst="rect">
            <a:avLst/>
          </a:prstGeom>
          <a:noFill/>
          <a:ln/>
        </p:spPr>
        <p:txBody>
          <a:bodyPr wrap="square" rtlCol="0" anchor="ctr"/>
          <a:lstStyle/>
          <a:p>
            <a:pPr marL="0" indent="0" algn="ctr">
              <a:buNone/>
            </a:pPr>
            <a:r>
              <a:rPr lang="en-US" sz="900" dirty="0">
                <a:solidFill>
                  <a:srgbClr val="B0BBD0"/>
                </a:solidFill>
              </a:rPr>
              <a:t>翌日の</a:t>
            </a:r>
            <a:endParaRPr lang="en-US" sz="900" dirty="0"/>
          </a:p>
          <a:p>
            <a:pPr marL="0" indent="0" algn="ctr">
              <a:buNone/>
            </a:pPr>
            <a:r>
              <a:rPr lang="en-US" sz="900" dirty="0">
                <a:solidFill>
                  <a:srgbClr val="B0BBD0"/>
                </a:solidFill>
              </a:rPr>
              <a:t>パフォーマンスに反映</a:t>
            </a:r>
            <a:endParaRPr lang="en-US" sz="900" dirty="0"/>
          </a:p>
        </p:txBody>
      </p:sp>
      <p:sp>
        <p:nvSpPr>
          <p:cNvPr id="37" name="Shape 35"/>
          <p:cNvSpPr/>
          <p:nvPr/>
        </p:nvSpPr>
        <p:spPr>
          <a:xfrm>
            <a:off x="365760" y="3547872"/>
            <a:ext cx="4160520" cy="1234440"/>
          </a:xfrm>
          <a:prstGeom prst="rect">
            <a:avLst/>
          </a:prstGeom>
          <a:solidFill>
            <a:srgbClr val="141929"/>
          </a:solidFill>
          <a:ln w="6350">
            <a:solidFill>
              <a:srgbClr val="1F2A45"/>
            </a:solidFill>
            <a:prstDash val="solid"/>
          </a:ln>
          <a:effectLst>
            <a:outerShdw blurRad="101600" dist="25400" dir="8100000" algn="bl" rotWithShape="0">
              <a:srgbClr val="000000">
                <a:alpha val="25000"/>
              </a:srgbClr>
            </a:outerShdw>
          </a:effectLst>
        </p:spPr>
      </p:sp>
      <p:sp>
        <p:nvSpPr>
          <p:cNvPr id="38" name="Shape 36"/>
          <p:cNvSpPr/>
          <p:nvPr/>
        </p:nvSpPr>
        <p:spPr>
          <a:xfrm>
            <a:off x="365760" y="3547872"/>
            <a:ext cx="45720" cy="1234440"/>
          </a:xfrm>
          <a:prstGeom prst="rect">
            <a:avLst/>
          </a:prstGeom>
          <a:solidFill>
            <a:srgbClr val="F5C842"/>
          </a:solidFill>
          <a:ln w="12700">
            <a:solidFill>
              <a:srgbClr val="F5C842"/>
            </a:solidFill>
            <a:prstDash val="solid"/>
          </a:ln>
        </p:spPr>
      </p:sp>
      <p:sp>
        <p:nvSpPr>
          <p:cNvPr id="39" name="Text 37"/>
          <p:cNvSpPr/>
          <p:nvPr/>
        </p:nvSpPr>
        <p:spPr>
          <a:xfrm>
            <a:off x="502920" y="3621024"/>
            <a:ext cx="3840480" cy="256032"/>
          </a:xfrm>
          <a:prstGeom prst="rect">
            <a:avLst/>
          </a:prstGeom>
          <a:noFill/>
          <a:ln/>
        </p:spPr>
        <p:txBody>
          <a:bodyPr wrap="square" rtlCol="0" anchor="ctr"/>
          <a:lstStyle/>
          <a:p>
            <a:pPr marL="0" indent="0">
              <a:buNone/>
            </a:pPr>
            <a:r>
              <a:rPr lang="en-US" sz="1000" b="1" dirty="0">
                <a:solidFill>
                  <a:srgbClr val="F5C842"/>
                </a:solidFill>
              </a:rPr>
              <a:t>📌  記録のポイント</a:t>
            </a:r>
            <a:endParaRPr lang="en-US" sz="1000" dirty="0"/>
          </a:p>
        </p:txBody>
      </p:sp>
      <p:sp>
        <p:nvSpPr>
          <p:cNvPr id="40" name="Text 38"/>
          <p:cNvSpPr/>
          <p:nvPr/>
        </p:nvSpPr>
        <p:spPr>
          <a:xfrm>
            <a:off x="502920" y="3931920"/>
            <a:ext cx="3840480" cy="237744"/>
          </a:xfrm>
          <a:prstGeom prst="rect">
            <a:avLst/>
          </a:prstGeom>
          <a:noFill/>
          <a:ln/>
        </p:spPr>
        <p:txBody>
          <a:bodyPr wrap="square" rtlCol="0" anchor="ctr"/>
          <a:lstStyle/>
          <a:p>
            <a:pPr marL="0" indent="0">
              <a:buNone/>
            </a:pPr>
            <a:r>
              <a:rPr lang="en-US" sz="900" dirty="0">
                <a:solidFill>
                  <a:srgbClr val="B0BBD0"/>
                </a:solidFill>
              </a:rPr>
              <a:t>✓  食事の写真を撮るだけ — 手入力不要</a:t>
            </a:r>
            <a:endParaRPr lang="en-US" sz="900" dirty="0"/>
          </a:p>
        </p:txBody>
      </p:sp>
      <p:sp>
        <p:nvSpPr>
          <p:cNvPr id="41" name="Text 39"/>
          <p:cNvSpPr/>
          <p:nvPr/>
        </p:nvSpPr>
        <p:spPr>
          <a:xfrm>
            <a:off x="502920" y="4206240"/>
            <a:ext cx="3840480" cy="237744"/>
          </a:xfrm>
          <a:prstGeom prst="rect">
            <a:avLst/>
          </a:prstGeom>
          <a:noFill/>
          <a:ln/>
        </p:spPr>
        <p:txBody>
          <a:bodyPr wrap="square" rtlCol="0" anchor="ctr"/>
          <a:lstStyle/>
          <a:p>
            <a:pPr marL="0" indent="0">
              <a:buNone/>
            </a:pPr>
            <a:r>
              <a:rPr lang="en-US" sz="900" dirty="0">
                <a:solidFill>
                  <a:srgbClr val="B0BBD0"/>
                </a:solidFill>
              </a:rPr>
              <a:t>✓  専用プロンプトは後ほど共有します</a:t>
            </a:r>
            <a:endParaRPr lang="en-US" sz="900" dirty="0"/>
          </a:p>
        </p:txBody>
      </p:sp>
      <p:sp>
        <p:nvSpPr>
          <p:cNvPr id="42" name="Text 40"/>
          <p:cNvSpPr/>
          <p:nvPr/>
        </p:nvSpPr>
        <p:spPr>
          <a:xfrm>
            <a:off x="502920" y="4480560"/>
            <a:ext cx="3840480" cy="237744"/>
          </a:xfrm>
          <a:prstGeom prst="rect">
            <a:avLst/>
          </a:prstGeom>
          <a:noFill/>
          <a:ln/>
        </p:spPr>
        <p:txBody>
          <a:bodyPr wrap="square" rtlCol="0" anchor="ctr"/>
          <a:lstStyle/>
          <a:p>
            <a:pPr marL="0" indent="0">
              <a:buNone/>
            </a:pPr>
            <a:r>
              <a:rPr lang="en-US" sz="900" dirty="0">
                <a:solidFill>
                  <a:srgbClr val="B0BBD0"/>
                </a:solidFill>
              </a:rPr>
              <a:t>✓  InBodyデータは別タブに月次記録</a:t>
            </a:r>
            <a:endParaRPr lang="en-US" sz="900" dirty="0"/>
          </a:p>
        </p:txBody>
      </p:sp>
      <p:sp>
        <p:nvSpPr>
          <p:cNvPr id="43" name="Shape 41"/>
          <p:cNvSpPr/>
          <p:nvPr/>
        </p:nvSpPr>
        <p:spPr>
          <a:xfrm>
            <a:off x="4663440" y="3547872"/>
            <a:ext cx="4114800" cy="1234440"/>
          </a:xfrm>
          <a:prstGeom prst="rect">
            <a:avLst/>
          </a:prstGeom>
          <a:solidFill>
            <a:srgbClr val="141929"/>
          </a:solidFill>
          <a:ln w="6350">
            <a:solidFill>
              <a:srgbClr val="1F2A45"/>
            </a:solidFill>
            <a:prstDash val="solid"/>
          </a:ln>
          <a:effectLst>
            <a:outerShdw blurRad="101600" dist="25400" dir="8100000" algn="bl" rotWithShape="0">
              <a:srgbClr val="000000">
                <a:alpha val="25000"/>
              </a:srgbClr>
            </a:outerShdw>
          </a:effectLst>
        </p:spPr>
      </p:sp>
      <p:sp>
        <p:nvSpPr>
          <p:cNvPr id="44" name="Shape 42"/>
          <p:cNvSpPr/>
          <p:nvPr/>
        </p:nvSpPr>
        <p:spPr>
          <a:xfrm>
            <a:off x="4663440" y="3547872"/>
            <a:ext cx="45720" cy="1234440"/>
          </a:xfrm>
          <a:prstGeom prst="rect">
            <a:avLst/>
          </a:prstGeom>
          <a:solidFill>
            <a:srgbClr val="2ED47A"/>
          </a:solidFill>
          <a:ln w="12700">
            <a:solidFill>
              <a:srgbClr val="2ED47A"/>
            </a:solidFill>
            <a:prstDash val="solid"/>
          </a:ln>
        </p:spPr>
      </p:sp>
      <p:sp>
        <p:nvSpPr>
          <p:cNvPr id="45" name="Text 43"/>
          <p:cNvSpPr/>
          <p:nvPr/>
        </p:nvSpPr>
        <p:spPr>
          <a:xfrm>
            <a:off x="4800600" y="3621024"/>
            <a:ext cx="3840480" cy="256032"/>
          </a:xfrm>
          <a:prstGeom prst="rect">
            <a:avLst/>
          </a:prstGeom>
          <a:noFill/>
          <a:ln/>
        </p:spPr>
        <p:txBody>
          <a:bodyPr wrap="square" rtlCol="0" anchor="ctr"/>
          <a:lstStyle/>
          <a:p>
            <a:pPr marL="0" indent="0">
              <a:buNone/>
            </a:pPr>
            <a:r>
              <a:rPr lang="en-US" sz="1000" b="1" dirty="0">
                <a:solidFill>
                  <a:srgbClr val="2ED47A"/>
                </a:solidFill>
              </a:rPr>
              <a:t>🔬  追跡する主な相関</a:t>
            </a:r>
            <a:endParaRPr lang="en-US" sz="1000" dirty="0"/>
          </a:p>
        </p:txBody>
      </p:sp>
      <p:sp>
        <p:nvSpPr>
          <p:cNvPr id="46" name="Text 44"/>
          <p:cNvSpPr/>
          <p:nvPr/>
        </p:nvSpPr>
        <p:spPr>
          <a:xfrm>
            <a:off x="4800600" y="3931920"/>
            <a:ext cx="3840480" cy="237744"/>
          </a:xfrm>
          <a:prstGeom prst="rect">
            <a:avLst/>
          </a:prstGeom>
          <a:noFill/>
          <a:ln/>
        </p:spPr>
        <p:txBody>
          <a:bodyPr wrap="square" rtlCol="0" anchor="ctr"/>
          <a:lstStyle/>
          <a:p>
            <a:pPr marL="0" indent="0">
              <a:buNone/>
            </a:pPr>
            <a:r>
              <a:rPr lang="en-US" sz="900" dirty="0">
                <a:solidFill>
                  <a:srgbClr val="B0BBD0"/>
                </a:solidFill>
              </a:rPr>
              <a:t>→  炭水化物量  →  翌日の垂直跳び出力</a:t>
            </a:r>
            <a:endParaRPr lang="en-US" sz="900" dirty="0"/>
          </a:p>
        </p:txBody>
      </p:sp>
      <p:sp>
        <p:nvSpPr>
          <p:cNvPr id="47" name="Text 45"/>
          <p:cNvSpPr/>
          <p:nvPr/>
        </p:nvSpPr>
        <p:spPr>
          <a:xfrm>
            <a:off x="4800600" y="4206240"/>
            <a:ext cx="3840480" cy="237744"/>
          </a:xfrm>
          <a:prstGeom prst="rect">
            <a:avLst/>
          </a:prstGeom>
          <a:noFill/>
          <a:ln/>
        </p:spPr>
        <p:txBody>
          <a:bodyPr wrap="square" rtlCol="0" anchor="ctr"/>
          <a:lstStyle/>
          <a:p>
            <a:pPr marL="0" indent="0">
              <a:buNone/>
            </a:pPr>
            <a:r>
              <a:rPr lang="en-US" sz="900" dirty="0">
                <a:solidFill>
                  <a:srgbClr val="B0BBD0"/>
                </a:solidFill>
              </a:rPr>
              <a:t>→  タンパク質摂取量  →  プッシュアップ回数</a:t>
            </a:r>
            <a:endParaRPr lang="en-US" sz="900" dirty="0"/>
          </a:p>
        </p:txBody>
      </p:sp>
      <p:sp>
        <p:nvSpPr>
          <p:cNvPr id="48" name="Text 46"/>
          <p:cNvSpPr/>
          <p:nvPr/>
        </p:nvSpPr>
        <p:spPr>
          <a:xfrm>
            <a:off x="4800600" y="4480560"/>
            <a:ext cx="3840480" cy="237744"/>
          </a:xfrm>
          <a:prstGeom prst="rect">
            <a:avLst/>
          </a:prstGeom>
          <a:noFill/>
          <a:ln/>
        </p:spPr>
        <p:txBody>
          <a:bodyPr wrap="square" rtlCol="0" anchor="ctr"/>
          <a:lstStyle/>
          <a:p>
            <a:pPr marL="0" indent="0">
              <a:buNone/>
            </a:pPr>
            <a:r>
              <a:rPr lang="en-US" sz="900" dirty="0">
                <a:solidFill>
                  <a:srgbClr val="B0BBD0"/>
                </a:solidFill>
              </a:rPr>
              <a:t>→  アルコール  →  翌朝のHRV（遅延効果）</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0E1A"/>
        </a:solidFill>
        <a:effectLst/>
      </p:bgPr>
    </p:bg>
    <p:spTree>
      <p:nvGrpSpPr>
        <p:cNvPr id="1" name=""/>
        <p:cNvGrpSpPr/>
        <p:nvPr/>
      </p:nvGrpSpPr>
      <p:grpSpPr>
        <a:xfrm>
          <a:off x="0" y="0"/>
          <a:ext cx="0" cy="0"/>
          <a:chOff x="0" y="0"/>
          <a:chExt cx="0" cy="0"/>
        </a:xfrm>
      </p:grpSpPr>
      <p:sp>
        <p:nvSpPr>
          <p:cNvPr id="2" name="Text 0"/>
          <p:cNvSpPr/>
          <p:nvPr/>
        </p:nvSpPr>
        <p:spPr>
          <a:xfrm>
            <a:off x="365760" y="201168"/>
            <a:ext cx="8229600" cy="228600"/>
          </a:xfrm>
          <a:prstGeom prst="rect">
            <a:avLst/>
          </a:prstGeom>
          <a:noFill/>
          <a:ln/>
        </p:spPr>
        <p:txBody>
          <a:bodyPr wrap="square" rtlCol="0" anchor="ctr"/>
          <a:lstStyle/>
          <a:p>
            <a:pPr marL="0" indent="0">
              <a:buNone/>
            </a:pPr>
            <a:r>
              <a:rPr lang="en-US" sz="800" b="1" kern="0" spc="300" dirty="0">
                <a:solidFill>
                  <a:srgbClr val="00D4C8"/>
                </a:solidFill>
              </a:rPr>
              <a:t>DATA ANALYSIS SCHEDULE</a:t>
            </a:r>
            <a:endParaRPr lang="en-US" sz="800" dirty="0"/>
          </a:p>
        </p:txBody>
      </p:sp>
      <p:sp>
        <p:nvSpPr>
          <p:cNvPr id="3" name="Text 1"/>
          <p:cNvSpPr/>
          <p:nvPr/>
        </p:nvSpPr>
        <p:spPr>
          <a:xfrm>
            <a:off x="365760" y="475488"/>
            <a:ext cx="8412480" cy="548640"/>
          </a:xfrm>
          <a:prstGeom prst="rect">
            <a:avLst/>
          </a:prstGeom>
          <a:noFill/>
          <a:ln/>
        </p:spPr>
        <p:txBody>
          <a:bodyPr wrap="square" rtlCol="0" anchor="ctr"/>
          <a:lstStyle/>
          <a:p>
            <a:pPr marL="0" indent="0">
              <a:buNone/>
            </a:pPr>
            <a:r>
              <a:rPr lang="en-US" sz="2800" b="1" dirty="0">
                <a:solidFill>
                  <a:srgbClr val="FFFFFF"/>
                </a:solidFill>
              </a:rPr>
              <a:t>データ分析スケジュール</a:t>
            </a:r>
            <a:endParaRPr lang="en-US" sz="2800" dirty="0"/>
          </a:p>
        </p:txBody>
      </p:sp>
      <p:sp>
        <p:nvSpPr>
          <p:cNvPr id="4" name="Text 2"/>
          <p:cNvSpPr/>
          <p:nvPr/>
        </p:nvSpPr>
        <p:spPr>
          <a:xfrm>
            <a:off x="365760" y="978408"/>
            <a:ext cx="8412480" cy="274320"/>
          </a:xfrm>
          <a:prstGeom prst="rect">
            <a:avLst/>
          </a:prstGeom>
          <a:noFill/>
          <a:ln/>
        </p:spPr>
        <p:txBody>
          <a:bodyPr wrap="square" rtlCol="0" anchor="ctr"/>
          <a:lstStyle/>
          <a:p>
            <a:pPr marL="0" indent="0">
              <a:buNone/>
            </a:pPr>
            <a:r>
              <a:rPr lang="en-US" sz="1200" dirty="0">
                <a:solidFill>
                  <a:srgbClr val="B0BBD0"/>
                </a:solidFill>
              </a:rPr>
              <a:t>日次・週次・月次の3層でパフォーマンスと身体の変化を追跡する</a:t>
            </a:r>
            <a:endParaRPr lang="en-US" sz="1200" dirty="0"/>
          </a:p>
        </p:txBody>
      </p:sp>
      <p:sp>
        <p:nvSpPr>
          <p:cNvPr id="5" name="Shape 3"/>
          <p:cNvSpPr/>
          <p:nvPr/>
        </p:nvSpPr>
        <p:spPr>
          <a:xfrm>
            <a:off x="365760" y="1371600"/>
            <a:ext cx="8412480" cy="22860"/>
          </a:xfrm>
          <a:prstGeom prst="rect">
            <a:avLst/>
          </a:prstGeom>
          <a:solidFill>
            <a:srgbClr val="1F2A45"/>
          </a:solidFill>
          <a:ln w="12700">
            <a:solidFill>
              <a:srgbClr val="1F2A45"/>
            </a:solidFill>
            <a:prstDash val="solid"/>
          </a:ln>
        </p:spPr>
      </p:sp>
      <p:sp>
        <p:nvSpPr>
          <p:cNvPr id="6" name="Shape 4"/>
          <p:cNvSpPr/>
          <p:nvPr/>
        </p:nvSpPr>
        <p:spPr>
          <a:xfrm>
            <a:off x="365760" y="1234440"/>
            <a:ext cx="2743200" cy="3657600"/>
          </a:xfrm>
          <a:prstGeom prst="rect">
            <a:avLst/>
          </a:prstGeom>
          <a:solidFill>
            <a:srgbClr val="141929"/>
          </a:solidFill>
          <a:ln w="6350">
            <a:solidFill>
              <a:srgbClr val="1F2A45"/>
            </a:solidFill>
            <a:prstDash val="solid"/>
          </a:ln>
          <a:effectLst>
            <a:outerShdw blurRad="101600" dist="25400" dir="8100000" algn="bl" rotWithShape="0">
              <a:srgbClr val="000000">
                <a:alpha val="25000"/>
              </a:srgbClr>
            </a:outerShdw>
          </a:effectLst>
        </p:spPr>
      </p:sp>
      <p:sp>
        <p:nvSpPr>
          <p:cNvPr id="7" name="Shape 5"/>
          <p:cNvSpPr/>
          <p:nvPr/>
        </p:nvSpPr>
        <p:spPr>
          <a:xfrm>
            <a:off x="365760" y="1234440"/>
            <a:ext cx="45720" cy="3657600"/>
          </a:xfrm>
          <a:prstGeom prst="rect">
            <a:avLst/>
          </a:prstGeom>
          <a:solidFill>
            <a:srgbClr val="00D4C8"/>
          </a:solidFill>
          <a:ln w="12700">
            <a:solidFill>
              <a:srgbClr val="00D4C8"/>
            </a:solidFill>
            <a:prstDash val="solid"/>
          </a:ln>
        </p:spPr>
      </p:sp>
      <p:sp>
        <p:nvSpPr>
          <p:cNvPr id="8" name="Shape 6"/>
          <p:cNvSpPr/>
          <p:nvPr/>
        </p:nvSpPr>
        <p:spPr>
          <a:xfrm>
            <a:off x="365760" y="1234440"/>
            <a:ext cx="2743200" cy="685800"/>
          </a:xfrm>
          <a:prstGeom prst="rect">
            <a:avLst/>
          </a:prstGeom>
          <a:solidFill>
            <a:srgbClr val="00D4C8">
              <a:alpha val="20000"/>
            </a:srgbClr>
          </a:solidFill>
          <a:ln w="12700">
            <a:solidFill>
              <a:srgbClr val="1F2A45"/>
            </a:solidFill>
            <a:prstDash val="solid"/>
          </a:ln>
        </p:spPr>
      </p:sp>
      <p:sp>
        <p:nvSpPr>
          <p:cNvPr id="9" name="Text 7"/>
          <p:cNvSpPr/>
          <p:nvPr/>
        </p:nvSpPr>
        <p:spPr>
          <a:xfrm>
            <a:off x="475488" y="1261872"/>
            <a:ext cx="2560320" cy="347472"/>
          </a:xfrm>
          <a:prstGeom prst="rect">
            <a:avLst/>
          </a:prstGeom>
          <a:noFill/>
          <a:ln/>
        </p:spPr>
        <p:txBody>
          <a:bodyPr wrap="square" rtlCol="0" anchor="ctr"/>
          <a:lstStyle/>
          <a:p>
            <a:pPr marL="0" indent="0">
              <a:buNone/>
            </a:pPr>
            <a:r>
              <a:rPr lang="en-US" sz="1500" b="1" dirty="0">
                <a:solidFill>
                  <a:srgbClr val="00D4C8"/>
                </a:solidFill>
              </a:rPr>
              <a:t>📅  日次</a:t>
            </a:r>
            <a:endParaRPr lang="en-US" sz="1500" dirty="0"/>
          </a:p>
        </p:txBody>
      </p:sp>
      <p:sp>
        <p:nvSpPr>
          <p:cNvPr id="10" name="Text 8"/>
          <p:cNvSpPr/>
          <p:nvPr/>
        </p:nvSpPr>
        <p:spPr>
          <a:xfrm>
            <a:off x="475488" y="1609344"/>
            <a:ext cx="2560320" cy="237744"/>
          </a:xfrm>
          <a:prstGeom prst="rect">
            <a:avLst/>
          </a:prstGeom>
          <a:noFill/>
          <a:ln/>
        </p:spPr>
        <p:txBody>
          <a:bodyPr wrap="square" rtlCol="0" anchor="ctr"/>
          <a:lstStyle/>
          <a:p>
            <a:pPr marL="0" indent="0">
              <a:buNone/>
            </a:pPr>
            <a:r>
              <a:rPr lang="en-US" sz="900" kern="0" spc="100" dirty="0">
                <a:solidFill>
                  <a:srgbClr val="B0BBD0"/>
                </a:solidFill>
              </a:rPr>
              <a:t>Daily</a:t>
            </a:r>
            <a:endParaRPr lang="en-US" sz="900" dirty="0"/>
          </a:p>
        </p:txBody>
      </p:sp>
      <p:sp>
        <p:nvSpPr>
          <p:cNvPr id="11" name="Shape 9"/>
          <p:cNvSpPr/>
          <p:nvPr/>
        </p:nvSpPr>
        <p:spPr>
          <a:xfrm>
            <a:off x="438912" y="2011680"/>
            <a:ext cx="36576" cy="658368"/>
          </a:xfrm>
          <a:prstGeom prst="rect">
            <a:avLst/>
          </a:prstGeom>
          <a:solidFill>
            <a:srgbClr val="00D4C8"/>
          </a:solidFill>
          <a:ln w="12700">
            <a:solidFill>
              <a:srgbClr val="00D4C8"/>
            </a:solidFill>
            <a:prstDash val="solid"/>
          </a:ln>
        </p:spPr>
      </p:sp>
      <p:sp>
        <p:nvSpPr>
          <p:cNvPr id="12" name="Text 10"/>
          <p:cNvSpPr/>
          <p:nvPr/>
        </p:nvSpPr>
        <p:spPr>
          <a:xfrm>
            <a:off x="548640" y="2011680"/>
            <a:ext cx="2468880" cy="274320"/>
          </a:xfrm>
          <a:prstGeom prst="rect">
            <a:avLst/>
          </a:prstGeom>
          <a:noFill/>
          <a:ln/>
        </p:spPr>
        <p:txBody>
          <a:bodyPr wrap="square" rtlCol="0" anchor="ctr"/>
          <a:lstStyle/>
          <a:p>
            <a:pPr marL="0" indent="0">
              <a:buNone/>
            </a:pPr>
            <a:r>
              <a:rPr lang="en-US" sz="1000" b="1" dirty="0">
                <a:solidFill>
                  <a:srgbClr val="FFFFFF"/>
                </a:solidFill>
              </a:rPr>
              <a:t>Gemini栄養チャット</a:t>
            </a:r>
            <a:endParaRPr lang="en-US" sz="1000" dirty="0"/>
          </a:p>
        </p:txBody>
      </p:sp>
      <p:sp>
        <p:nvSpPr>
          <p:cNvPr id="13" name="Text 11"/>
          <p:cNvSpPr/>
          <p:nvPr/>
        </p:nvSpPr>
        <p:spPr>
          <a:xfrm>
            <a:off x="548640" y="2304288"/>
            <a:ext cx="2468880" cy="530352"/>
          </a:xfrm>
          <a:prstGeom prst="rect">
            <a:avLst/>
          </a:prstGeom>
          <a:noFill/>
          <a:ln/>
        </p:spPr>
        <p:txBody>
          <a:bodyPr wrap="square" rtlCol="0" anchor="ctr"/>
          <a:lstStyle/>
          <a:p>
            <a:pPr marL="0" indent="0">
              <a:buNone/>
            </a:pPr>
            <a:r>
              <a:rPr lang="en-US" sz="850" dirty="0">
                <a:solidFill>
                  <a:srgbClr val="B0BBD0"/>
                </a:solidFill>
              </a:rPr>
              <a:t>食事写真を送りその場でPFCバランスとアドバイスを取得</a:t>
            </a:r>
            <a:endParaRPr lang="en-US" sz="850" dirty="0"/>
          </a:p>
        </p:txBody>
      </p:sp>
      <p:sp>
        <p:nvSpPr>
          <p:cNvPr id="14" name="Shape 12"/>
          <p:cNvSpPr/>
          <p:nvPr/>
        </p:nvSpPr>
        <p:spPr>
          <a:xfrm>
            <a:off x="438912" y="2907792"/>
            <a:ext cx="36576" cy="658368"/>
          </a:xfrm>
          <a:prstGeom prst="rect">
            <a:avLst/>
          </a:prstGeom>
          <a:solidFill>
            <a:srgbClr val="00D4C8"/>
          </a:solidFill>
          <a:ln w="12700">
            <a:solidFill>
              <a:srgbClr val="00D4C8"/>
            </a:solidFill>
            <a:prstDash val="solid"/>
          </a:ln>
        </p:spPr>
      </p:sp>
      <p:sp>
        <p:nvSpPr>
          <p:cNvPr id="15" name="Text 13"/>
          <p:cNvSpPr/>
          <p:nvPr/>
        </p:nvSpPr>
        <p:spPr>
          <a:xfrm>
            <a:off x="548640" y="2907792"/>
            <a:ext cx="2468880" cy="274320"/>
          </a:xfrm>
          <a:prstGeom prst="rect">
            <a:avLst/>
          </a:prstGeom>
          <a:noFill/>
          <a:ln/>
        </p:spPr>
        <p:txBody>
          <a:bodyPr wrap="square" rtlCol="0" anchor="ctr"/>
          <a:lstStyle/>
          <a:p>
            <a:pPr marL="0" indent="0">
              <a:buNone/>
            </a:pPr>
            <a:r>
              <a:rPr lang="en-US" sz="1000" b="1" dirty="0">
                <a:solidFill>
                  <a:srgbClr val="FFFFFF"/>
                </a:solidFill>
              </a:rPr>
              <a:t>Apple Watch 自動同期</a:t>
            </a:r>
            <a:endParaRPr lang="en-US" sz="1000" dirty="0"/>
          </a:p>
        </p:txBody>
      </p:sp>
      <p:sp>
        <p:nvSpPr>
          <p:cNvPr id="16" name="Text 14"/>
          <p:cNvSpPr/>
          <p:nvPr/>
        </p:nvSpPr>
        <p:spPr>
          <a:xfrm>
            <a:off x="548640" y="3200400"/>
            <a:ext cx="2468880" cy="530352"/>
          </a:xfrm>
          <a:prstGeom prst="rect">
            <a:avLst/>
          </a:prstGeom>
          <a:noFill/>
          <a:ln/>
        </p:spPr>
        <p:txBody>
          <a:bodyPr wrap="square" rtlCol="0" anchor="ctr"/>
          <a:lstStyle/>
          <a:p>
            <a:pPr marL="0" indent="0">
              <a:buNone/>
            </a:pPr>
            <a:r>
              <a:rPr lang="en-US" sz="850" dirty="0">
                <a:solidFill>
                  <a:srgbClr val="B0BBD0"/>
                </a:solidFill>
              </a:rPr>
              <a:t>HRV・RHR・睡眠データが毎朝8:00に自動収集</a:t>
            </a:r>
            <a:endParaRPr lang="en-US" sz="850" dirty="0"/>
          </a:p>
        </p:txBody>
      </p:sp>
      <p:sp>
        <p:nvSpPr>
          <p:cNvPr id="17" name="Shape 15"/>
          <p:cNvSpPr/>
          <p:nvPr/>
        </p:nvSpPr>
        <p:spPr>
          <a:xfrm>
            <a:off x="438912" y="3803904"/>
            <a:ext cx="36576" cy="658368"/>
          </a:xfrm>
          <a:prstGeom prst="rect">
            <a:avLst/>
          </a:prstGeom>
          <a:solidFill>
            <a:srgbClr val="00D4C8"/>
          </a:solidFill>
          <a:ln w="12700">
            <a:solidFill>
              <a:srgbClr val="00D4C8"/>
            </a:solidFill>
            <a:prstDash val="solid"/>
          </a:ln>
        </p:spPr>
      </p:sp>
      <p:sp>
        <p:nvSpPr>
          <p:cNvPr id="18" name="Text 16"/>
          <p:cNvSpPr/>
          <p:nvPr/>
        </p:nvSpPr>
        <p:spPr>
          <a:xfrm>
            <a:off x="548640" y="3803904"/>
            <a:ext cx="2468880" cy="274320"/>
          </a:xfrm>
          <a:prstGeom prst="rect">
            <a:avLst/>
          </a:prstGeom>
          <a:noFill/>
          <a:ln/>
        </p:spPr>
        <p:txBody>
          <a:bodyPr wrap="square" rtlCol="0" anchor="ctr"/>
          <a:lstStyle/>
          <a:p>
            <a:pPr marL="0" indent="0">
              <a:buNone/>
            </a:pPr>
            <a:r>
              <a:rPr lang="en-US" sz="1000" b="1" dirty="0">
                <a:solidFill>
                  <a:srgbClr val="FFFFFF"/>
                </a:solidFill>
              </a:rPr>
              <a:t>Googleフォーム記録</a:t>
            </a:r>
            <a:endParaRPr lang="en-US" sz="1000" dirty="0"/>
          </a:p>
        </p:txBody>
      </p:sp>
      <p:sp>
        <p:nvSpPr>
          <p:cNvPr id="19" name="Text 17"/>
          <p:cNvSpPr/>
          <p:nvPr/>
        </p:nvSpPr>
        <p:spPr>
          <a:xfrm>
            <a:off x="548640" y="4096512"/>
            <a:ext cx="2468880" cy="530352"/>
          </a:xfrm>
          <a:prstGeom prst="rect">
            <a:avLst/>
          </a:prstGeom>
          <a:noFill/>
          <a:ln/>
        </p:spPr>
        <p:txBody>
          <a:bodyPr wrap="square" rtlCol="0" anchor="ctr"/>
          <a:lstStyle/>
          <a:p>
            <a:pPr marL="0" indent="0">
              <a:buNone/>
            </a:pPr>
            <a:r>
              <a:rPr lang="en-US" sz="850" dirty="0">
                <a:solidFill>
                  <a:srgbClr val="B0BBD0"/>
                </a:solidFill>
              </a:rPr>
              <a:t>朝フォーム（5〜7分）+ 夜フォーム（1分）</a:t>
            </a:r>
            <a:endParaRPr lang="en-US" sz="850" dirty="0"/>
          </a:p>
        </p:txBody>
      </p:sp>
      <p:sp>
        <p:nvSpPr>
          <p:cNvPr id="20" name="Shape 18"/>
          <p:cNvSpPr/>
          <p:nvPr/>
        </p:nvSpPr>
        <p:spPr>
          <a:xfrm>
            <a:off x="3246120" y="1234440"/>
            <a:ext cx="2743200" cy="3657600"/>
          </a:xfrm>
          <a:prstGeom prst="rect">
            <a:avLst/>
          </a:prstGeom>
          <a:solidFill>
            <a:srgbClr val="141929"/>
          </a:solidFill>
          <a:ln w="6350">
            <a:solidFill>
              <a:srgbClr val="1F2A45"/>
            </a:solidFill>
            <a:prstDash val="solid"/>
          </a:ln>
          <a:effectLst>
            <a:outerShdw blurRad="101600" dist="25400" dir="8100000" algn="bl" rotWithShape="0">
              <a:srgbClr val="000000">
                <a:alpha val="25000"/>
              </a:srgbClr>
            </a:outerShdw>
          </a:effectLst>
        </p:spPr>
      </p:sp>
      <p:sp>
        <p:nvSpPr>
          <p:cNvPr id="21" name="Shape 19"/>
          <p:cNvSpPr/>
          <p:nvPr/>
        </p:nvSpPr>
        <p:spPr>
          <a:xfrm>
            <a:off x="3246120" y="1234440"/>
            <a:ext cx="45720" cy="3657600"/>
          </a:xfrm>
          <a:prstGeom prst="rect">
            <a:avLst/>
          </a:prstGeom>
          <a:solidFill>
            <a:srgbClr val="F5C842"/>
          </a:solidFill>
          <a:ln w="12700">
            <a:solidFill>
              <a:srgbClr val="F5C842"/>
            </a:solidFill>
            <a:prstDash val="solid"/>
          </a:ln>
        </p:spPr>
      </p:sp>
      <p:sp>
        <p:nvSpPr>
          <p:cNvPr id="22" name="Shape 20"/>
          <p:cNvSpPr/>
          <p:nvPr/>
        </p:nvSpPr>
        <p:spPr>
          <a:xfrm>
            <a:off x="3246120" y="1234440"/>
            <a:ext cx="2743200" cy="685800"/>
          </a:xfrm>
          <a:prstGeom prst="rect">
            <a:avLst/>
          </a:prstGeom>
          <a:solidFill>
            <a:srgbClr val="F5C842">
              <a:alpha val="20000"/>
            </a:srgbClr>
          </a:solidFill>
          <a:ln w="12700">
            <a:solidFill>
              <a:srgbClr val="1F2A45"/>
            </a:solidFill>
            <a:prstDash val="solid"/>
          </a:ln>
        </p:spPr>
      </p:sp>
      <p:sp>
        <p:nvSpPr>
          <p:cNvPr id="23" name="Text 21"/>
          <p:cNvSpPr/>
          <p:nvPr/>
        </p:nvSpPr>
        <p:spPr>
          <a:xfrm>
            <a:off x="3355848" y="1261872"/>
            <a:ext cx="2560320" cy="347472"/>
          </a:xfrm>
          <a:prstGeom prst="rect">
            <a:avLst/>
          </a:prstGeom>
          <a:noFill/>
          <a:ln/>
        </p:spPr>
        <p:txBody>
          <a:bodyPr wrap="square" rtlCol="0" anchor="ctr"/>
          <a:lstStyle/>
          <a:p>
            <a:pPr marL="0" indent="0">
              <a:buNone/>
            </a:pPr>
            <a:r>
              <a:rPr lang="en-US" sz="1500" b="1" dirty="0">
                <a:solidFill>
                  <a:srgbClr val="F5C842"/>
                </a:solidFill>
              </a:rPr>
              <a:t>📆  週次</a:t>
            </a:r>
            <a:endParaRPr lang="en-US" sz="1500" dirty="0"/>
          </a:p>
        </p:txBody>
      </p:sp>
      <p:sp>
        <p:nvSpPr>
          <p:cNvPr id="24" name="Text 22"/>
          <p:cNvSpPr/>
          <p:nvPr/>
        </p:nvSpPr>
        <p:spPr>
          <a:xfrm>
            <a:off x="3355848" y="1609344"/>
            <a:ext cx="2560320" cy="237744"/>
          </a:xfrm>
          <a:prstGeom prst="rect">
            <a:avLst/>
          </a:prstGeom>
          <a:noFill/>
          <a:ln/>
        </p:spPr>
        <p:txBody>
          <a:bodyPr wrap="square" rtlCol="0" anchor="ctr"/>
          <a:lstStyle/>
          <a:p>
            <a:pPr marL="0" indent="0">
              <a:buNone/>
            </a:pPr>
            <a:r>
              <a:rPr lang="en-US" sz="900" kern="0" spc="100" dirty="0">
                <a:solidFill>
                  <a:srgbClr val="B0BBD0"/>
                </a:solidFill>
              </a:rPr>
              <a:t>Weekly（毎週日曜）</a:t>
            </a:r>
            <a:endParaRPr lang="en-US" sz="900" dirty="0"/>
          </a:p>
        </p:txBody>
      </p:sp>
      <p:sp>
        <p:nvSpPr>
          <p:cNvPr id="25" name="Shape 23"/>
          <p:cNvSpPr/>
          <p:nvPr/>
        </p:nvSpPr>
        <p:spPr>
          <a:xfrm>
            <a:off x="3319272" y="2011680"/>
            <a:ext cx="36576" cy="658368"/>
          </a:xfrm>
          <a:prstGeom prst="rect">
            <a:avLst/>
          </a:prstGeom>
          <a:solidFill>
            <a:srgbClr val="F5C842"/>
          </a:solidFill>
          <a:ln w="12700">
            <a:solidFill>
              <a:srgbClr val="F5C842"/>
            </a:solidFill>
            <a:prstDash val="solid"/>
          </a:ln>
        </p:spPr>
      </p:sp>
      <p:sp>
        <p:nvSpPr>
          <p:cNvPr id="26" name="Text 24"/>
          <p:cNvSpPr/>
          <p:nvPr/>
        </p:nvSpPr>
        <p:spPr>
          <a:xfrm>
            <a:off x="3429000" y="2011680"/>
            <a:ext cx="2468880" cy="274320"/>
          </a:xfrm>
          <a:prstGeom prst="rect">
            <a:avLst/>
          </a:prstGeom>
          <a:noFill/>
          <a:ln/>
        </p:spPr>
        <p:txBody>
          <a:bodyPr wrap="square" rtlCol="0" anchor="ctr"/>
          <a:lstStyle/>
          <a:p>
            <a:pPr marL="0" indent="0">
              <a:buNone/>
            </a:pPr>
            <a:r>
              <a:rPr lang="en-US" sz="1000" b="1" dirty="0">
                <a:solidFill>
                  <a:srgbClr val="FFFFFF"/>
                </a:solidFill>
              </a:rPr>
              <a:t>10分ランvs HRV/VO2 Max</a:t>
            </a:r>
            <a:endParaRPr lang="en-US" sz="1000" dirty="0"/>
          </a:p>
        </p:txBody>
      </p:sp>
      <p:sp>
        <p:nvSpPr>
          <p:cNvPr id="27" name="Text 25"/>
          <p:cNvSpPr/>
          <p:nvPr/>
        </p:nvSpPr>
        <p:spPr>
          <a:xfrm>
            <a:off x="3429000" y="2304288"/>
            <a:ext cx="2468880" cy="530352"/>
          </a:xfrm>
          <a:prstGeom prst="rect">
            <a:avLst/>
          </a:prstGeom>
          <a:noFill/>
          <a:ln/>
        </p:spPr>
        <p:txBody>
          <a:bodyPr wrap="square" rtlCol="0" anchor="ctr"/>
          <a:lstStyle/>
          <a:p>
            <a:pPr marL="0" indent="0">
              <a:buNone/>
            </a:pPr>
            <a:r>
              <a:rPr lang="en-US" sz="850" dirty="0">
                <a:solidFill>
                  <a:srgbClr val="B0BBD0"/>
                </a:solidFill>
              </a:rPr>
              <a:t>「週2回の最大出力」と「自律神経回復状態」の相関を確認</a:t>
            </a:r>
            <a:endParaRPr lang="en-US" sz="850" dirty="0"/>
          </a:p>
        </p:txBody>
      </p:sp>
      <p:sp>
        <p:nvSpPr>
          <p:cNvPr id="28" name="Shape 26"/>
          <p:cNvSpPr/>
          <p:nvPr/>
        </p:nvSpPr>
        <p:spPr>
          <a:xfrm>
            <a:off x="3319272" y="2907792"/>
            <a:ext cx="36576" cy="658368"/>
          </a:xfrm>
          <a:prstGeom prst="rect">
            <a:avLst/>
          </a:prstGeom>
          <a:solidFill>
            <a:srgbClr val="F5C842"/>
          </a:solidFill>
          <a:ln w="12700">
            <a:solidFill>
              <a:srgbClr val="F5C842"/>
            </a:solidFill>
            <a:prstDash val="solid"/>
          </a:ln>
        </p:spPr>
      </p:sp>
      <p:sp>
        <p:nvSpPr>
          <p:cNvPr id="29" name="Text 27"/>
          <p:cNvSpPr/>
          <p:nvPr/>
        </p:nvSpPr>
        <p:spPr>
          <a:xfrm>
            <a:off x="3429000" y="2907792"/>
            <a:ext cx="2468880" cy="274320"/>
          </a:xfrm>
          <a:prstGeom prst="rect">
            <a:avLst/>
          </a:prstGeom>
          <a:noFill/>
          <a:ln/>
        </p:spPr>
        <p:txBody>
          <a:bodyPr wrap="square" rtlCol="0" anchor="ctr"/>
          <a:lstStyle/>
          <a:p>
            <a:pPr marL="0" indent="0">
              <a:buNone/>
            </a:pPr>
            <a:r>
              <a:rPr lang="en-US" sz="1000" b="1" dirty="0">
                <a:solidFill>
                  <a:srgbClr val="FFFFFF"/>
                </a:solidFill>
              </a:rPr>
              <a:t>プッシュアップvs 睡眠・酒</a:t>
            </a:r>
            <a:endParaRPr lang="en-US" sz="1000" dirty="0"/>
          </a:p>
        </p:txBody>
      </p:sp>
      <p:sp>
        <p:nvSpPr>
          <p:cNvPr id="30" name="Text 28"/>
          <p:cNvSpPr/>
          <p:nvPr/>
        </p:nvSpPr>
        <p:spPr>
          <a:xfrm>
            <a:off x="3429000" y="3200400"/>
            <a:ext cx="2468880" cy="530352"/>
          </a:xfrm>
          <a:prstGeom prst="rect">
            <a:avLst/>
          </a:prstGeom>
          <a:noFill/>
          <a:ln/>
        </p:spPr>
        <p:txBody>
          <a:bodyPr wrap="square" rtlCol="0" anchor="ctr"/>
          <a:lstStyle/>
          <a:p>
            <a:pPr marL="0" indent="0">
              <a:buNone/>
            </a:pPr>
            <a:r>
              <a:rPr lang="en-US" sz="850" dirty="0">
                <a:solidFill>
                  <a:srgbClr val="B0BBD0"/>
                </a:solidFill>
              </a:rPr>
              <a:t>「筋持久力」と「睡眠の質・アルコール摂取量」の相関を確認</a:t>
            </a:r>
            <a:endParaRPr lang="en-US" sz="850" dirty="0"/>
          </a:p>
        </p:txBody>
      </p:sp>
      <p:sp>
        <p:nvSpPr>
          <p:cNvPr id="31" name="Shape 29"/>
          <p:cNvSpPr/>
          <p:nvPr/>
        </p:nvSpPr>
        <p:spPr>
          <a:xfrm>
            <a:off x="3319272" y="3803904"/>
            <a:ext cx="36576" cy="658368"/>
          </a:xfrm>
          <a:prstGeom prst="rect">
            <a:avLst/>
          </a:prstGeom>
          <a:solidFill>
            <a:srgbClr val="F5C842"/>
          </a:solidFill>
          <a:ln w="12700">
            <a:solidFill>
              <a:srgbClr val="F5C842"/>
            </a:solidFill>
            <a:prstDash val="solid"/>
          </a:ln>
        </p:spPr>
      </p:sp>
      <p:sp>
        <p:nvSpPr>
          <p:cNvPr id="32" name="Text 30"/>
          <p:cNvSpPr/>
          <p:nvPr/>
        </p:nvSpPr>
        <p:spPr>
          <a:xfrm>
            <a:off x="3429000" y="3803904"/>
            <a:ext cx="2468880" cy="274320"/>
          </a:xfrm>
          <a:prstGeom prst="rect">
            <a:avLst/>
          </a:prstGeom>
          <a:noFill/>
          <a:ln/>
        </p:spPr>
        <p:txBody>
          <a:bodyPr wrap="square" rtlCol="0" anchor="ctr"/>
          <a:lstStyle/>
          <a:p>
            <a:pPr marL="0" indent="0">
              <a:buNone/>
            </a:pPr>
            <a:r>
              <a:rPr lang="en-US" sz="1000" b="1" dirty="0">
                <a:solidFill>
                  <a:srgbClr val="FFFFFF"/>
                </a:solidFill>
              </a:rPr>
              <a:t>週次スプレッドシート整理</a:t>
            </a:r>
            <a:endParaRPr lang="en-US" sz="1000" dirty="0"/>
          </a:p>
        </p:txBody>
      </p:sp>
      <p:sp>
        <p:nvSpPr>
          <p:cNvPr id="33" name="Text 31"/>
          <p:cNvSpPr/>
          <p:nvPr/>
        </p:nvSpPr>
        <p:spPr>
          <a:xfrm>
            <a:off x="3429000" y="4096512"/>
            <a:ext cx="2468880" cy="530352"/>
          </a:xfrm>
          <a:prstGeom prst="rect">
            <a:avLst/>
          </a:prstGeom>
          <a:noFill/>
          <a:ln/>
        </p:spPr>
        <p:txBody>
          <a:bodyPr wrap="square" rtlCol="0" anchor="ctr"/>
          <a:lstStyle/>
          <a:p>
            <a:pPr marL="0" indent="0">
              <a:buNone/>
            </a:pPr>
            <a:r>
              <a:rPr lang="en-US" sz="850" dirty="0">
                <a:solidFill>
                  <a:srgbClr val="B0BBD0"/>
                </a:solidFill>
              </a:rPr>
              <a:t>Google Sheetsで各指標のトレンドと異常値を視認</a:t>
            </a:r>
            <a:endParaRPr lang="en-US" sz="850" dirty="0"/>
          </a:p>
        </p:txBody>
      </p:sp>
      <p:sp>
        <p:nvSpPr>
          <p:cNvPr id="34" name="Shape 32"/>
          <p:cNvSpPr/>
          <p:nvPr/>
        </p:nvSpPr>
        <p:spPr>
          <a:xfrm>
            <a:off x="6126480" y="1234440"/>
            <a:ext cx="2743200" cy="3657600"/>
          </a:xfrm>
          <a:prstGeom prst="rect">
            <a:avLst/>
          </a:prstGeom>
          <a:solidFill>
            <a:srgbClr val="141929"/>
          </a:solidFill>
          <a:ln w="6350">
            <a:solidFill>
              <a:srgbClr val="1F2A45"/>
            </a:solidFill>
            <a:prstDash val="solid"/>
          </a:ln>
          <a:effectLst>
            <a:outerShdw blurRad="101600" dist="25400" dir="8100000" algn="bl" rotWithShape="0">
              <a:srgbClr val="000000">
                <a:alpha val="25000"/>
              </a:srgbClr>
            </a:outerShdw>
          </a:effectLst>
        </p:spPr>
      </p:sp>
      <p:sp>
        <p:nvSpPr>
          <p:cNvPr id="35" name="Shape 33"/>
          <p:cNvSpPr/>
          <p:nvPr/>
        </p:nvSpPr>
        <p:spPr>
          <a:xfrm>
            <a:off x="6126480" y="1234440"/>
            <a:ext cx="45720" cy="3657600"/>
          </a:xfrm>
          <a:prstGeom prst="rect">
            <a:avLst/>
          </a:prstGeom>
          <a:solidFill>
            <a:srgbClr val="F57C2E"/>
          </a:solidFill>
          <a:ln w="12700">
            <a:solidFill>
              <a:srgbClr val="F57C2E"/>
            </a:solidFill>
            <a:prstDash val="solid"/>
          </a:ln>
        </p:spPr>
      </p:sp>
      <p:sp>
        <p:nvSpPr>
          <p:cNvPr id="36" name="Shape 34"/>
          <p:cNvSpPr/>
          <p:nvPr/>
        </p:nvSpPr>
        <p:spPr>
          <a:xfrm>
            <a:off x="6126480" y="1234440"/>
            <a:ext cx="2743200" cy="685800"/>
          </a:xfrm>
          <a:prstGeom prst="rect">
            <a:avLst/>
          </a:prstGeom>
          <a:solidFill>
            <a:srgbClr val="F57C2E">
              <a:alpha val="20000"/>
            </a:srgbClr>
          </a:solidFill>
          <a:ln w="12700">
            <a:solidFill>
              <a:srgbClr val="1F2A45"/>
            </a:solidFill>
            <a:prstDash val="solid"/>
          </a:ln>
        </p:spPr>
      </p:sp>
      <p:sp>
        <p:nvSpPr>
          <p:cNvPr id="37" name="Text 35"/>
          <p:cNvSpPr/>
          <p:nvPr/>
        </p:nvSpPr>
        <p:spPr>
          <a:xfrm>
            <a:off x="6236208" y="1261872"/>
            <a:ext cx="2560320" cy="347472"/>
          </a:xfrm>
          <a:prstGeom prst="rect">
            <a:avLst/>
          </a:prstGeom>
          <a:noFill/>
          <a:ln/>
        </p:spPr>
        <p:txBody>
          <a:bodyPr wrap="square" rtlCol="0" anchor="ctr"/>
          <a:lstStyle/>
          <a:p>
            <a:pPr marL="0" indent="0">
              <a:buNone/>
            </a:pPr>
            <a:r>
              <a:rPr lang="en-US" sz="1500" b="1" dirty="0">
                <a:solidFill>
                  <a:srgbClr val="F57C2E"/>
                </a:solidFill>
              </a:rPr>
              <a:t>🗓️  月次</a:t>
            </a:r>
            <a:endParaRPr lang="en-US" sz="1500" dirty="0"/>
          </a:p>
        </p:txBody>
      </p:sp>
      <p:sp>
        <p:nvSpPr>
          <p:cNvPr id="38" name="Text 36"/>
          <p:cNvSpPr/>
          <p:nvPr/>
        </p:nvSpPr>
        <p:spPr>
          <a:xfrm>
            <a:off x="6236208" y="1609344"/>
            <a:ext cx="2560320" cy="237744"/>
          </a:xfrm>
          <a:prstGeom prst="rect">
            <a:avLst/>
          </a:prstGeom>
          <a:noFill/>
          <a:ln/>
        </p:spPr>
        <p:txBody>
          <a:bodyPr wrap="square" rtlCol="0" anchor="ctr"/>
          <a:lstStyle/>
          <a:p>
            <a:pPr marL="0" indent="0">
              <a:buNone/>
            </a:pPr>
            <a:r>
              <a:rPr lang="en-US" sz="900" kern="0" spc="100" dirty="0">
                <a:solidFill>
                  <a:srgbClr val="B0BBD0"/>
                </a:solidFill>
              </a:rPr>
              <a:t>Monthly</a:t>
            </a:r>
            <a:endParaRPr lang="en-US" sz="900" dirty="0"/>
          </a:p>
        </p:txBody>
      </p:sp>
      <p:sp>
        <p:nvSpPr>
          <p:cNvPr id="39" name="Shape 37"/>
          <p:cNvSpPr/>
          <p:nvPr/>
        </p:nvSpPr>
        <p:spPr>
          <a:xfrm>
            <a:off x="6199632" y="2011680"/>
            <a:ext cx="36576" cy="658368"/>
          </a:xfrm>
          <a:prstGeom prst="rect">
            <a:avLst/>
          </a:prstGeom>
          <a:solidFill>
            <a:srgbClr val="F57C2E"/>
          </a:solidFill>
          <a:ln w="12700">
            <a:solidFill>
              <a:srgbClr val="F57C2E"/>
            </a:solidFill>
            <a:prstDash val="solid"/>
          </a:ln>
        </p:spPr>
      </p:sp>
      <p:sp>
        <p:nvSpPr>
          <p:cNvPr id="40" name="Text 38"/>
          <p:cNvSpPr/>
          <p:nvPr/>
        </p:nvSpPr>
        <p:spPr>
          <a:xfrm>
            <a:off x="6309360" y="2011680"/>
            <a:ext cx="2468880" cy="274320"/>
          </a:xfrm>
          <a:prstGeom prst="rect">
            <a:avLst/>
          </a:prstGeom>
          <a:noFill/>
          <a:ln/>
        </p:spPr>
        <p:txBody>
          <a:bodyPr wrap="square" rtlCol="0" anchor="ctr"/>
          <a:lstStyle/>
          <a:p>
            <a:pPr marL="0" indent="0">
              <a:buNone/>
            </a:pPr>
            <a:r>
              <a:rPr lang="en-US" sz="1000" b="1" dirty="0">
                <a:solidFill>
                  <a:srgbClr val="FFFFFF"/>
                </a:solidFill>
              </a:rPr>
              <a:t>血液検査 / InBody 記録</a:t>
            </a:r>
            <a:endParaRPr lang="en-US" sz="1000" dirty="0"/>
          </a:p>
        </p:txBody>
      </p:sp>
      <p:sp>
        <p:nvSpPr>
          <p:cNvPr id="41" name="Text 39"/>
          <p:cNvSpPr/>
          <p:nvPr/>
        </p:nvSpPr>
        <p:spPr>
          <a:xfrm>
            <a:off x="6309360" y="2304288"/>
            <a:ext cx="2468880" cy="530352"/>
          </a:xfrm>
          <a:prstGeom prst="rect">
            <a:avLst/>
          </a:prstGeom>
          <a:noFill/>
          <a:ln/>
        </p:spPr>
        <p:txBody>
          <a:bodyPr wrap="square" rtlCol="0" anchor="ctr"/>
          <a:lstStyle/>
          <a:p>
            <a:pPr marL="0" indent="0">
              <a:buNone/>
            </a:pPr>
            <a:r>
              <a:rPr lang="en-US" sz="850" dirty="0">
                <a:solidFill>
                  <a:srgbClr val="B0BBD0"/>
                </a:solidFill>
              </a:rPr>
              <a:t>炎症(CRP)・ホルモン・体組成の変化を別タブに記録</a:t>
            </a:r>
            <a:endParaRPr lang="en-US" sz="850" dirty="0"/>
          </a:p>
        </p:txBody>
      </p:sp>
      <p:sp>
        <p:nvSpPr>
          <p:cNvPr id="42" name="Shape 40"/>
          <p:cNvSpPr/>
          <p:nvPr/>
        </p:nvSpPr>
        <p:spPr>
          <a:xfrm>
            <a:off x="6199632" y="2907792"/>
            <a:ext cx="36576" cy="658368"/>
          </a:xfrm>
          <a:prstGeom prst="rect">
            <a:avLst/>
          </a:prstGeom>
          <a:solidFill>
            <a:srgbClr val="F57C2E"/>
          </a:solidFill>
          <a:ln w="12700">
            <a:solidFill>
              <a:srgbClr val="F57C2E"/>
            </a:solidFill>
            <a:prstDash val="solid"/>
          </a:ln>
        </p:spPr>
      </p:sp>
      <p:sp>
        <p:nvSpPr>
          <p:cNvPr id="43" name="Text 41"/>
          <p:cNvSpPr/>
          <p:nvPr/>
        </p:nvSpPr>
        <p:spPr>
          <a:xfrm>
            <a:off x="6309360" y="2907792"/>
            <a:ext cx="2468880" cy="274320"/>
          </a:xfrm>
          <a:prstGeom prst="rect">
            <a:avLst/>
          </a:prstGeom>
          <a:noFill/>
          <a:ln/>
        </p:spPr>
        <p:txBody>
          <a:bodyPr wrap="square" rtlCol="0" anchor="ctr"/>
          <a:lstStyle/>
          <a:p>
            <a:pPr marL="0" indent="0">
              <a:buNone/>
            </a:pPr>
            <a:r>
              <a:rPr lang="en-US" sz="1000" b="1" dirty="0">
                <a:solidFill>
                  <a:srgbClr val="FFFFFF"/>
                </a:solidFill>
              </a:rPr>
              <a:t>月次レポート作成</a:t>
            </a:r>
            <a:endParaRPr lang="en-US" sz="1000" dirty="0"/>
          </a:p>
        </p:txBody>
      </p:sp>
      <p:sp>
        <p:nvSpPr>
          <p:cNvPr id="44" name="Text 42"/>
          <p:cNvSpPr/>
          <p:nvPr/>
        </p:nvSpPr>
        <p:spPr>
          <a:xfrm>
            <a:off x="6309360" y="3200400"/>
            <a:ext cx="2468880" cy="530352"/>
          </a:xfrm>
          <a:prstGeom prst="rect">
            <a:avLst/>
          </a:prstGeom>
          <a:noFill/>
          <a:ln/>
        </p:spPr>
        <p:txBody>
          <a:bodyPr wrap="square" rtlCol="0" anchor="ctr"/>
          <a:lstStyle/>
          <a:p>
            <a:pPr marL="0" indent="0">
              <a:buNone/>
            </a:pPr>
            <a:r>
              <a:rPr lang="en-US" sz="850" dirty="0">
                <a:solidFill>
                  <a:srgbClr val="B0BBD0"/>
                </a:solidFill>
              </a:rPr>
              <a:t>「なぜ今月はキレていた / 鈍かったか」を科学的に結論づける</a:t>
            </a:r>
            <a:endParaRPr lang="en-US" sz="850" dirty="0"/>
          </a:p>
        </p:txBody>
      </p:sp>
      <p:sp>
        <p:nvSpPr>
          <p:cNvPr id="45" name="Shape 43"/>
          <p:cNvSpPr/>
          <p:nvPr/>
        </p:nvSpPr>
        <p:spPr>
          <a:xfrm>
            <a:off x="6199632" y="3803904"/>
            <a:ext cx="36576" cy="658368"/>
          </a:xfrm>
          <a:prstGeom prst="rect">
            <a:avLst/>
          </a:prstGeom>
          <a:solidFill>
            <a:srgbClr val="F57C2E"/>
          </a:solidFill>
          <a:ln w="12700">
            <a:solidFill>
              <a:srgbClr val="F57C2E"/>
            </a:solidFill>
            <a:prstDash val="solid"/>
          </a:ln>
        </p:spPr>
      </p:sp>
      <p:sp>
        <p:nvSpPr>
          <p:cNvPr id="46" name="Text 44"/>
          <p:cNvSpPr/>
          <p:nvPr/>
        </p:nvSpPr>
        <p:spPr>
          <a:xfrm>
            <a:off x="6309360" y="3803904"/>
            <a:ext cx="2468880" cy="274320"/>
          </a:xfrm>
          <a:prstGeom prst="rect">
            <a:avLst/>
          </a:prstGeom>
          <a:noFill/>
          <a:ln/>
        </p:spPr>
        <p:txBody>
          <a:bodyPr wrap="square" rtlCol="0" anchor="ctr"/>
          <a:lstStyle/>
          <a:p>
            <a:pPr marL="0" indent="0">
              <a:buNone/>
            </a:pPr>
            <a:r>
              <a:rPr lang="en-US" sz="1000" b="1" dirty="0">
                <a:solidFill>
                  <a:srgbClr val="FFFFFF"/>
                </a:solidFill>
              </a:rPr>
              <a:t>ドクターへの提出</a:t>
            </a:r>
            <a:endParaRPr lang="en-US" sz="1000" dirty="0"/>
          </a:p>
        </p:txBody>
      </p:sp>
      <p:sp>
        <p:nvSpPr>
          <p:cNvPr id="47" name="Text 45"/>
          <p:cNvSpPr/>
          <p:nvPr/>
        </p:nvSpPr>
        <p:spPr>
          <a:xfrm>
            <a:off x="6309360" y="4096512"/>
            <a:ext cx="2468880" cy="530352"/>
          </a:xfrm>
          <a:prstGeom prst="rect">
            <a:avLst/>
          </a:prstGeom>
          <a:noFill/>
          <a:ln/>
        </p:spPr>
        <p:txBody>
          <a:bodyPr wrap="square" rtlCol="0" anchor="ctr"/>
          <a:lstStyle/>
          <a:p>
            <a:pPr marL="0" indent="0">
              <a:buNone/>
            </a:pPr>
            <a:r>
              <a:rPr lang="en-US" sz="850" dirty="0">
                <a:solidFill>
                  <a:srgbClr val="B0BBD0"/>
                </a:solidFill>
              </a:rPr>
              <a:t>平均パフォーマンス変化 + 血液データを医師にレビュー依頼</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0E1A"/>
        </a:solidFill>
        <a:effectLst/>
      </p:bgPr>
    </p:bg>
    <p:spTree>
      <p:nvGrpSpPr>
        <p:cNvPr id="1" name=""/>
        <p:cNvGrpSpPr/>
        <p:nvPr/>
      </p:nvGrpSpPr>
      <p:grpSpPr>
        <a:xfrm>
          <a:off x="0" y="0"/>
          <a:ext cx="0" cy="0"/>
          <a:chOff x="0" y="0"/>
          <a:chExt cx="0" cy="0"/>
        </a:xfrm>
      </p:grpSpPr>
      <p:sp>
        <p:nvSpPr>
          <p:cNvPr id="2" name="Text 0"/>
          <p:cNvSpPr/>
          <p:nvPr/>
        </p:nvSpPr>
        <p:spPr>
          <a:xfrm>
            <a:off x="365760" y="201168"/>
            <a:ext cx="8229600" cy="228600"/>
          </a:xfrm>
          <a:prstGeom prst="rect">
            <a:avLst/>
          </a:prstGeom>
          <a:noFill/>
          <a:ln/>
        </p:spPr>
        <p:txBody>
          <a:bodyPr wrap="square" rtlCol="0" anchor="ctr"/>
          <a:lstStyle/>
          <a:p>
            <a:pPr marL="0" indent="0">
              <a:buNone/>
            </a:pPr>
            <a:r>
              <a:rPr lang="en-US" sz="800" b="1" kern="0" spc="300" dirty="0">
                <a:solidFill>
                  <a:srgbClr val="00D4C8"/>
                </a:solidFill>
              </a:rPr>
              <a:t>HARD DATA  —  1〜2ヶ月に1回</a:t>
            </a:r>
            <a:endParaRPr lang="en-US" sz="800" dirty="0"/>
          </a:p>
        </p:txBody>
      </p:sp>
      <p:sp>
        <p:nvSpPr>
          <p:cNvPr id="3" name="Text 1"/>
          <p:cNvSpPr/>
          <p:nvPr/>
        </p:nvSpPr>
        <p:spPr>
          <a:xfrm>
            <a:off x="365760" y="475488"/>
            <a:ext cx="8412480" cy="548640"/>
          </a:xfrm>
          <a:prstGeom prst="rect">
            <a:avLst/>
          </a:prstGeom>
          <a:noFill/>
          <a:ln/>
        </p:spPr>
        <p:txBody>
          <a:bodyPr wrap="square" rtlCol="0" anchor="ctr"/>
          <a:lstStyle/>
          <a:p>
            <a:pPr marL="0" indent="0">
              <a:buNone/>
            </a:pPr>
            <a:r>
              <a:rPr lang="en-US" sz="2800" b="1" dirty="0">
                <a:solidFill>
                  <a:srgbClr val="FFFFFF"/>
                </a:solidFill>
              </a:rPr>
              <a:t>定期検診：ハードデータの計測</a:t>
            </a:r>
            <a:endParaRPr lang="en-US" sz="2800" dirty="0"/>
          </a:p>
        </p:txBody>
      </p:sp>
      <p:sp>
        <p:nvSpPr>
          <p:cNvPr id="4" name="Text 2"/>
          <p:cNvSpPr/>
          <p:nvPr/>
        </p:nvSpPr>
        <p:spPr>
          <a:xfrm>
            <a:off x="365760" y="978408"/>
            <a:ext cx="8412480" cy="274320"/>
          </a:xfrm>
          <a:prstGeom prst="rect">
            <a:avLst/>
          </a:prstGeom>
          <a:noFill/>
          <a:ln/>
        </p:spPr>
        <p:txBody>
          <a:bodyPr wrap="square" rtlCol="0" anchor="ctr"/>
          <a:lstStyle/>
          <a:p>
            <a:pPr marL="0" indent="0">
              <a:buNone/>
            </a:pPr>
            <a:r>
              <a:rPr lang="en-US" sz="1200" dirty="0">
                <a:solidFill>
                  <a:srgbClr val="B0BBD0"/>
                </a:solidFill>
              </a:rPr>
              <a:t>「長期的な土台の改善」を確認するための客観的指標</a:t>
            </a:r>
            <a:endParaRPr lang="en-US" sz="1200" dirty="0"/>
          </a:p>
        </p:txBody>
      </p:sp>
      <p:sp>
        <p:nvSpPr>
          <p:cNvPr id="5" name="Shape 3"/>
          <p:cNvSpPr/>
          <p:nvPr/>
        </p:nvSpPr>
        <p:spPr>
          <a:xfrm>
            <a:off x="365760" y="1371600"/>
            <a:ext cx="8412480" cy="22860"/>
          </a:xfrm>
          <a:prstGeom prst="rect">
            <a:avLst/>
          </a:prstGeom>
          <a:solidFill>
            <a:srgbClr val="1F2A45"/>
          </a:solidFill>
          <a:ln w="12700">
            <a:solidFill>
              <a:srgbClr val="1F2A45"/>
            </a:solidFill>
            <a:prstDash val="solid"/>
          </a:ln>
        </p:spPr>
      </p:sp>
      <p:sp>
        <p:nvSpPr>
          <p:cNvPr id="6" name="Shape 4"/>
          <p:cNvSpPr/>
          <p:nvPr/>
        </p:nvSpPr>
        <p:spPr>
          <a:xfrm>
            <a:off x="365760" y="1280160"/>
            <a:ext cx="4160520" cy="3520440"/>
          </a:xfrm>
          <a:prstGeom prst="rect">
            <a:avLst/>
          </a:prstGeom>
          <a:solidFill>
            <a:srgbClr val="141929"/>
          </a:solidFill>
          <a:ln w="6350">
            <a:solidFill>
              <a:srgbClr val="1F2A45"/>
            </a:solidFill>
            <a:prstDash val="solid"/>
          </a:ln>
          <a:effectLst>
            <a:outerShdw blurRad="101600" dist="25400" dir="8100000" algn="bl" rotWithShape="0">
              <a:srgbClr val="000000">
                <a:alpha val="25000"/>
              </a:srgbClr>
            </a:outerShdw>
          </a:effectLst>
        </p:spPr>
      </p:sp>
      <p:sp>
        <p:nvSpPr>
          <p:cNvPr id="7" name="Shape 5"/>
          <p:cNvSpPr/>
          <p:nvPr/>
        </p:nvSpPr>
        <p:spPr>
          <a:xfrm>
            <a:off x="365760" y="1280160"/>
            <a:ext cx="45720" cy="3520440"/>
          </a:xfrm>
          <a:prstGeom prst="rect">
            <a:avLst/>
          </a:prstGeom>
          <a:solidFill>
            <a:srgbClr val="F57C2E"/>
          </a:solidFill>
          <a:ln w="12700">
            <a:solidFill>
              <a:srgbClr val="F57C2E"/>
            </a:solidFill>
            <a:prstDash val="solid"/>
          </a:ln>
        </p:spPr>
      </p:sp>
      <p:sp>
        <p:nvSpPr>
          <p:cNvPr id="8" name="Text 6"/>
          <p:cNvSpPr/>
          <p:nvPr/>
        </p:nvSpPr>
        <p:spPr>
          <a:xfrm>
            <a:off x="502920" y="1371600"/>
            <a:ext cx="3840480" cy="320040"/>
          </a:xfrm>
          <a:prstGeom prst="rect">
            <a:avLst/>
          </a:prstGeom>
          <a:noFill/>
          <a:ln/>
        </p:spPr>
        <p:txBody>
          <a:bodyPr wrap="square" rtlCol="0" anchor="ctr"/>
          <a:lstStyle/>
          <a:p>
            <a:pPr marL="0" indent="0">
              <a:buNone/>
            </a:pPr>
            <a:r>
              <a:rPr lang="en-US" sz="1600" b="1" dirty="0">
                <a:solidFill>
                  <a:srgbClr val="F57C2E"/>
                </a:solidFill>
              </a:rPr>
              <a:t>🔬  血液検査</a:t>
            </a:r>
            <a:endParaRPr lang="en-US" sz="1600" dirty="0"/>
          </a:p>
        </p:txBody>
      </p:sp>
      <p:sp>
        <p:nvSpPr>
          <p:cNvPr id="9" name="Text 7"/>
          <p:cNvSpPr/>
          <p:nvPr/>
        </p:nvSpPr>
        <p:spPr>
          <a:xfrm>
            <a:off x="502920" y="1719072"/>
            <a:ext cx="3840480" cy="228600"/>
          </a:xfrm>
          <a:prstGeom prst="rect">
            <a:avLst/>
          </a:prstGeom>
          <a:noFill/>
          <a:ln/>
        </p:spPr>
        <p:txBody>
          <a:bodyPr wrap="square" rtlCol="0" anchor="ctr"/>
          <a:lstStyle/>
          <a:p>
            <a:pPr marL="0" indent="0">
              <a:buNone/>
            </a:pPr>
            <a:r>
              <a:rPr lang="en-US" sz="900" dirty="0">
                <a:solidFill>
                  <a:srgbClr val="7B8BAD"/>
                </a:solidFill>
              </a:rPr>
              <a:t>頻度：1〜2ヶ月に1回</a:t>
            </a:r>
            <a:endParaRPr lang="en-US" sz="900" dirty="0"/>
          </a:p>
        </p:txBody>
      </p:sp>
      <p:sp>
        <p:nvSpPr>
          <p:cNvPr id="10" name="Shape 8"/>
          <p:cNvSpPr/>
          <p:nvPr/>
        </p:nvSpPr>
        <p:spPr>
          <a:xfrm>
            <a:off x="502920" y="2029968"/>
            <a:ext cx="3840480" cy="566928"/>
          </a:xfrm>
          <a:prstGeom prst="rect">
            <a:avLst/>
          </a:prstGeom>
          <a:solidFill>
            <a:srgbClr val="0D1320"/>
          </a:solidFill>
          <a:ln w="6350">
            <a:solidFill>
              <a:srgbClr val="1F2A45"/>
            </a:solidFill>
            <a:prstDash val="solid"/>
          </a:ln>
        </p:spPr>
      </p:sp>
      <p:sp>
        <p:nvSpPr>
          <p:cNvPr id="11" name="Text 9"/>
          <p:cNvSpPr/>
          <p:nvPr/>
        </p:nvSpPr>
        <p:spPr>
          <a:xfrm>
            <a:off x="621792" y="2075688"/>
            <a:ext cx="3657600" cy="228600"/>
          </a:xfrm>
          <a:prstGeom prst="rect">
            <a:avLst/>
          </a:prstGeom>
          <a:noFill/>
          <a:ln/>
        </p:spPr>
        <p:txBody>
          <a:bodyPr wrap="square" rtlCol="0" anchor="ctr"/>
          <a:lstStyle/>
          <a:p>
            <a:pPr marL="0" indent="0">
              <a:buNone/>
            </a:pPr>
            <a:r>
              <a:rPr lang="en-US" sz="1000" b="1" dirty="0">
                <a:solidFill>
                  <a:srgbClr val="FFFFFF"/>
                </a:solidFill>
              </a:rPr>
              <a:t>炎症マーカー</a:t>
            </a:r>
            <a:endParaRPr lang="en-US" sz="1000" dirty="0"/>
          </a:p>
        </p:txBody>
      </p:sp>
      <p:sp>
        <p:nvSpPr>
          <p:cNvPr id="12" name="Text 10"/>
          <p:cNvSpPr/>
          <p:nvPr/>
        </p:nvSpPr>
        <p:spPr>
          <a:xfrm>
            <a:off x="621792" y="2304288"/>
            <a:ext cx="3657600" cy="228600"/>
          </a:xfrm>
          <a:prstGeom prst="rect">
            <a:avLst/>
          </a:prstGeom>
          <a:noFill/>
          <a:ln/>
        </p:spPr>
        <p:txBody>
          <a:bodyPr wrap="square" rtlCol="0" anchor="ctr"/>
          <a:lstStyle/>
          <a:p>
            <a:pPr marL="0" indent="0">
              <a:buNone/>
            </a:pPr>
            <a:r>
              <a:rPr lang="en-US" sz="850" dirty="0">
                <a:solidFill>
                  <a:srgbClr val="B0BBD0"/>
                </a:solidFill>
              </a:rPr>
              <a:t>CRP（C反応性タンパク）— 慢性炎症の有無</a:t>
            </a:r>
            <a:endParaRPr lang="en-US" sz="850" dirty="0"/>
          </a:p>
        </p:txBody>
      </p:sp>
      <p:sp>
        <p:nvSpPr>
          <p:cNvPr id="13" name="Shape 11"/>
          <p:cNvSpPr/>
          <p:nvPr/>
        </p:nvSpPr>
        <p:spPr>
          <a:xfrm>
            <a:off x="502920" y="2688336"/>
            <a:ext cx="3840480" cy="566928"/>
          </a:xfrm>
          <a:prstGeom prst="rect">
            <a:avLst/>
          </a:prstGeom>
          <a:solidFill>
            <a:srgbClr val="0D1320"/>
          </a:solidFill>
          <a:ln w="6350">
            <a:solidFill>
              <a:srgbClr val="1F2A45"/>
            </a:solidFill>
            <a:prstDash val="solid"/>
          </a:ln>
        </p:spPr>
      </p:sp>
      <p:sp>
        <p:nvSpPr>
          <p:cNvPr id="14" name="Text 12"/>
          <p:cNvSpPr/>
          <p:nvPr/>
        </p:nvSpPr>
        <p:spPr>
          <a:xfrm>
            <a:off x="621792" y="2734056"/>
            <a:ext cx="3657600" cy="228600"/>
          </a:xfrm>
          <a:prstGeom prst="rect">
            <a:avLst/>
          </a:prstGeom>
          <a:noFill/>
          <a:ln/>
        </p:spPr>
        <p:txBody>
          <a:bodyPr wrap="square" rtlCol="0" anchor="ctr"/>
          <a:lstStyle/>
          <a:p>
            <a:pPr marL="0" indent="0">
              <a:buNone/>
            </a:pPr>
            <a:r>
              <a:rPr lang="en-US" sz="1000" b="1" dirty="0">
                <a:solidFill>
                  <a:srgbClr val="FFFFFF"/>
                </a:solidFill>
              </a:rPr>
              <a:t>ホルモンバランス</a:t>
            </a:r>
            <a:endParaRPr lang="en-US" sz="1000" dirty="0"/>
          </a:p>
        </p:txBody>
      </p:sp>
      <p:sp>
        <p:nvSpPr>
          <p:cNvPr id="15" name="Text 13"/>
          <p:cNvSpPr/>
          <p:nvPr/>
        </p:nvSpPr>
        <p:spPr>
          <a:xfrm>
            <a:off x="621792" y="2962656"/>
            <a:ext cx="3657600" cy="228600"/>
          </a:xfrm>
          <a:prstGeom prst="rect">
            <a:avLst/>
          </a:prstGeom>
          <a:noFill/>
          <a:ln/>
        </p:spPr>
        <p:txBody>
          <a:bodyPr wrap="square" rtlCol="0" anchor="ctr"/>
          <a:lstStyle/>
          <a:p>
            <a:pPr marL="0" indent="0">
              <a:buNone/>
            </a:pPr>
            <a:r>
              <a:rPr lang="en-US" sz="850" dirty="0">
                <a:solidFill>
                  <a:srgbClr val="B0BBD0"/>
                </a:solidFill>
              </a:rPr>
              <a:t>テストステロン・コルチゾール — 回復と疲労のホルモン状態</a:t>
            </a:r>
            <a:endParaRPr lang="en-US" sz="850" dirty="0"/>
          </a:p>
        </p:txBody>
      </p:sp>
      <p:sp>
        <p:nvSpPr>
          <p:cNvPr id="16" name="Shape 14"/>
          <p:cNvSpPr/>
          <p:nvPr/>
        </p:nvSpPr>
        <p:spPr>
          <a:xfrm>
            <a:off x="502920" y="3346704"/>
            <a:ext cx="3840480" cy="566928"/>
          </a:xfrm>
          <a:prstGeom prst="rect">
            <a:avLst/>
          </a:prstGeom>
          <a:solidFill>
            <a:srgbClr val="0D1320"/>
          </a:solidFill>
          <a:ln w="6350">
            <a:solidFill>
              <a:srgbClr val="1F2A45"/>
            </a:solidFill>
            <a:prstDash val="solid"/>
          </a:ln>
        </p:spPr>
      </p:sp>
      <p:sp>
        <p:nvSpPr>
          <p:cNvPr id="17" name="Text 15"/>
          <p:cNvSpPr/>
          <p:nvPr/>
        </p:nvSpPr>
        <p:spPr>
          <a:xfrm>
            <a:off x="621792" y="3392424"/>
            <a:ext cx="3657600" cy="228600"/>
          </a:xfrm>
          <a:prstGeom prst="rect">
            <a:avLst/>
          </a:prstGeom>
          <a:noFill/>
          <a:ln/>
        </p:spPr>
        <p:txBody>
          <a:bodyPr wrap="square" rtlCol="0" anchor="ctr"/>
          <a:lstStyle/>
          <a:p>
            <a:pPr marL="0" indent="0">
              <a:buNone/>
            </a:pPr>
            <a:r>
              <a:rPr lang="en-US" sz="1000" b="1" dirty="0">
                <a:solidFill>
                  <a:srgbClr val="FFFFFF"/>
                </a:solidFill>
              </a:rPr>
              <a:t>ビタミン・ミネラル</a:t>
            </a:r>
            <a:endParaRPr lang="en-US" sz="1000" dirty="0"/>
          </a:p>
        </p:txBody>
      </p:sp>
      <p:sp>
        <p:nvSpPr>
          <p:cNvPr id="18" name="Text 16"/>
          <p:cNvSpPr/>
          <p:nvPr/>
        </p:nvSpPr>
        <p:spPr>
          <a:xfrm>
            <a:off x="621792" y="3621024"/>
            <a:ext cx="3657600" cy="228600"/>
          </a:xfrm>
          <a:prstGeom prst="rect">
            <a:avLst/>
          </a:prstGeom>
          <a:noFill/>
          <a:ln/>
        </p:spPr>
        <p:txBody>
          <a:bodyPr wrap="square" rtlCol="0" anchor="ctr"/>
          <a:lstStyle/>
          <a:p>
            <a:pPr marL="0" indent="0">
              <a:buNone/>
            </a:pPr>
            <a:r>
              <a:rPr lang="en-US" sz="850" dirty="0">
                <a:solidFill>
                  <a:srgbClr val="B0BBD0"/>
                </a:solidFill>
              </a:rPr>
              <a:t>D3・B12・鉄・マグネシウム — エネルギー代謝の基盤</a:t>
            </a:r>
            <a:endParaRPr lang="en-US" sz="850" dirty="0"/>
          </a:p>
        </p:txBody>
      </p:sp>
      <p:sp>
        <p:nvSpPr>
          <p:cNvPr id="19" name="Shape 17"/>
          <p:cNvSpPr/>
          <p:nvPr/>
        </p:nvSpPr>
        <p:spPr>
          <a:xfrm>
            <a:off x="502920" y="4005072"/>
            <a:ext cx="3840480" cy="566928"/>
          </a:xfrm>
          <a:prstGeom prst="rect">
            <a:avLst/>
          </a:prstGeom>
          <a:solidFill>
            <a:srgbClr val="0D1320"/>
          </a:solidFill>
          <a:ln w="6350">
            <a:solidFill>
              <a:srgbClr val="1F2A45"/>
            </a:solidFill>
            <a:prstDash val="solid"/>
          </a:ln>
        </p:spPr>
      </p:sp>
      <p:sp>
        <p:nvSpPr>
          <p:cNvPr id="20" name="Text 18"/>
          <p:cNvSpPr/>
          <p:nvPr/>
        </p:nvSpPr>
        <p:spPr>
          <a:xfrm>
            <a:off x="621792" y="4050792"/>
            <a:ext cx="3657600" cy="228600"/>
          </a:xfrm>
          <a:prstGeom prst="rect">
            <a:avLst/>
          </a:prstGeom>
          <a:noFill/>
          <a:ln/>
        </p:spPr>
        <p:txBody>
          <a:bodyPr wrap="square" rtlCol="0" anchor="ctr"/>
          <a:lstStyle/>
          <a:p>
            <a:pPr marL="0" indent="0">
              <a:buNone/>
            </a:pPr>
            <a:r>
              <a:rPr lang="en-US" sz="1000" b="1" dirty="0">
                <a:solidFill>
                  <a:srgbClr val="FFFFFF"/>
                </a:solidFill>
              </a:rPr>
              <a:t>血糖・脂質プロファイル</a:t>
            </a:r>
            <a:endParaRPr lang="en-US" sz="1000" dirty="0"/>
          </a:p>
        </p:txBody>
      </p:sp>
      <p:sp>
        <p:nvSpPr>
          <p:cNvPr id="21" name="Text 19"/>
          <p:cNvSpPr/>
          <p:nvPr/>
        </p:nvSpPr>
        <p:spPr>
          <a:xfrm>
            <a:off x="621792" y="4279392"/>
            <a:ext cx="3657600" cy="228600"/>
          </a:xfrm>
          <a:prstGeom prst="rect">
            <a:avLst/>
          </a:prstGeom>
          <a:noFill/>
          <a:ln/>
        </p:spPr>
        <p:txBody>
          <a:bodyPr wrap="square" rtlCol="0" anchor="ctr"/>
          <a:lstStyle/>
          <a:p>
            <a:pPr marL="0" indent="0">
              <a:buNone/>
            </a:pPr>
            <a:r>
              <a:rPr lang="en-US" sz="850" dirty="0">
                <a:solidFill>
                  <a:srgbClr val="B0BBD0"/>
                </a:solidFill>
              </a:rPr>
              <a:t>HbA1c・LDL/HDL — 長期的な代謝健康</a:t>
            </a:r>
            <a:endParaRPr lang="en-US" sz="850" dirty="0"/>
          </a:p>
        </p:txBody>
      </p:sp>
      <p:sp>
        <p:nvSpPr>
          <p:cNvPr id="22" name="Shape 20"/>
          <p:cNvSpPr/>
          <p:nvPr/>
        </p:nvSpPr>
        <p:spPr>
          <a:xfrm>
            <a:off x="4663440" y="1280160"/>
            <a:ext cx="4114800" cy="2423160"/>
          </a:xfrm>
          <a:prstGeom prst="rect">
            <a:avLst/>
          </a:prstGeom>
          <a:solidFill>
            <a:srgbClr val="141929"/>
          </a:solidFill>
          <a:ln w="6350">
            <a:solidFill>
              <a:srgbClr val="1F2A45"/>
            </a:solidFill>
            <a:prstDash val="solid"/>
          </a:ln>
          <a:effectLst>
            <a:outerShdw blurRad="101600" dist="25400" dir="8100000" algn="bl" rotWithShape="0">
              <a:srgbClr val="000000">
                <a:alpha val="25000"/>
              </a:srgbClr>
            </a:outerShdw>
          </a:effectLst>
        </p:spPr>
      </p:sp>
      <p:sp>
        <p:nvSpPr>
          <p:cNvPr id="23" name="Shape 21"/>
          <p:cNvSpPr/>
          <p:nvPr/>
        </p:nvSpPr>
        <p:spPr>
          <a:xfrm>
            <a:off x="4663440" y="1280160"/>
            <a:ext cx="45720" cy="2423160"/>
          </a:xfrm>
          <a:prstGeom prst="rect">
            <a:avLst/>
          </a:prstGeom>
          <a:solidFill>
            <a:srgbClr val="2ED47A"/>
          </a:solidFill>
          <a:ln w="12700">
            <a:solidFill>
              <a:srgbClr val="2ED47A"/>
            </a:solidFill>
            <a:prstDash val="solid"/>
          </a:ln>
        </p:spPr>
      </p:sp>
      <p:sp>
        <p:nvSpPr>
          <p:cNvPr id="24" name="Text 22"/>
          <p:cNvSpPr/>
          <p:nvPr/>
        </p:nvSpPr>
        <p:spPr>
          <a:xfrm>
            <a:off x="4800600" y="1371600"/>
            <a:ext cx="3840480" cy="320040"/>
          </a:xfrm>
          <a:prstGeom prst="rect">
            <a:avLst/>
          </a:prstGeom>
          <a:noFill/>
          <a:ln/>
        </p:spPr>
        <p:txBody>
          <a:bodyPr wrap="square" rtlCol="0" anchor="ctr"/>
          <a:lstStyle/>
          <a:p>
            <a:pPr marL="0" indent="0">
              <a:buNone/>
            </a:pPr>
            <a:r>
              <a:rPr lang="en-US" sz="1600" b="1" dirty="0">
                <a:solidFill>
                  <a:srgbClr val="2ED47A"/>
                </a:solidFill>
              </a:rPr>
              <a:t>💪  InBody（体組成計）</a:t>
            </a:r>
            <a:endParaRPr lang="en-US" sz="1600" dirty="0"/>
          </a:p>
        </p:txBody>
      </p:sp>
      <p:sp>
        <p:nvSpPr>
          <p:cNvPr id="25" name="Text 23"/>
          <p:cNvSpPr/>
          <p:nvPr/>
        </p:nvSpPr>
        <p:spPr>
          <a:xfrm>
            <a:off x="4800600" y="1719072"/>
            <a:ext cx="3840480" cy="228600"/>
          </a:xfrm>
          <a:prstGeom prst="rect">
            <a:avLst/>
          </a:prstGeom>
          <a:noFill/>
          <a:ln/>
        </p:spPr>
        <p:txBody>
          <a:bodyPr wrap="square" rtlCol="0" anchor="ctr"/>
          <a:lstStyle/>
          <a:p>
            <a:pPr marL="0" indent="0">
              <a:buNone/>
            </a:pPr>
            <a:r>
              <a:rPr lang="en-US" sz="900" dirty="0">
                <a:solidFill>
                  <a:srgbClr val="7B8BAD"/>
                </a:solidFill>
              </a:rPr>
              <a:t>頻度：1〜2ヶ月に1回</a:t>
            </a:r>
            <a:endParaRPr lang="en-US" sz="900" dirty="0"/>
          </a:p>
        </p:txBody>
      </p:sp>
      <p:sp>
        <p:nvSpPr>
          <p:cNvPr id="26" name="Shape 24"/>
          <p:cNvSpPr/>
          <p:nvPr/>
        </p:nvSpPr>
        <p:spPr>
          <a:xfrm>
            <a:off x="4800600" y="2029968"/>
            <a:ext cx="3840480" cy="457200"/>
          </a:xfrm>
          <a:prstGeom prst="rect">
            <a:avLst/>
          </a:prstGeom>
          <a:solidFill>
            <a:srgbClr val="0D1320"/>
          </a:solidFill>
          <a:ln w="6350">
            <a:solidFill>
              <a:srgbClr val="1F2A45"/>
            </a:solidFill>
            <a:prstDash val="solid"/>
          </a:ln>
        </p:spPr>
      </p:sp>
      <p:sp>
        <p:nvSpPr>
          <p:cNvPr id="27" name="Text 25"/>
          <p:cNvSpPr/>
          <p:nvPr/>
        </p:nvSpPr>
        <p:spPr>
          <a:xfrm>
            <a:off x="4919472" y="2075688"/>
            <a:ext cx="3657600" cy="201168"/>
          </a:xfrm>
          <a:prstGeom prst="rect">
            <a:avLst/>
          </a:prstGeom>
          <a:noFill/>
          <a:ln/>
        </p:spPr>
        <p:txBody>
          <a:bodyPr wrap="square" rtlCol="0" anchor="ctr"/>
          <a:lstStyle/>
          <a:p>
            <a:pPr marL="0" indent="0">
              <a:buNone/>
            </a:pPr>
            <a:r>
              <a:rPr lang="en-US" sz="1000" b="1" dirty="0">
                <a:solidFill>
                  <a:srgbClr val="FFFFFF"/>
                </a:solidFill>
              </a:rPr>
              <a:t>筋肉量（kg）</a:t>
            </a:r>
            <a:endParaRPr lang="en-US" sz="1000" dirty="0"/>
          </a:p>
        </p:txBody>
      </p:sp>
      <p:sp>
        <p:nvSpPr>
          <p:cNvPr id="28" name="Text 26"/>
          <p:cNvSpPr/>
          <p:nvPr/>
        </p:nvSpPr>
        <p:spPr>
          <a:xfrm>
            <a:off x="4919472" y="2286000"/>
            <a:ext cx="3657600" cy="182880"/>
          </a:xfrm>
          <a:prstGeom prst="rect">
            <a:avLst/>
          </a:prstGeom>
          <a:noFill/>
          <a:ln/>
        </p:spPr>
        <p:txBody>
          <a:bodyPr wrap="square" rtlCol="0" anchor="ctr"/>
          <a:lstStyle/>
          <a:p>
            <a:pPr marL="0" indent="0">
              <a:buNone/>
            </a:pPr>
            <a:r>
              <a:rPr lang="en-US" sz="850" dirty="0">
                <a:solidFill>
                  <a:srgbClr val="B0BBD0"/>
                </a:solidFill>
              </a:rPr>
              <a:t>部位別バランスを含む筋量変化</a:t>
            </a:r>
            <a:endParaRPr lang="en-US" sz="850" dirty="0"/>
          </a:p>
        </p:txBody>
      </p:sp>
      <p:sp>
        <p:nvSpPr>
          <p:cNvPr id="29" name="Shape 27"/>
          <p:cNvSpPr/>
          <p:nvPr/>
        </p:nvSpPr>
        <p:spPr>
          <a:xfrm>
            <a:off x="4800600" y="2578608"/>
            <a:ext cx="3840480" cy="457200"/>
          </a:xfrm>
          <a:prstGeom prst="rect">
            <a:avLst/>
          </a:prstGeom>
          <a:solidFill>
            <a:srgbClr val="0D1320"/>
          </a:solidFill>
          <a:ln w="6350">
            <a:solidFill>
              <a:srgbClr val="1F2A45"/>
            </a:solidFill>
            <a:prstDash val="solid"/>
          </a:ln>
        </p:spPr>
      </p:sp>
      <p:sp>
        <p:nvSpPr>
          <p:cNvPr id="30" name="Text 28"/>
          <p:cNvSpPr/>
          <p:nvPr/>
        </p:nvSpPr>
        <p:spPr>
          <a:xfrm>
            <a:off x="4919472" y="2624328"/>
            <a:ext cx="3657600" cy="201168"/>
          </a:xfrm>
          <a:prstGeom prst="rect">
            <a:avLst/>
          </a:prstGeom>
          <a:noFill/>
          <a:ln/>
        </p:spPr>
        <p:txBody>
          <a:bodyPr wrap="square" rtlCol="0" anchor="ctr"/>
          <a:lstStyle/>
          <a:p>
            <a:pPr marL="0" indent="0">
              <a:buNone/>
            </a:pPr>
            <a:r>
              <a:rPr lang="en-US" sz="1000" b="1" dirty="0">
                <a:solidFill>
                  <a:srgbClr val="FFFFFF"/>
                </a:solidFill>
              </a:rPr>
              <a:t>体脂肪率（%）</a:t>
            </a:r>
            <a:endParaRPr lang="en-US" sz="1000" dirty="0"/>
          </a:p>
        </p:txBody>
      </p:sp>
      <p:sp>
        <p:nvSpPr>
          <p:cNvPr id="31" name="Text 29"/>
          <p:cNvSpPr/>
          <p:nvPr/>
        </p:nvSpPr>
        <p:spPr>
          <a:xfrm>
            <a:off x="4919472" y="2834640"/>
            <a:ext cx="3657600" cy="182880"/>
          </a:xfrm>
          <a:prstGeom prst="rect">
            <a:avLst/>
          </a:prstGeom>
          <a:noFill/>
          <a:ln/>
        </p:spPr>
        <p:txBody>
          <a:bodyPr wrap="square" rtlCol="0" anchor="ctr"/>
          <a:lstStyle/>
          <a:p>
            <a:pPr marL="0" indent="0">
              <a:buNone/>
            </a:pPr>
            <a:r>
              <a:rPr lang="en-US" sz="850" dirty="0">
                <a:solidFill>
                  <a:srgbClr val="B0BBD0"/>
                </a:solidFill>
              </a:rPr>
              <a:t>内臓脂肪レベルも確認</a:t>
            </a:r>
            <a:endParaRPr lang="en-US" sz="850" dirty="0"/>
          </a:p>
        </p:txBody>
      </p:sp>
      <p:sp>
        <p:nvSpPr>
          <p:cNvPr id="32" name="Shape 30"/>
          <p:cNvSpPr/>
          <p:nvPr/>
        </p:nvSpPr>
        <p:spPr>
          <a:xfrm>
            <a:off x="4800600" y="3127248"/>
            <a:ext cx="3840480" cy="457200"/>
          </a:xfrm>
          <a:prstGeom prst="rect">
            <a:avLst/>
          </a:prstGeom>
          <a:solidFill>
            <a:srgbClr val="0D1320"/>
          </a:solidFill>
          <a:ln w="6350">
            <a:solidFill>
              <a:srgbClr val="1F2A45"/>
            </a:solidFill>
            <a:prstDash val="solid"/>
          </a:ln>
        </p:spPr>
      </p:sp>
      <p:sp>
        <p:nvSpPr>
          <p:cNvPr id="33" name="Text 31"/>
          <p:cNvSpPr/>
          <p:nvPr/>
        </p:nvSpPr>
        <p:spPr>
          <a:xfrm>
            <a:off x="4919472" y="3172968"/>
            <a:ext cx="3657600" cy="201168"/>
          </a:xfrm>
          <a:prstGeom prst="rect">
            <a:avLst/>
          </a:prstGeom>
          <a:noFill/>
          <a:ln/>
        </p:spPr>
        <p:txBody>
          <a:bodyPr wrap="square" rtlCol="0" anchor="ctr"/>
          <a:lstStyle/>
          <a:p>
            <a:pPr marL="0" indent="0">
              <a:buNone/>
            </a:pPr>
            <a:r>
              <a:rPr lang="en-US" sz="1000" b="1" dirty="0">
                <a:solidFill>
                  <a:srgbClr val="FFFFFF"/>
                </a:solidFill>
              </a:rPr>
              <a:t>部位別バランス</a:t>
            </a:r>
            <a:endParaRPr lang="en-US" sz="1000" dirty="0"/>
          </a:p>
        </p:txBody>
      </p:sp>
      <p:sp>
        <p:nvSpPr>
          <p:cNvPr id="34" name="Text 32"/>
          <p:cNvSpPr/>
          <p:nvPr/>
        </p:nvSpPr>
        <p:spPr>
          <a:xfrm>
            <a:off x="4919472" y="3383280"/>
            <a:ext cx="3657600" cy="182880"/>
          </a:xfrm>
          <a:prstGeom prst="rect">
            <a:avLst/>
          </a:prstGeom>
          <a:noFill/>
          <a:ln/>
        </p:spPr>
        <p:txBody>
          <a:bodyPr wrap="square" rtlCol="0" anchor="ctr"/>
          <a:lstStyle/>
          <a:p>
            <a:pPr marL="0" indent="0">
              <a:buNone/>
            </a:pPr>
            <a:r>
              <a:rPr lang="en-US" sz="850" dirty="0">
                <a:solidFill>
                  <a:srgbClr val="B0BBD0"/>
                </a:solidFill>
              </a:rPr>
              <a:t>左右差・上下差のアンバランスを可視化</a:t>
            </a:r>
            <a:endParaRPr lang="en-US" sz="850" dirty="0"/>
          </a:p>
        </p:txBody>
      </p:sp>
      <p:sp>
        <p:nvSpPr>
          <p:cNvPr id="35" name="Shape 33"/>
          <p:cNvSpPr/>
          <p:nvPr/>
        </p:nvSpPr>
        <p:spPr>
          <a:xfrm>
            <a:off x="4663440" y="3840480"/>
            <a:ext cx="4114800" cy="960120"/>
          </a:xfrm>
          <a:prstGeom prst="rect">
            <a:avLst/>
          </a:prstGeom>
          <a:solidFill>
            <a:srgbClr val="1A2035"/>
          </a:solidFill>
          <a:ln w="6350">
            <a:solidFill>
              <a:srgbClr val="1F2A45"/>
            </a:solidFill>
            <a:prstDash val="solid"/>
          </a:ln>
          <a:effectLst>
            <a:outerShdw blurRad="101600" dist="25400" dir="8100000" algn="bl" rotWithShape="0">
              <a:srgbClr val="000000">
                <a:alpha val="25000"/>
              </a:srgbClr>
            </a:outerShdw>
          </a:effectLst>
        </p:spPr>
      </p:sp>
      <p:sp>
        <p:nvSpPr>
          <p:cNvPr id="36" name="Text 34"/>
          <p:cNvSpPr/>
          <p:nvPr/>
        </p:nvSpPr>
        <p:spPr>
          <a:xfrm>
            <a:off x="4800600" y="3913632"/>
            <a:ext cx="3840480" cy="256032"/>
          </a:xfrm>
          <a:prstGeom prst="rect">
            <a:avLst/>
          </a:prstGeom>
          <a:noFill/>
          <a:ln/>
        </p:spPr>
        <p:txBody>
          <a:bodyPr wrap="square" rtlCol="0" anchor="ctr"/>
          <a:lstStyle/>
          <a:p>
            <a:pPr marL="0" indent="0">
              <a:buNone/>
            </a:pPr>
            <a:r>
              <a:rPr lang="en-US" sz="1000" b="1" dirty="0">
                <a:solidFill>
                  <a:srgbClr val="00D4C8"/>
                </a:solidFill>
              </a:rPr>
              <a:t>📊  記録場所</a:t>
            </a:r>
            <a:endParaRPr lang="en-US" sz="1000" dirty="0"/>
          </a:p>
        </p:txBody>
      </p:sp>
      <p:sp>
        <p:nvSpPr>
          <p:cNvPr id="37" name="Text 35"/>
          <p:cNvSpPr/>
          <p:nvPr/>
        </p:nvSpPr>
        <p:spPr>
          <a:xfrm>
            <a:off x="4800600" y="4187952"/>
            <a:ext cx="3840480" cy="502920"/>
          </a:xfrm>
          <a:prstGeom prst="rect">
            <a:avLst/>
          </a:prstGeom>
          <a:noFill/>
          <a:ln/>
        </p:spPr>
        <p:txBody>
          <a:bodyPr wrap="square" rtlCol="0" anchor="ctr"/>
          <a:lstStyle/>
          <a:p>
            <a:pPr marL="0" indent="0">
              <a:buNone/>
            </a:pPr>
            <a:r>
              <a:rPr lang="en-US" sz="900" dirty="0">
                <a:solidFill>
                  <a:srgbClr val="B0BBD0"/>
                </a:solidFill>
              </a:rPr>
              <a:t>Google Sheets の「定期検診データ」別タブに記録します。</a:t>
            </a:r>
            <a:endParaRPr lang="en-US" sz="900" dirty="0"/>
          </a:p>
          <a:p>
            <a:pPr marL="0" indent="0">
              <a:buNone/>
            </a:pPr>
            <a:r>
              <a:rPr lang="en-US" sz="900" dirty="0">
                <a:solidFill>
                  <a:srgbClr val="B0BBD0"/>
                </a:solidFill>
              </a:rPr>
              <a:t>日次データと合わせて月次レポートに統合。</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0E1A"/>
        </a:solidFill>
        <a:effectLst/>
      </p:bgPr>
    </p:bg>
    <p:spTree>
      <p:nvGrpSpPr>
        <p:cNvPr id="1" name=""/>
        <p:cNvGrpSpPr/>
        <p:nvPr/>
      </p:nvGrpSpPr>
      <p:grpSpPr>
        <a:xfrm>
          <a:off x="0" y="0"/>
          <a:ext cx="0" cy="0"/>
          <a:chOff x="0" y="0"/>
          <a:chExt cx="0" cy="0"/>
        </a:xfrm>
      </p:grpSpPr>
      <p:sp>
        <p:nvSpPr>
          <p:cNvPr id="2" name="Text 0"/>
          <p:cNvSpPr/>
          <p:nvPr/>
        </p:nvSpPr>
        <p:spPr>
          <a:xfrm>
            <a:off x="365760" y="201168"/>
            <a:ext cx="8229600" cy="228600"/>
          </a:xfrm>
          <a:prstGeom prst="rect">
            <a:avLst/>
          </a:prstGeom>
          <a:noFill/>
          <a:ln/>
        </p:spPr>
        <p:txBody>
          <a:bodyPr wrap="square" rtlCol="0" anchor="ctr"/>
          <a:lstStyle/>
          <a:p>
            <a:pPr marL="0" indent="0">
              <a:buNone/>
            </a:pPr>
            <a:r>
              <a:rPr lang="en-US" sz="800" b="1" kern="0" spc="300" dirty="0">
                <a:solidFill>
                  <a:srgbClr val="00D4C8"/>
                </a:solidFill>
              </a:rPr>
              <a:t>DECISION MATRIX  —  今日のトレーニング強度を科学的に決定</a:t>
            </a:r>
            <a:endParaRPr lang="en-US" sz="800" dirty="0"/>
          </a:p>
        </p:txBody>
      </p:sp>
      <p:sp>
        <p:nvSpPr>
          <p:cNvPr id="3" name="Text 1"/>
          <p:cNvSpPr/>
          <p:nvPr/>
        </p:nvSpPr>
        <p:spPr>
          <a:xfrm>
            <a:off x="365760" y="475488"/>
            <a:ext cx="8412480" cy="548640"/>
          </a:xfrm>
          <a:prstGeom prst="rect">
            <a:avLst/>
          </a:prstGeom>
          <a:noFill/>
          <a:ln/>
        </p:spPr>
        <p:txBody>
          <a:bodyPr wrap="square" rtlCol="0" anchor="ctr"/>
          <a:lstStyle/>
          <a:p>
            <a:pPr marL="0" indent="0">
              <a:buNone/>
            </a:pPr>
            <a:r>
              <a:rPr lang="en-US" sz="2800" b="1" dirty="0">
                <a:solidFill>
                  <a:srgbClr val="FFFFFF"/>
                </a:solidFill>
              </a:rPr>
              <a:t>HRV × パフォーマンス 判断マトリクス</a:t>
            </a:r>
            <a:endParaRPr lang="en-US" sz="2800" dirty="0"/>
          </a:p>
        </p:txBody>
      </p:sp>
      <p:sp>
        <p:nvSpPr>
          <p:cNvPr id="4" name="Text 2"/>
          <p:cNvSpPr/>
          <p:nvPr/>
        </p:nvSpPr>
        <p:spPr>
          <a:xfrm>
            <a:off x="365760" y="978408"/>
            <a:ext cx="8412480" cy="274320"/>
          </a:xfrm>
          <a:prstGeom prst="rect">
            <a:avLst/>
          </a:prstGeom>
          <a:noFill/>
          <a:ln/>
        </p:spPr>
        <p:txBody>
          <a:bodyPr wrap="square" rtlCol="0" anchor="ctr"/>
          <a:lstStyle/>
          <a:p>
            <a:pPr marL="0" indent="0">
              <a:buNone/>
            </a:pPr>
            <a:r>
              <a:rPr lang="en-US" sz="1200" dirty="0">
                <a:solidFill>
                  <a:srgbClr val="B0BBD0"/>
                </a:solidFill>
              </a:rPr>
              <a:t>毎朝のデータを見て、今日の強度を4象限で判断する</a:t>
            </a:r>
            <a:endParaRPr lang="en-US" sz="1200" dirty="0"/>
          </a:p>
        </p:txBody>
      </p:sp>
      <p:sp>
        <p:nvSpPr>
          <p:cNvPr id="5" name="Shape 3"/>
          <p:cNvSpPr/>
          <p:nvPr/>
        </p:nvSpPr>
        <p:spPr>
          <a:xfrm>
            <a:off x="365760" y="1371600"/>
            <a:ext cx="8412480" cy="22860"/>
          </a:xfrm>
          <a:prstGeom prst="rect">
            <a:avLst/>
          </a:prstGeom>
          <a:solidFill>
            <a:srgbClr val="1F2A45"/>
          </a:solidFill>
          <a:ln w="12700">
            <a:solidFill>
              <a:srgbClr val="1F2A45"/>
            </a:solidFill>
            <a:prstDash val="solid"/>
          </a:ln>
        </p:spPr>
      </p:sp>
      <p:sp>
        <p:nvSpPr>
          <p:cNvPr id="6" name="Shape 4"/>
          <p:cNvSpPr/>
          <p:nvPr/>
        </p:nvSpPr>
        <p:spPr>
          <a:xfrm>
            <a:off x="365760" y="1325880"/>
            <a:ext cx="4114800" cy="1600200"/>
          </a:xfrm>
          <a:prstGeom prst="rect">
            <a:avLst/>
          </a:prstGeom>
          <a:solidFill>
            <a:srgbClr val="141929"/>
          </a:solidFill>
          <a:ln w="6350">
            <a:solidFill>
              <a:srgbClr val="1F2A45"/>
            </a:solidFill>
            <a:prstDash val="solid"/>
          </a:ln>
          <a:effectLst>
            <a:outerShdw blurRad="101600" dist="25400" dir="8100000" algn="bl" rotWithShape="0">
              <a:srgbClr val="000000">
                <a:alpha val="25000"/>
              </a:srgbClr>
            </a:outerShdw>
          </a:effectLst>
        </p:spPr>
      </p:sp>
      <p:sp>
        <p:nvSpPr>
          <p:cNvPr id="7" name="Shape 5"/>
          <p:cNvSpPr/>
          <p:nvPr/>
        </p:nvSpPr>
        <p:spPr>
          <a:xfrm>
            <a:off x="365760" y="1325880"/>
            <a:ext cx="45720" cy="1600200"/>
          </a:xfrm>
          <a:prstGeom prst="rect">
            <a:avLst/>
          </a:prstGeom>
          <a:solidFill>
            <a:srgbClr val="2ED47A"/>
          </a:solidFill>
          <a:ln w="12700">
            <a:solidFill>
              <a:srgbClr val="2ED47A"/>
            </a:solidFill>
            <a:prstDash val="solid"/>
          </a:ln>
        </p:spPr>
      </p:sp>
      <p:sp>
        <p:nvSpPr>
          <p:cNvPr id="8" name="Shape 6"/>
          <p:cNvSpPr/>
          <p:nvPr/>
        </p:nvSpPr>
        <p:spPr>
          <a:xfrm>
            <a:off x="475488" y="1435608"/>
            <a:ext cx="548640" cy="201168"/>
          </a:xfrm>
          <a:prstGeom prst="rect">
            <a:avLst/>
          </a:prstGeom>
          <a:solidFill>
            <a:srgbClr val="1F2A45"/>
          </a:solidFill>
          <a:ln w="12700">
            <a:solidFill>
              <a:srgbClr val="1F2A45"/>
            </a:solidFill>
            <a:prstDash val="solid"/>
          </a:ln>
        </p:spPr>
      </p:sp>
      <p:sp>
        <p:nvSpPr>
          <p:cNvPr id="9" name="Text 7"/>
          <p:cNvSpPr/>
          <p:nvPr/>
        </p:nvSpPr>
        <p:spPr>
          <a:xfrm>
            <a:off x="475488" y="1435608"/>
            <a:ext cx="548640" cy="201168"/>
          </a:xfrm>
          <a:prstGeom prst="rect">
            <a:avLst/>
          </a:prstGeom>
          <a:noFill/>
          <a:ln/>
        </p:spPr>
        <p:txBody>
          <a:bodyPr wrap="square" lIns="0" tIns="0" rIns="0" bIns="0" rtlCol="0" anchor="ctr"/>
          <a:lstStyle/>
          <a:p>
            <a:pPr marL="0" indent="0" algn="ctr">
              <a:buNone/>
            </a:pPr>
            <a:r>
              <a:rPr lang="en-US" sz="700" b="1" dirty="0">
                <a:solidFill>
                  <a:srgbClr val="2ED47A"/>
                </a:solidFill>
              </a:rPr>
              <a:t>HRV: HIGH</a:t>
            </a:r>
            <a:endParaRPr lang="en-US" sz="700" dirty="0"/>
          </a:p>
        </p:txBody>
      </p:sp>
      <p:sp>
        <p:nvSpPr>
          <p:cNvPr id="10" name="Shape 8"/>
          <p:cNvSpPr/>
          <p:nvPr/>
        </p:nvSpPr>
        <p:spPr>
          <a:xfrm>
            <a:off x="1078992" y="1435608"/>
            <a:ext cx="640080" cy="201168"/>
          </a:xfrm>
          <a:prstGeom prst="rect">
            <a:avLst/>
          </a:prstGeom>
          <a:solidFill>
            <a:srgbClr val="1F2A45"/>
          </a:solidFill>
          <a:ln w="12700">
            <a:solidFill>
              <a:srgbClr val="1F2A45"/>
            </a:solidFill>
            <a:prstDash val="solid"/>
          </a:ln>
        </p:spPr>
      </p:sp>
      <p:sp>
        <p:nvSpPr>
          <p:cNvPr id="11" name="Text 9"/>
          <p:cNvSpPr/>
          <p:nvPr/>
        </p:nvSpPr>
        <p:spPr>
          <a:xfrm>
            <a:off x="1078992" y="1435608"/>
            <a:ext cx="640080" cy="201168"/>
          </a:xfrm>
          <a:prstGeom prst="rect">
            <a:avLst/>
          </a:prstGeom>
          <a:noFill/>
          <a:ln/>
        </p:spPr>
        <p:txBody>
          <a:bodyPr wrap="square" lIns="0" tIns="0" rIns="0" bIns="0" rtlCol="0" anchor="ctr"/>
          <a:lstStyle/>
          <a:p>
            <a:pPr marL="0" indent="0" algn="ctr">
              <a:buNone/>
            </a:pPr>
            <a:r>
              <a:rPr lang="en-US" sz="700" b="1" dirty="0">
                <a:solidFill>
                  <a:srgbClr val="2ED47A"/>
                </a:solidFill>
              </a:rPr>
              <a:t>PERF: HIGH</a:t>
            </a:r>
            <a:endParaRPr lang="en-US" sz="700" dirty="0"/>
          </a:p>
        </p:txBody>
      </p:sp>
      <p:sp>
        <p:nvSpPr>
          <p:cNvPr id="12" name="Text 10"/>
          <p:cNvSpPr/>
          <p:nvPr/>
        </p:nvSpPr>
        <p:spPr>
          <a:xfrm>
            <a:off x="475488" y="1709928"/>
            <a:ext cx="3840480" cy="320040"/>
          </a:xfrm>
          <a:prstGeom prst="rect">
            <a:avLst/>
          </a:prstGeom>
          <a:noFill/>
          <a:ln/>
        </p:spPr>
        <p:txBody>
          <a:bodyPr wrap="square" rtlCol="0" anchor="ctr"/>
          <a:lstStyle/>
          <a:p>
            <a:pPr marL="0" indent="0">
              <a:buNone/>
            </a:pPr>
            <a:r>
              <a:rPr lang="en-US" sz="1500" b="1" dirty="0">
                <a:solidFill>
                  <a:srgbClr val="2ED47A"/>
                </a:solidFill>
              </a:rPr>
              <a:t>🔥  PEAK DAY</a:t>
            </a:r>
            <a:endParaRPr lang="en-US" sz="1500" dirty="0"/>
          </a:p>
        </p:txBody>
      </p:sp>
      <p:sp>
        <p:nvSpPr>
          <p:cNvPr id="13" name="Text 11"/>
          <p:cNvSpPr/>
          <p:nvPr/>
        </p:nvSpPr>
        <p:spPr>
          <a:xfrm>
            <a:off x="475488" y="2075688"/>
            <a:ext cx="3840480" cy="256032"/>
          </a:xfrm>
          <a:prstGeom prst="rect">
            <a:avLst/>
          </a:prstGeom>
          <a:noFill/>
          <a:ln/>
        </p:spPr>
        <p:txBody>
          <a:bodyPr wrap="square" rtlCol="0" anchor="ctr"/>
          <a:lstStyle/>
          <a:p>
            <a:pPr marL="0" indent="0">
              <a:buNone/>
            </a:pPr>
            <a:r>
              <a:rPr lang="en-US" sz="1100" b="1" dirty="0">
                <a:solidFill>
                  <a:srgbClr val="FFFFFF"/>
                </a:solidFill>
              </a:rPr>
              <a:t>▶  高強度・最大出力セッション</a:t>
            </a:r>
            <a:endParaRPr lang="en-US" sz="1100" dirty="0"/>
          </a:p>
        </p:txBody>
      </p:sp>
      <p:sp>
        <p:nvSpPr>
          <p:cNvPr id="14" name="Text 12"/>
          <p:cNvSpPr/>
          <p:nvPr/>
        </p:nvSpPr>
        <p:spPr>
          <a:xfrm>
            <a:off x="475488" y="2368296"/>
            <a:ext cx="3840480" cy="457200"/>
          </a:xfrm>
          <a:prstGeom prst="rect">
            <a:avLst/>
          </a:prstGeom>
          <a:noFill/>
          <a:ln/>
        </p:spPr>
        <p:txBody>
          <a:bodyPr wrap="square" rtlCol="0" anchor="ctr"/>
          <a:lstStyle/>
          <a:p>
            <a:pPr marL="0" indent="0">
              <a:buNone/>
            </a:pPr>
            <a:r>
              <a:rPr lang="en-US" sz="850" dirty="0">
                <a:solidFill>
                  <a:srgbClr val="B0BBD0"/>
                </a:solidFill>
              </a:rPr>
              <a:t>今日は全力で追い込む日。</a:t>
            </a:r>
            <a:endParaRPr lang="en-US" sz="850" dirty="0"/>
          </a:p>
          <a:p>
            <a:pPr marL="0" indent="0">
              <a:buNone/>
            </a:pPr>
            <a:r>
              <a:rPr lang="en-US" sz="850" dirty="0">
                <a:solidFill>
                  <a:srgbClr val="B0BBD0"/>
                </a:solidFill>
              </a:rPr>
              <a:t>新記録更新を狙う。</a:t>
            </a:r>
            <a:endParaRPr lang="en-US" sz="850" dirty="0"/>
          </a:p>
        </p:txBody>
      </p:sp>
      <p:sp>
        <p:nvSpPr>
          <p:cNvPr id="15" name="Shape 13"/>
          <p:cNvSpPr/>
          <p:nvPr/>
        </p:nvSpPr>
        <p:spPr>
          <a:xfrm>
            <a:off x="4663440" y="1325880"/>
            <a:ext cx="4114800" cy="1600200"/>
          </a:xfrm>
          <a:prstGeom prst="rect">
            <a:avLst/>
          </a:prstGeom>
          <a:solidFill>
            <a:srgbClr val="141929"/>
          </a:solidFill>
          <a:ln w="6350">
            <a:solidFill>
              <a:srgbClr val="1F2A45"/>
            </a:solidFill>
            <a:prstDash val="solid"/>
          </a:ln>
          <a:effectLst>
            <a:outerShdw blurRad="101600" dist="25400" dir="8100000" algn="bl" rotWithShape="0">
              <a:srgbClr val="000000">
                <a:alpha val="25000"/>
              </a:srgbClr>
            </a:outerShdw>
          </a:effectLst>
        </p:spPr>
      </p:sp>
      <p:sp>
        <p:nvSpPr>
          <p:cNvPr id="16" name="Shape 14"/>
          <p:cNvSpPr/>
          <p:nvPr/>
        </p:nvSpPr>
        <p:spPr>
          <a:xfrm>
            <a:off x="4663440" y="1325880"/>
            <a:ext cx="45720" cy="1600200"/>
          </a:xfrm>
          <a:prstGeom prst="rect">
            <a:avLst/>
          </a:prstGeom>
          <a:solidFill>
            <a:srgbClr val="F5C842"/>
          </a:solidFill>
          <a:ln w="12700">
            <a:solidFill>
              <a:srgbClr val="F5C842"/>
            </a:solidFill>
            <a:prstDash val="solid"/>
          </a:ln>
        </p:spPr>
      </p:sp>
      <p:sp>
        <p:nvSpPr>
          <p:cNvPr id="17" name="Shape 15"/>
          <p:cNvSpPr/>
          <p:nvPr/>
        </p:nvSpPr>
        <p:spPr>
          <a:xfrm>
            <a:off x="4773168" y="1435608"/>
            <a:ext cx="548640" cy="201168"/>
          </a:xfrm>
          <a:prstGeom prst="rect">
            <a:avLst/>
          </a:prstGeom>
          <a:solidFill>
            <a:srgbClr val="1F2A45"/>
          </a:solidFill>
          <a:ln w="12700">
            <a:solidFill>
              <a:srgbClr val="1F2A45"/>
            </a:solidFill>
            <a:prstDash val="solid"/>
          </a:ln>
        </p:spPr>
      </p:sp>
      <p:sp>
        <p:nvSpPr>
          <p:cNvPr id="18" name="Text 16"/>
          <p:cNvSpPr/>
          <p:nvPr/>
        </p:nvSpPr>
        <p:spPr>
          <a:xfrm>
            <a:off x="4773168" y="1435608"/>
            <a:ext cx="548640" cy="201168"/>
          </a:xfrm>
          <a:prstGeom prst="rect">
            <a:avLst/>
          </a:prstGeom>
          <a:noFill/>
          <a:ln/>
        </p:spPr>
        <p:txBody>
          <a:bodyPr wrap="square" lIns="0" tIns="0" rIns="0" bIns="0" rtlCol="0" anchor="ctr"/>
          <a:lstStyle/>
          <a:p>
            <a:pPr marL="0" indent="0" algn="ctr">
              <a:buNone/>
            </a:pPr>
            <a:r>
              <a:rPr lang="en-US" sz="700" b="1" dirty="0">
                <a:solidFill>
                  <a:srgbClr val="F5C842"/>
                </a:solidFill>
              </a:rPr>
              <a:t>HRV: HIGH</a:t>
            </a:r>
            <a:endParaRPr lang="en-US" sz="700" dirty="0"/>
          </a:p>
        </p:txBody>
      </p:sp>
      <p:sp>
        <p:nvSpPr>
          <p:cNvPr id="19" name="Shape 17"/>
          <p:cNvSpPr/>
          <p:nvPr/>
        </p:nvSpPr>
        <p:spPr>
          <a:xfrm>
            <a:off x="5376672" y="1435608"/>
            <a:ext cx="640080" cy="201168"/>
          </a:xfrm>
          <a:prstGeom prst="rect">
            <a:avLst/>
          </a:prstGeom>
          <a:solidFill>
            <a:srgbClr val="1F2A45"/>
          </a:solidFill>
          <a:ln w="12700">
            <a:solidFill>
              <a:srgbClr val="1F2A45"/>
            </a:solidFill>
            <a:prstDash val="solid"/>
          </a:ln>
        </p:spPr>
      </p:sp>
      <p:sp>
        <p:nvSpPr>
          <p:cNvPr id="20" name="Text 18"/>
          <p:cNvSpPr/>
          <p:nvPr/>
        </p:nvSpPr>
        <p:spPr>
          <a:xfrm>
            <a:off x="5376672" y="1435608"/>
            <a:ext cx="640080" cy="201168"/>
          </a:xfrm>
          <a:prstGeom prst="rect">
            <a:avLst/>
          </a:prstGeom>
          <a:noFill/>
          <a:ln/>
        </p:spPr>
        <p:txBody>
          <a:bodyPr wrap="square" lIns="0" tIns="0" rIns="0" bIns="0" rtlCol="0" anchor="ctr"/>
          <a:lstStyle/>
          <a:p>
            <a:pPr marL="0" indent="0" algn="ctr">
              <a:buNone/>
            </a:pPr>
            <a:r>
              <a:rPr lang="en-US" sz="700" b="1" dirty="0">
                <a:solidFill>
                  <a:srgbClr val="F5C842"/>
                </a:solidFill>
              </a:rPr>
              <a:t>PERF: LOW</a:t>
            </a:r>
            <a:endParaRPr lang="en-US" sz="700" dirty="0"/>
          </a:p>
        </p:txBody>
      </p:sp>
      <p:sp>
        <p:nvSpPr>
          <p:cNvPr id="21" name="Text 19"/>
          <p:cNvSpPr/>
          <p:nvPr/>
        </p:nvSpPr>
        <p:spPr>
          <a:xfrm>
            <a:off x="4773168" y="1709928"/>
            <a:ext cx="3840480" cy="320040"/>
          </a:xfrm>
          <a:prstGeom prst="rect">
            <a:avLst/>
          </a:prstGeom>
          <a:noFill/>
          <a:ln/>
        </p:spPr>
        <p:txBody>
          <a:bodyPr wrap="square" rtlCol="0" anchor="ctr"/>
          <a:lstStyle/>
          <a:p>
            <a:pPr marL="0" indent="0">
              <a:buNone/>
            </a:pPr>
            <a:r>
              <a:rPr lang="en-US" sz="1500" b="1" dirty="0">
                <a:solidFill>
                  <a:srgbClr val="F5C842"/>
                </a:solidFill>
              </a:rPr>
              <a:t>⚠️  CNS FATIGUE</a:t>
            </a:r>
            <a:endParaRPr lang="en-US" sz="1500" dirty="0"/>
          </a:p>
        </p:txBody>
      </p:sp>
      <p:sp>
        <p:nvSpPr>
          <p:cNvPr id="22" name="Text 20"/>
          <p:cNvSpPr/>
          <p:nvPr/>
        </p:nvSpPr>
        <p:spPr>
          <a:xfrm>
            <a:off x="4773168" y="2075688"/>
            <a:ext cx="3840480" cy="256032"/>
          </a:xfrm>
          <a:prstGeom prst="rect">
            <a:avLst/>
          </a:prstGeom>
          <a:noFill/>
          <a:ln/>
        </p:spPr>
        <p:txBody>
          <a:bodyPr wrap="square" rtlCol="0" anchor="ctr"/>
          <a:lstStyle/>
          <a:p>
            <a:pPr marL="0" indent="0">
              <a:buNone/>
            </a:pPr>
            <a:r>
              <a:rPr lang="en-US" sz="1100" b="1" dirty="0">
                <a:solidFill>
                  <a:srgbClr val="FFFFFF"/>
                </a:solidFill>
              </a:rPr>
              <a:t>▶  技術練習・有酸素のみ</a:t>
            </a:r>
            <a:endParaRPr lang="en-US" sz="1100" dirty="0"/>
          </a:p>
        </p:txBody>
      </p:sp>
      <p:sp>
        <p:nvSpPr>
          <p:cNvPr id="23" name="Text 21"/>
          <p:cNvSpPr/>
          <p:nvPr/>
        </p:nvSpPr>
        <p:spPr>
          <a:xfrm>
            <a:off x="4773168" y="2368296"/>
            <a:ext cx="3840480" cy="457200"/>
          </a:xfrm>
          <a:prstGeom prst="rect">
            <a:avLst/>
          </a:prstGeom>
          <a:noFill/>
          <a:ln/>
        </p:spPr>
        <p:txBody>
          <a:bodyPr wrap="square" rtlCol="0" anchor="ctr"/>
          <a:lstStyle/>
          <a:p>
            <a:pPr marL="0" indent="0">
              <a:buNone/>
            </a:pPr>
            <a:r>
              <a:rPr lang="en-US" sz="850" dirty="0">
                <a:solidFill>
                  <a:srgbClr val="B0BBD0"/>
                </a:solidFill>
              </a:rPr>
              <a:t>自律神経は良好だが神経系が疲弊。</a:t>
            </a:r>
            <a:endParaRPr lang="en-US" sz="850" dirty="0"/>
          </a:p>
          <a:p>
            <a:pPr marL="0" indent="0">
              <a:buNone/>
            </a:pPr>
            <a:r>
              <a:rPr lang="en-US" sz="850" dirty="0">
                <a:solidFill>
                  <a:srgbClr val="B0BBD0"/>
                </a:solidFill>
              </a:rPr>
              <a:t>ウォームアップ程度に留める。</a:t>
            </a:r>
            <a:endParaRPr lang="en-US" sz="850" dirty="0"/>
          </a:p>
        </p:txBody>
      </p:sp>
      <p:sp>
        <p:nvSpPr>
          <p:cNvPr id="24" name="Shape 22"/>
          <p:cNvSpPr/>
          <p:nvPr/>
        </p:nvSpPr>
        <p:spPr>
          <a:xfrm>
            <a:off x="365760" y="3035808"/>
            <a:ext cx="4114800" cy="1600200"/>
          </a:xfrm>
          <a:prstGeom prst="rect">
            <a:avLst/>
          </a:prstGeom>
          <a:solidFill>
            <a:srgbClr val="141929"/>
          </a:solidFill>
          <a:ln w="6350">
            <a:solidFill>
              <a:srgbClr val="1F2A45"/>
            </a:solidFill>
            <a:prstDash val="solid"/>
          </a:ln>
          <a:effectLst>
            <a:outerShdw blurRad="101600" dist="25400" dir="8100000" algn="bl" rotWithShape="0">
              <a:srgbClr val="000000">
                <a:alpha val="25000"/>
              </a:srgbClr>
            </a:outerShdw>
          </a:effectLst>
        </p:spPr>
      </p:sp>
      <p:sp>
        <p:nvSpPr>
          <p:cNvPr id="25" name="Shape 23"/>
          <p:cNvSpPr/>
          <p:nvPr/>
        </p:nvSpPr>
        <p:spPr>
          <a:xfrm>
            <a:off x="365760" y="3035808"/>
            <a:ext cx="45720" cy="1600200"/>
          </a:xfrm>
          <a:prstGeom prst="rect">
            <a:avLst/>
          </a:prstGeom>
          <a:solidFill>
            <a:srgbClr val="F57C2E"/>
          </a:solidFill>
          <a:ln w="12700">
            <a:solidFill>
              <a:srgbClr val="F57C2E"/>
            </a:solidFill>
            <a:prstDash val="solid"/>
          </a:ln>
        </p:spPr>
      </p:sp>
      <p:sp>
        <p:nvSpPr>
          <p:cNvPr id="26" name="Shape 24"/>
          <p:cNvSpPr/>
          <p:nvPr/>
        </p:nvSpPr>
        <p:spPr>
          <a:xfrm>
            <a:off x="475488" y="3145536"/>
            <a:ext cx="548640" cy="201168"/>
          </a:xfrm>
          <a:prstGeom prst="rect">
            <a:avLst/>
          </a:prstGeom>
          <a:solidFill>
            <a:srgbClr val="1F2A45"/>
          </a:solidFill>
          <a:ln w="12700">
            <a:solidFill>
              <a:srgbClr val="1F2A45"/>
            </a:solidFill>
            <a:prstDash val="solid"/>
          </a:ln>
        </p:spPr>
      </p:sp>
      <p:sp>
        <p:nvSpPr>
          <p:cNvPr id="27" name="Text 25"/>
          <p:cNvSpPr/>
          <p:nvPr/>
        </p:nvSpPr>
        <p:spPr>
          <a:xfrm>
            <a:off x="475488" y="3145536"/>
            <a:ext cx="548640" cy="201168"/>
          </a:xfrm>
          <a:prstGeom prst="rect">
            <a:avLst/>
          </a:prstGeom>
          <a:noFill/>
          <a:ln/>
        </p:spPr>
        <p:txBody>
          <a:bodyPr wrap="square" lIns="0" tIns="0" rIns="0" bIns="0" rtlCol="0" anchor="ctr"/>
          <a:lstStyle/>
          <a:p>
            <a:pPr marL="0" indent="0" algn="ctr">
              <a:buNone/>
            </a:pPr>
            <a:r>
              <a:rPr lang="en-US" sz="700" b="1" dirty="0">
                <a:solidFill>
                  <a:srgbClr val="F57C2E"/>
                </a:solidFill>
              </a:rPr>
              <a:t>HRV: LOW</a:t>
            </a:r>
            <a:endParaRPr lang="en-US" sz="700" dirty="0"/>
          </a:p>
        </p:txBody>
      </p:sp>
      <p:sp>
        <p:nvSpPr>
          <p:cNvPr id="28" name="Shape 26"/>
          <p:cNvSpPr/>
          <p:nvPr/>
        </p:nvSpPr>
        <p:spPr>
          <a:xfrm>
            <a:off x="1078992" y="3145536"/>
            <a:ext cx="640080" cy="201168"/>
          </a:xfrm>
          <a:prstGeom prst="rect">
            <a:avLst/>
          </a:prstGeom>
          <a:solidFill>
            <a:srgbClr val="1F2A45"/>
          </a:solidFill>
          <a:ln w="12700">
            <a:solidFill>
              <a:srgbClr val="1F2A45"/>
            </a:solidFill>
            <a:prstDash val="solid"/>
          </a:ln>
        </p:spPr>
      </p:sp>
      <p:sp>
        <p:nvSpPr>
          <p:cNvPr id="29" name="Text 27"/>
          <p:cNvSpPr/>
          <p:nvPr/>
        </p:nvSpPr>
        <p:spPr>
          <a:xfrm>
            <a:off x="1078992" y="3145536"/>
            <a:ext cx="640080" cy="201168"/>
          </a:xfrm>
          <a:prstGeom prst="rect">
            <a:avLst/>
          </a:prstGeom>
          <a:noFill/>
          <a:ln/>
        </p:spPr>
        <p:txBody>
          <a:bodyPr wrap="square" lIns="0" tIns="0" rIns="0" bIns="0" rtlCol="0" anchor="ctr"/>
          <a:lstStyle/>
          <a:p>
            <a:pPr marL="0" indent="0" algn="ctr">
              <a:buNone/>
            </a:pPr>
            <a:r>
              <a:rPr lang="en-US" sz="700" b="1" dirty="0">
                <a:solidFill>
                  <a:srgbClr val="F57C2E"/>
                </a:solidFill>
              </a:rPr>
              <a:t>PERF: HIGH</a:t>
            </a:r>
            <a:endParaRPr lang="en-US" sz="700" dirty="0"/>
          </a:p>
        </p:txBody>
      </p:sp>
      <p:sp>
        <p:nvSpPr>
          <p:cNvPr id="30" name="Text 28"/>
          <p:cNvSpPr/>
          <p:nvPr/>
        </p:nvSpPr>
        <p:spPr>
          <a:xfrm>
            <a:off x="475488" y="3419856"/>
            <a:ext cx="3840480" cy="320040"/>
          </a:xfrm>
          <a:prstGeom prst="rect">
            <a:avLst/>
          </a:prstGeom>
          <a:noFill/>
          <a:ln/>
        </p:spPr>
        <p:txBody>
          <a:bodyPr wrap="square" rtlCol="0" anchor="ctr"/>
          <a:lstStyle/>
          <a:p>
            <a:pPr marL="0" indent="0">
              <a:buNone/>
            </a:pPr>
            <a:r>
              <a:rPr lang="en-US" sz="1500" b="1" dirty="0">
                <a:solidFill>
                  <a:srgbClr val="F57C2E"/>
                </a:solidFill>
              </a:rPr>
              <a:t>🔶  AUTONOMIC STRESS</a:t>
            </a:r>
            <a:endParaRPr lang="en-US" sz="1500" dirty="0"/>
          </a:p>
        </p:txBody>
      </p:sp>
      <p:sp>
        <p:nvSpPr>
          <p:cNvPr id="31" name="Text 29"/>
          <p:cNvSpPr/>
          <p:nvPr/>
        </p:nvSpPr>
        <p:spPr>
          <a:xfrm>
            <a:off x="475488" y="3785616"/>
            <a:ext cx="3840480" cy="256032"/>
          </a:xfrm>
          <a:prstGeom prst="rect">
            <a:avLst/>
          </a:prstGeom>
          <a:noFill/>
          <a:ln/>
        </p:spPr>
        <p:txBody>
          <a:bodyPr wrap="square" rtlCol="0" anchor="ctr"/>
          <a:lstStyle/>
          <a:p>
            <a:pPr marL="0" indent="0">
              <a:buNone/>
            </a:pPr>
            <a:r>
              <a:rPr lang="en-US" sz="1100" b="1" dirty="0">
                <a:solidFill>
                  <a:srgbClr val="FFFFFF"/>
                </a:solidFill>
              </a:rPr>
              <a:t>▶  強度50%以下・短時間</a:t>
            </a:r>
            <a:endParaRPr lang="en-US" sz="1100" dirty="0"/>
          </a:p>
        </p:txBody>
      </p:sp>
      <p:sp>
        <p:nvSpPr>
          <p:cNvPr id="32" name="Text 30"/>
          <p:cNvSpPr/>
          <p:nvPr/>
        </p:nvSpPr>
        <p:spPr>
          <a:xfrm>
            <a:off x="475488" y="4078224"/>
            <a:ext cx="3840480" cy="457200"/>
          </a:xfrm>
          <a:prstGeom prst="rect">
            <a:avLst/>
          </a:prstGeom>
          <a:noFill/>
          <a:ln/>
        </p:spPr>
        <p:txBody>
          <a:bodyPr wrap="square" rtlCol="0" anchor="ctr"/>
          <a:lstStyle/>
          <a:p>
            <a:pPr marL="0" indent="0">
              <a:buNone/>
            </a:pPr>
            <a:r>
              <a:rPr lang="en-US" sz="850" dirty="0">
                <a:solidFill>
                  <a:srgbClr val="B0BBD0"/>
                </a:solidFill>
              </a:rPr>
              <a:t>パフォーマンスは出るが内部ストレスが高い。</a:t>
            </a:r>
            <a:endParaRPr lang="en-US" sz="850" dirty="0"/>
          </a:p>
          <a:p>
            <a:pPr marL="0" indent="0">
              <a:buNone/>
            </a:pPr>
            <a:r>
              <a:rPr lang="en-US" sz="850" dirty="0">
                <a:solidFill>
                  <a:srgbClr val="B0BBD0"/>
                </a:solidFill>
              </a:rPr>
              <a:t>強度を抑えて過負荷を避ける。</a:t>
            </a:r>
            <a:endParaRPr lang="en-US" sz="850" dirty="0"/>
          </a:p>
        </p:txBody>
      </p:sp>
      <p:sp>
        <p:nvSpPr>
          <p:cNvPr id="33" name="Shape 31"/>
          <p:cNvSpPr/>
          <p:nvPr/>
        </p:nvSpPr>
        <p:spPr>
          <a:xfrm>
            <a:off x="4663440" y="3035808"/>
            <a:ext cx="4114800" cy="1600200"/>
          </a:xfrm>
          <a:prstGeom prst="rect">
            <a:avLst/>
          </a:prstGeom>
          <a:solidFill>
            <a:srgbClr val="141929"/>
          </a:solidFill>
          <a:ln w="6350">
            <a:solidFill>
              <a:srgbClr val="1F2A45"/>
            </a:solidFill>
            <a:prstDash val="solid"/>
          </a:ln>
          <a:effectLst>
            <a:outerShdw blurRad="101600" dist="25400" dir="8100000" algn="bl" rotWithShape="0">
              <a:srgbClr val="000000">
                <a:alpha val="25000"/>
              </a:srgbClr>
            </a:outerShdw>
          </a:effectLst>
        </p:spPr>
      </p:sp>
      <p:sp>
        <p:nvSpPr>
          <p:cNvPr id="34" name="Shape 32"/>
          <p:cNvSpPr/>
          <p:nvPr/>
        </p:nvSpPr>
        <p:spPr>
          <a:xfrm>
            <a:off x="4663440" y="3035808"/>
            <a:ext cx="45720" cy="1600200"/>
          </a:xfrm>
          <a:prstGeom prst="rect">
            <a:avLst/>
          </a:prstGeom>
          <a:solidFill>
            <a:srgbClr val="E74C3C"/>
          </a:solidFill>
          <a:ln w="12700">
            <a:solidFill>
              <a:srgbClr val="E74C3C"/>
            </a:solidFill>
            <a:prstDash val="solid"/>
          </a:ln>
        </p:spPr>
      </p:sp>
      <p:sp>
        <p:nvSpPr>
          <p:cNvPr id="35" name="Shape 33"/>
          <p:cNvSpPr/>
          <p:nvPr/>
        </p:nvSpPr>
        <p:spPr>
          <a:xfrm>
            <a:off x="4773168" y="3145536"/>
            <a:ext cx="548640" cy="201168"/>
          </a:xfrm>
          <a:prstGeom prst="rect">
            <a:avLst/>
          </a:prstGeom>
          <a:solidFill>
            <a:srgbClr val="1F2A45"/>
          </a:solidFill>
          <a:ln w="12700">
            <a:solidFill>
              <a:srgbClr val="1F2A45"/>
            </a:solidFill>
            <a:prstDash val="solid"/>
          </a:ln>
        </p:spPr>
      </p:sp>
      <p:sp>
        <p:nvSpPr>
          <p:cNvPr id="36" name="Text 34"/>
          <p:cNvSpPr/>
          <p:nvPr/>
        </p:nvSpPr>
        <p:spPr>
          <a:xfrm>
            <a:off x="4773168" y="3145536"/>
            <a:ext cx="548640" cy="201168"/>
          </a:xfrm>
          <a:prstGeom prst="rect">
            <a:avLst/>
          </a:prstGeom>
          <a:noFill/>
          <a:ln/>
        </p:spPr>
        <p:txBody>
          <a:bodyPr wrap="square" lIns="0" tIns="0" rIns="0" bIns="0" rtlCol="0" anchor="ctr"/>
          <a:lstStyle/>
          <a:p>
            <a:pPr marL="0" indent="0" algn="ctr">
              <a:buNone/>
            </a:pPr>
            <a:r>
              <a:rPr lang="en-US" sz="700" b="1" dirty="0">
                <a:solidFill>
                  <a:srgbClr val="E74C3C"/>
                </a:solidFill>
              </a:rPr>
              <a:t>HRV: LOW</a:t>
            </a:r>
            <a:endParaRPr lang="en-US" sz="700" dirty="0"/>
          </a:p>
        </p:txBody>
      </p:sp>
      <p:sp>
        <p:nvSpPr>
          <p:cNvPr id="37" name="Shape 35"/>
          <p:cNvSpPr/>
          <p:nvPr/>
        </p:nvSpPr>
        <p:spPr>
          <a:xfrm>
            <a:off x="5376672" y="3145536"/>
            <a:ext cx="640080" cy="201168"/>
          </a:xfrm>
          <a:prstGeom prst="rect">
            <a:avLst/>
          </a:prstGeom>
          <a:solidFill>
            <a:srgbClr val="1F2A45"/>
          </a:solidFill>
          <a:ln w="12700">
            <a:solidFill>
              <a:srgbClr val="1F2A45"/>
            </a:solidFill>
            <a:prstDash val="solid"/>
          </a:ln>
        </p:spPr>
      </p:sp>
      <p:sp>
        <p:nvSpPr>
          <p:cNvPr id="38" name="Text 36"/>
          <p:cNvSpPr/>
          <p:nvPr/>
        </p:nvSpPr>
        <p:spPr>
          <a:xfrm>
            <a:off x="5376672" y="3145536"/>
            <a:ext cx="640080" cy="201168"/>
          </a:xfrm>
          <a:prstGeom prst="rect">
            <a:avLst/>
          </a:prstGeom>
          <a:noFill/>
          <a:ln/>
        </p:spPr>
        <p:txBody>
          <a:bodyPr wrap="square" lIns="0" tIns="0" rIns="0" bIns="0" rtlCol="0" anchor="ctr"/>
          <a:lstStyle/>
          <a:p>
            <a:pPr marL="0" indent="0" algn="ctr">
              <a:buNone/>
            </a:pPr>
            <a:r>
              <a:rPr lang="en-US" sz="700" b="1" dirty="0">
                <a:solidFill>
                  <a:srgbClr val="E74C3C"/>
                </a:solidFill>
              </a:rPr>
              <a:t>PERF: LOW</a:t>
            </a:r>
            <a:endParaRPr lang="en-US" sz="700" dirty="0"/>
          </a:p>
        </p:txBody>
      </p:sp>
      <p:sp>
        <p:nvSpPr>
          <p:cNvPr id="39" name="Text 37"/>
          <p:cNvSpPr/>
          <p:nvPr/>
        </p:nvSpPr>
        <p:spPr>
          <a:xfrm>
            <a:off x="4773168" y="3419856"/>
            <a:ext cx="3840480" cy="320040"/>
          </a:xfrm>
          <a:prstGeom prst="rect">
            <a:avLst/>
          </a:prstGeom>
          <a:noFill/>
          <a:ln/>
        </p:spPr>
        <p:txBody>
          <a:bodyPr wrap="square" rtlCol="0" anchor="ctr"/>
          <a:lstStyle/>
          <a:p>
            <a:pPr marL="0" indent="0">
              <a:buNone/>
            </a:pPr>
            <a:r>
              <a:rPr lang="en-US" sz="1500" b="1" dirty="0">
                <a:solidFill>
                  <a:srgbClr val="E74C3C"/>
                </a:solidFill>
              </a:rPr>
              <a:t>🛑  FULL REST</a:t>
            </a:r>
            <a:endParaRPr lang="en-US" sz="1500" dirty="0"/>
          </a:p>
        </p:txBody>
      </p:sp>
      <p:sp>
        <p:nvSpPr>
          <p:cNvPr id="40" name="Text 38"/>
          <p:cNvSpPr/>
          <p:nvPr/>
        </p:nvSpPr>
        <p:spPr>
          <a:xfrm>
            <a:off x="4773168" y="3785616"/>
            <a:ext cx="3840480" cy="256032"/>
          </a:xfrm>
          <a:prstGeom prst="rect">
            <a:avLst/>
          </a:prstGeom>
          <a:noFill/>
          <a:ln/>
        </p:spPr>
        <p:txBody>
          <a:bodyPr wrap="square" rtlCol="0" anchor="ctr"/>
          <a:lstStyle/>
          <a:p>
            <a:pPr marL="0" indent="0">
              <a:buNone/>
            </a:pPr>
            <a:r>
              <a:rPr lang="en-US" sz="1100" b="1" dirty="0">
                <a:solidFill>
                  <a:srgbClr val="FFFFFF"/>
                </a:solidFill>
              </a:rPr>
              <a:t>▶  完全休養またはウォーク</a:t>
            </a:r>
            <a:endParaRPr lang="en-US" sz="1100" dirty="0"/>
          </a:p>
        </p:txBody>
      </p:sp>
      <p:sp>
        <p:nvSpPr>
          <p:cNvPr id="41" name="Text 39"/>
          <p:cNvSpPr/>
          <p:nvPr/>
        </p:nvSpPr>
        <p:spPr>
          <a:xfrm>
            <a:off x="4773168" y="4078224"/>
            <a:ext cx="3840480" cy="457200"/>
          </a:xfrm>
          <a:prstGeom prst="rect">
            <a:avLst/>
          </a:prstGeom>
          <a:noFill/>
          <a:ln/>
        </p:spPr>
        <p:txBody>
          <a:bodyPr wrap="square" rtlCol="0" anchor="ctr"/>
          <a:lstStyle/>
          <a:p>
            <a:pPr marL="0" indent="0">
              <a:buNone/>
            </a:pPr>
            <a:r>
              <a:rPr lang="en-US" sz="850" dirty="0">
                <a:solidFill>
                  <a:srgbClr val="B0BBD0"/>
                </a:solidFill>
              </a:rPr>
              <a:t>今日はリカバリーデー。</a:t>
            </a:r>
            <a:endParaRPr lang="en-US" sz="850" dirty="0"/>
          </a:p>
          <a:p>
            <a:pPr marL="0" indent="0">
              <a:buNone/>
            </a:pPr>
            <a:r>
              <a:rPr lang="en-US" sz="850" dirty="0">
                <a:solidFill>
                  <a:srgbClr val="B0BBD0"/>
                </a:solidFill>
              </a:rPr>
              <a:t>積極的回復（ストレッチ・散歩）を選択。</a:t>
            </a:r>
            <a:endParaRPr lang="en-US" sz="850" dirty="0"/>
          </a:p>
        </p:txBody>
      </p:sp>
      <p:sp>
        <p:nvSpPr>
          <p:cNvPr id="42" name="Shape 40"/>
          <p:cNvSpPr/>
          <p:nvPr/>
        </p:nvSpPr>
        <p:spPr>
          <a:xfrm>
            <a:off x="4407408" y="1325880"/>
            <a:ext cx="36576" cy="3310128"/>
          </a:xfrm>
          <a:prstGeom prst="rect">
            <a:avLst/>
          </a:prstGeom>
          <a:solidFill>
            <a:srgbClr val="1F2A45"/>
          </a:solidFill>
          <a:ln w="12700">
            <a:solidFill>
              <a:srgbClr val="1F2A45"/>
            </a:solidFill>
            <a:prstDash val="solid"/>
          </a:ln>
        </p:spPr>
      </p:sp>
      <p:sp>
        <p:nvSpPr>
          <p:cNvPr id="43" name="Shape 41"/>
          <p:cNvSpPr/>
          <p:nvPr/>
        </p:nvSpPr>
        <p:spPr>
          <a:xfrm>
            <a:off x="365760" y="2971800"/>
            <a:ext cx="8412480" cy="36576"/>
          </a:xfrm>
          <a:prstGeom prst="rect">
            <a:avLst/>
          </a:prstGeom>
          <a:solidFill>
            <a:srgbClr val="1F2A45"/>
          </a:solidFill>
          <a:ln w="12700">
            <a:solidFill>
              <a:srgbClr val="1F2A45"/>
            </a:solidFill>
            <a:prstDash val="solid"/>
          </a:ln>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0E1A"/>
        </a:solidFill>
        <a:effectLst/>
      </p:bgPr>
    </p:bg>
    <p:spTree>
      <p:nvGrpSpPr>
        <p:cNvPr id="1" name=""/>
        <p:cNvGrpSpPr/>
        <p:nvPr/>
      </p:nvGrpSpPr>
      <p:grpSpPr>
        <a:xfrm>
          <a:off x="0" y="0"/>
          <a:ext cx="0" cy="0"/>
          <a:chOff x="0" y="0"/>
          <a:chExt cx="0" cy="0"/>
        </a:xfrm>
      </p:grpSpPr>
      <p:sp>
        <p:nvSpPr>
          <p:cNvPr id="2" name="Text 0"/>
          <p:cNvSpPr/>
          <p:nvPr/>
        </p:nvSpPr>
        <p:spPr>
          <a:xfrm>
            <a:off x="365760" y="201168"/>
            <a:ext cx="8229600" cy="228600"/>
          </a:xfrm>
          <a:prstGeom prst="rect">
            <a:avLst/>
          </a:prstGeom>
          <a:noFill/>
          <a:ln/>
        </p:spPr>
        <p:txBody>
          <a:bodyPr wrap="square" rtlCol="0" anchor="ctr"/>
          <a:lstStyle/>
          <a:p>
            <a:pPr marL="0" indent="0">
              <a:buNone/>
            </a:pPr>
            <a:r>
              <a:rPr lang="en-US" sz="800" b="1" kern="0" spc="300" dirty="0">
                <a:solidFill>
                  <a:srgbClr val="00D4C8"/>
                </a:solidFill>
              </a:rPr>
              <a:t>QUICK START CHECKLIST</a:t>
            </a:r>
            <a:endParaRPr lang="en-US" sz="800" dirty="0"/>
          </a:p>
        </p:txBody>
      </p:sp>
      <p:sp>
        <p:nvSpPr>
          <p:cNvPr id="3" name="Text 1"/>
          <p:cNvSpPr/>
          <p:nvPr/>
        </p:nvSpPr>
        <p:spPr>
          <a:xfrm>
            <a:off x="365760" y="475488"/>
            <a:ext cx="8412480" cy="548640"/>
          </a:xfrm>
          <a:prstGeom prst="rect">
            <a:avLst/>
          </a:prstGeom>
          <a:noFill/>
          <a:ln/>
        </p:spPr>
        <p:txBody>
          <a:bodyPr wrap="square" rtlCol="0" anchor="ctr"/>
          <a:lstStyle/>
          <a:p>
            <a:pPr marL="0" indent="0">
              <a:buNone/>
            </a:pPr>
            <a:r>
              <a:rPr lang="en-US" sz="2800" b="1" dirty="0">
                <a:solidFill>
                  <a:srgbClr val="FFFFFF"/>
                </a:solidFill>
              </a:rPr>
              <a:t>スタートチェックリスト</a:t>
            </a:r>
            <a:endParaRPr lang="en-US" sz="2800" dirty="0"/>
          </a:p>
        </p:txBody>
      </p:sp>
      <p:sp>
        <p:nvSpPr>
          <p:cNvPr id="4" name="Text 2"/>
          <p:cNvSpPr/>
          <p:nvPr/>
        </p:nvSpPr>
        <p:spPr>
          <a:xfrm>
            <a:off x="365760" y="978408"/>
            <a:ext cx="8412480" cy="274320"/>
          </a:xfrm>
          <a:prstGeom prst="rect">
            <a:avLst/>
          </a:prstGeom>
          <a:noFill/>
          <a:ln/>
        </p:spPr>
        <p:txBody>
          <a:bodyPr wrap="square" rtlCol="0" anchor="ctr"/>
          <a:lstStyle/>
          <a:p>
            <a:pPr marL="0" indent="0">
              <a:buNone/>
            </a:pPr>
            <a:r>
              <a:rPr lang="en-US" sz="1200" dirty="0">
                <a:solidFill>
                  <a:srgbClr val="B0BBD0"/>
                </a:solidFill>
              </a:rPr>
              <a:t>研究開始前にすべてのチェックが完了していることを確認してください</a:t>
            </a:r>
            <a:endParaRPr lang="en-US" sz="1200" dirty="0"/>
          </a:p>
        </p:txBody>
      </p:sp>
      <p:sp>
        <p:nvSpPr>
          <p:cNvPr id="5" name="Shape 3"/>
          <p:cNvSpPr/>
          <p:nvPr/>
        </p:nvSpPr>
        <p:spPr>
          <a:xfrm>
            <a:off x="365760" y="1371600"/>
            <a:ext cx="8412480" cy="22860"/>
          </a:xfrm>
          <a:prstGeom prst="rect">
            <a:avLst/>
          </a:prstGeom>
          <a:solidFill>
            <a:srgbClr val="1F2A45"/>
          </a:solidFill>
          <a:ln w="12700">
            <a:solidFill>
              <a:srgbClr val="1F2A45"/>
            </a:solidFill>
            <a:prstDash val="solid"/>
          </a:ln>
        </p:spPr>
      </p:sp>
      <p:sp>
        <p:nvSpPr>
          <p:cNvPr id="6" name="Shape 4"/>
          <p:cNvSpPr/>
          <p:nvPr/>
        </p:nvSpPr>
        <p:spPr>
          <a:xfrm>
            <a:off x="365760" y="1463040"/>
            <a:ext cx="8412480" cy="402336"/>
          </a:xfrm>
          <a:prstGeom prst="rect">
            <a:avLst/>
          </a:prstGeom>
          <a:solidFill>
            <a:srgbClr val="141929"/>
          </a:solidFill>
          <a:ln w="3175">
            <a:solidFill>
              <a:srgbClr val="1F2A45"/>
            </a:solidFill>
            <a:prstDash val="solid"/>
          </a:ln>
        </p:spPr>
      </p:sp>
      <p:sp>
        <p:nvSpPr>
          <p:cNvPr id="7" name="Shape 5"/>
          <p:cNvSpPr/>
          <p:nvPr/>
        </p:nvSpPr>
        <p:spPr>
          <a:xfrm>
            <a:off x="365760" y="2322576"/>
            <a:ext cx="8412480" cy="402336"/>
          </a:xfrm>
          <a:prstGeom prst="rect">
            <a:avLst/>
          </a:prstGeom>
          <a:solidFill>
            <a:srgbClr val="141929"/>
          </a:solidFill>
          <a:ln w="3175">
            <a:solidFill>
              <a:srgbClr val="1F2A45"/>
            </a:solidFill>
            <a:prstDash val="solid"/>
          </a:ln>
        </p:spPr>
      </p:sp>
      <p:sp>
        <p:nvSpPr>
          <p:cNvPr id="8" name="Shape 6"/>
          <p:cNvSpPr/>
          <p:nvPr/>
        </p:nvSpPr>
        <p:spPr>
          <a:xfrm>
            <a:off x="365760" y="3182112"/>
            <a:ext cx="8412480" cy="402336"/>
          </a:xfrm>
          <a:prstGeom prst="rect">
            <a:avLst/>
          </a:prstGeom>
          <a:solidFill>
            <a:srgbClr val="141929"/>
          </a:solidFill>
          <a:ln w="3175">
            <a:solidFill>
              <a:srgbClr val="1F2A45"/>
            </a:solidFill>
            <a:prstDash val="solid"/>
          </a:ln>
        </p:spPr>
      </p:sp>
      <p:sp>
        <p:nvSpPr>
          <p:cNvPr id="9" name="Shape 7"/>
          <p:cNvSpPr/>
          <p:nvPr/>
        </p:nvSpPr>
        <p:spPr>
          <a:xfrm>
            <a:off x="365760" y="4041648"/>
            <a:ext cx="8412480" cy="402336"/>
          </a:xfrm>
          <a:prstGeom prst="rect">
            <a:avLst/>
          </a:prstGeom>
          <a:solidFill>
            <a:srgbClr val="141929"/>
          </a:solidFill>
          <a:ln w="3175">
            <a:solidFill>
              <a:srgbClr val="1F2A45"/>
            </a:solidFill>
            <a:prstDash val="solid"/>
          </a:ln>
        </p:spPr>
      </p:sp>
      <p:sp>
        <p:nvSpPr>
          <p:cNvPr id="10" name="Shape 8"/>
          <p:cNvSpPr/>
          <p:nvPr/>
        </p:nvSpPr>
        <p:spPr>
          <a:xfrm>
            <a:off x="365760" y="1517904"/>
            <a:ext cx="310896" cy="310896"/>
          </a:xfrm>
          <a:prstGeom prst="rect">
            <a:avLst/>
          </a:prstGeom>
          <a:solidFill>
            <a:srgbClr val="0A0E1A"/>
          </a:solidFill>
          <a:ln w="19050">
            <a:solidFill>
              <a:srgbClr val="F5C842"/>
            </a:solidFill>
            <a:prstDash val="solid"/>
          </a:ln>
        </p:spPr>
      </p:sp>
      <p:sp>
        <p:nvSpPr>
          <p:cNvPr id="11" name="Text 9"/>
          <p:cNvSpPr/>
          <p:nvPr/>
        </p:nvSpPr>
        <p:spPr>
          <a:xfrm>
            <a:off x="804672" y="1481328"/>
            <a:ext cx="411480" cy="384048"/>
          </a:xfrm>
          <a:prstGeom prst="rect">
            <a:avLst/>
          </a:prstGeom>
          <a:noFill/>
          <a:ln/>
        </p:spPr>
        <p:txBody>
          <a:bodyPr wrap="square" rtlCol="0" anchor="ctr"/>
          <a:lstStyle/>
          <a:p>
            <a:pPr marL="0" indent="0">
              <a:buNone/>
            </a:pPr>
            <a:r>
              <a:rPr lang="en-US" sz="1400" dirty="0">
                <a:solidFill>
                  <a:srgbClr val="000000"/>
                </a:solidFill>
              </a:rPr>
              <a:t>📋</a:t>
            </a:r>
            <a:endParaRPr lang="en-US" sz="1400" dirty="0"/>
          </a:p>
        </p:txBody>
      </p:sp>
      <p:sp>
        <p:nvSpPr>
          <p:cNvPr id="12" name="Text 10"/>
          <p:cNvSpPr/>
          <p:nvPr/>
        </p:nvSpPr>
        <p:spPr>
          <a:xfrm>
            <a:off x="1280160" y="1481328"/>
            <a:ext cx="7452360" cy="384048"/>
          </a:xfrm>
          <a:prstGeom prst="rect">
            <a:avLst/>
          </a:prstGeom>
          <a:noFill/>
          <a:ln/>
        </p:spPr>
        <p:txBody>
          <a:bodyPr wrap="square" rtlCol="0" anchor="ctr"/>
          <a:lstStyle/>
          <a:p>
            <a:pPr marL="0" indent="0">
              <a:buNone/>
            </a:pPr>
            <a:r>
              <a:rPr lang="en-US" sz="1150" dirty="0">
                <a:solidFill>
                  <a:srgbClr val="FFFFFF"/>
                </a:solidFill>
              </a:rPr>
              <a:t>初回アンケート（健康歴・喫煙歴・生活習慣）に回答した</a:t>
            </a:r>
            <a:endParaRPr lang="en-US" sz="1150" dirty="0"/>
          </a:p>
        </p:txBody>
      </p:sp>
      <p:sp>
        <p:nvSpPr>
          <p:cNvPr id="13" name="Shape 11"/>
          <p:cNvSpPr/>
          <p:nvPr/>
        </p:nvSpPr>
        <p:spPr>
          <a:xfrm>
            <a:off x="365760" y="1947672"/>
            <a:ext cx="310896" cy="310896"/>
          </a:xfrm>
          <a:prstGeom prst="rect">
            <a:avLst/>
          </a:prstGeom>
          <a:solidFill>
            <a:srgbClr val="0A0E1A"/>
          </a:solidFill>
          <a:ln w="19050">
            <a:solidFill>
              <a:srgbClr val="00D4C8"/>
            </a:solidFill>
            <a:prstDash val="solid"/>
          </a:ln>
        </p:spPr>
      </p:sp>
      <p:sp>
        <p:nvSpPr>
          <p:cNvPr id="14" name="Text 12"/>
          <p:cNvSpPr/>
          <p:nvPr/>
        </p:nvSpPr>
        <p:spPr>
          <a:xfrm>
            <a:off x="804672" y="1911096"/>
            <a:ext cx="411480" cy="384048"/>
          </a:xfrm>
          <a:prstGeom prst="rect">
            <a:avLst/>
          </a:prstGeom>
          <a:noFill/>
          <a:ln/>
        </p:spPr>
        <p:txBody>
          <a:bodyPr wrap="square" rtlCol="0" anchor="ctr"/>
          <a:lstStyle/>
          <a:p>
            <a:pPr marL="0" indent="0">
              <a:buNone/>
            </a:pPr>
            <a:r>
              <a:rPr lang="en-US" sz="1400" dirty="0">
                <a:solidFill>
                  <a:srgbClr val="000000"/>
                </a:solidFill>
              </a:rPr>
              <a:t>⌚</a:t>
            </a:r>
            <a:endParaRPr lang="en-US" sz="1400" dirty="0"/>
          </a:p>
        </p:txBody>
      </p:sp>
      <p:sp>
        <p:nvSpPr>
          <p:cNvPr id="15" name="Text 13"/>
          <p:cNvSpPr/>
          <p:nvPr/>
        </p:nvSpPr>
        <p:spPr>
          <a:xfrm>
            <a:off x="1280160" y="1911096"/>
            <a:ext cx="7452360" cy="384048"/>
          </a:xfrm>
          <a:prstGeom prst="rect">
            <a:avLst/>
          </a:prstGeom>
          <a:noFill/>
          <a:ln/>
        </p:spPr>
        <p:txBody>
          <a:bodyPr wrap="square" rtlCol="0" anchor="ctr"/>
          <a:lstStyle/>
          <a:p>
            <a:pPr marL="0" indent="0">
              <a:buNone/>
            </a:pPr>
            <a:r>
              <a:rPr lang="en-US" sz="1150" dirty="0">
                <a:solidFill>
                  <a:srgbClr val="FFFFFF"/>
                </a:solidFill>
              </a:rPr>
              <a:t>Apple Watch の Auto Health Export を設定し、必要な指標をONにした</a:t>
            </a:r>
            <a:endParaRPr lang="en-US" sz="1150" dirty="0"/>
          </a:p>
        </p:txBody>
      </p:sp>
      <p:sp>
        <p:nvSpPr>
          <p:cNvPr id="16" name="Shape 14"/>
          <p:cNvSpPr/>
          <p:nvPr/>
        </p:nvSpPr>
        <p:spPr>
          <a:xfrm>
            <a:off x="365760" y="2377440"/>
            <a:ext cx="310896" cy="310896"/>
          </a:xfrm>
          <a:prstGeom prst="rect">
            <a:avLst/>
          </a:prstGeom>
          <a:solidFill>
            <a:srgbClr val="0A0E1A"/>
          </a:solidFill>
          <a:ln w="19050">
            <a:solidFill>
              <a:srgbClr val="3D9BE9"/>
            </a:solidFill>
            <a:prstDash val="solid"/>
          </a:ln>
        </p:spPr>
      </p:sp>
      <p:sp>
        <p:nvSpPr>
          <p:cNvPr id="17" name="Text 15"/>
          <p:cNvSpPr/>
          <p:nvPr/>
        </p:nvSpPr>
        <p:spPr>
          <a:xfrm>
            <a:off x="804672" y="2340864"/>
            <a:ext cx="411480" cy="384048"/>
          </a:xfrm>
          <a:prstGeom prst="rect">
            <a:avLst/>
          </a:prstGeom>
          <a:noFill/>
          <a:ln/>
        </p:spPr>
        <p:txBody>
          <a:bodyPr wrap="square" rtlCol="0" anchor="ctr"/>
          <a:lstStyle/>
          <a:p>
            <a:pPr marL="0" indent="0">
              <a:buNone/>
            </a:pPr>
            <a:r>
              <a:rPr lang="en-US" sz="1400" dirty="0">
                <a:solidFill>
                  <a:srgbClr val="000000"/>
                </a:solidFill>
              </a:rPr>
              <a:t>📱</a:t>
            </a:r>
            <a:endParaRPr lang="en-US" sz="1400" dirty="0"/>
          </a:p>
        </p:txBody>
      </p:sp>
      <p:sp>
        <p:nvSpPr>
          <p:cNvPr id="18" name="Text 16"/>
          <p:cNvSpPr/>
          <p:nvPr/>
        </p:nvSpPr>
        <p:spPr>
          <a:xfrm>
            <a:off x="1280160" y="2340864"/>
            <a:ext cx="7452360" cy="384048"/>
          </a:xfrm>
          <a:prstGeom prst="rect">
            <a:avLst/>
          </a:prstGeom>
          <a:noFill/>
          <a:ln/>
        </p:spPr>
        <p:txBody>
          <a:bodyPr wrap="square" rtlCol="0" anchor="ctr"/>
          <a:lstStyle/>
          <a:p>
            <a:pPr marL="0" indent="0">
              <a:buNone/>
            </a:pPr>
            <a:r>
              <a:rPr lang="en-US" sz="1150" dirty="0">
                <a:solidFill>
                  <a:srgbClr val="FFFFFF"/>
                </a:solidFill>
              </a:rPr>
              <a:t>CogniFit アプリをインストールし、アカウント作成を完了した</a:t>
            </a:r>
            <a:endParaRPr lang="en-US" sz="1150" dirty="0"/>
          </a:p>
        </p:txBody>
      </p:sp>
      <p:sp>
        <p:nvSpPr>
          <p:cNvPr id="19" name="Shape 17"/>
          <p:cNvSpPr/>
          <p:nvPr/>
        </p:nvSpPr>
        <p:spPr>
          <a:xfrm>
            <a:off x="365760" y="2807208"/>
            <a:ext cx="310896" cy="310896"/>
          </a:xfrm>
          <a:prstGeom prst="rect">
            <a:avLst/>
          </a:prstGeom>
          <a:solidFill>
            <a:srgbClr val="0A0E1A"/>
          </a:solidFill>
          <a:ln w="19050">
            <a:solidFill>
              <a:srgbClr val="2ED47A"/>
            </a:solidFill>
            <a:prstDash val="solid"/>
          </a:ln>
        </p:spPr>
      </p:sp>
      <p:sp>
        <p:nvSpPr>
          <p:cNvPr id="20" name="Text 18"/>
          <p:cNvSpPr/>
          <p:nvPr/>
        </p:nvSpPr>
        <p:spPr>
          <a:xfrm>
            <a:off x="804672" y="2770632"/>
            <a:ext cx="411480" cy="384048"/>
          </a:xfrm>
          <a:prstGeom prst="rect">
            <a:avLst/>
          </a:prstGeom>
          <a:noFill/>
          <a:ln/>
        </p:spPr>
        <p:txBody>
          <a:bodyPr wrap="square" rtlCol="0" anchor="ctr"/>
          <a:lstStyle/>
          <a:p>
            <a:pPr marL="0" indent="0">
              <a:buNone/>
            </a:pPr>
            <a:r>
              <a:rPr lang="en-US" sz="1400" dirty="0">
                <a:solidFill>
                  <a:srgbClr val="000000"/>
                </a:solidFill>
              </a:rPr>
              <a:t>📝</a:t>
            </a:r>
            <a:endParaRPr lang="en-US" sz="1400" dirty="0"/>
          </a:p>
        </p:txBody>
      </p:sp>
      <p:sp>
        <p:nvSpPr>
          <p:cNvPr id="21" name="Text 19"/>
          <p:cNvSpPr/>
          <p:nvPr/>
        </p:nvSpPr>
        <p:spPr>
          <a:xfrm>
            <a:off x="1280160" y="2770632"/>
            <a:ext cx="7452360" cy="384048"/>
          </a:xfrm>
          <a:prstGeom prst="rect">
            <a:avLst/>
          </a:prstGeom>
          <a:noFill/>
          <a:ln/>
        </p:spPr>
        <p:txBody>
          <a:bodyPr wrap="square" rtlCol="0" anchor="ctr"/>
          <a:lstStyle/>
          <a:p>
            <a:pPr marL="0" indent="0">
              <a:buNone/>
            </a:pPr>
            <a:r>
              <a:rPr lang="en-US" sz="1150" dirty="0">
                <a:solidFill>
                  <a:srgbClr val="FFFFFF"/>
                </a:solidFill>
              </a:rPr>
              <a:t>朝フォーム・夜フォームをスマートフォンのホーム画面に追加した</a:t>
            </a:r>
            <a:endParaRPr lang="en-US" sz="1150" dirty="0"/>
          </a:p>
        </p:txBody>
      </p:sp>
      <p:sp>
        <p:nvSpPr>
          <p:cNvPr id="22" name="Shape 20"/>
          <p:cNvSpPr/>
          <p:nvPr/>
        </p:nvSpPr>
        <p:spPr>
          <a:xfrm>
            <a:off x="365760" y="3236976"/>
            <a:ext cx="310896" cy="310896"/>
          </a:xfrm>
          <a:prstGeom prst="rect">
            <a:avLst/>
          </a:prstGeom>
          <a:solidFill>
            <a:srgbClr val="0A0E1A"/>
          </a:solidFill>
          <a:ln w="19050">
            <a:solidFill>
              <a:srgbClr val="F57C2E"/>
            </a:solidFill>
            <a:prstDash val="solid"/>
          </a:ln>
        </p:spPr>
      </p:sp>
      <p:sp>
        <p:nvSpPr>
          <p:cNvPr id="23" name="Text 21"/>
          <p:cNvSpPr/>
          <p:nvPr/>
        </p:nvSpPr>
        <p:spPr>
          <a:xfrm>
            <a:off x="804672" y="3200400"/>
            <a:ext cx="411480" cy="384048"/>
          </a:xfrm>
          <a:prstGeom prst="rect">
            <a:avLst/>
          </a:prstGeom>
          <a:noFill/>
          <a:ln/>
        </p:spPr>
        <p:txBody>
          <a:bodyPr wrap="square" rtlCol="0" anchor="ctr"/>
          <a:lstStyle/>
          <a:p>
            <a:pPr marL="0" indent="0">
              <a:buNone/>
            </a:pPr>
            <a:r>
              <a:rPr lang="en-US" sz="1400" dirty="0">
                <a:solidFill>
                  <a:srgbClr val="000000"/>
                </a:solidFill>
              </a:rPr>
              <a:t>💬</a:t>
            </a:r>
            <a:endParaRPr lang="en-US" sz="1400" dirty="0"/>
          </a:p>
        </p:txBody>
      </p:sp>
      <p:sp>
        <p:nvSpPr>
          <p:cNvPr id="24" name="Text 22"/>
          <p:cNvSpPr/>
          <p:nvPr/>
        </p:nvSpPr>
        <p:spPr>
          <a:xfrm>
            <a:off x="1280160" y="3200400"/>
            <a:ext cx="7452360" cy="384048"/>
          </a:xfrm>
          <a:prstGeom prst="rect">
            <a:avLst/>
          </a:prstGeom>
          <a:noFill/>
          <a:ln/>
        </p:spPr>
        <p:txBody>
          <a:bodyPr wrap="square" rtlCol="0" anchor="ctr"/>
          <a:lstStyle/>
          <a:p>
            <a:pPr marL="0" indent="0">
              <a:buNone/>
            </a:pPr>
            <a:r>
              <a:rPr lang="en-US" sz="1150" dirty="0">
                <a:solidFill>
                  <a:srgbClr val="FFFFFF"/>
                </a:solidFill>
              </a:rPr>
              <a:t>Gemini 栄養チャット用プロンプトを受け取り、保存した</a:t>
            </a:r>
            <a:endParaRPr lang="en-US" sz="1150" dirty="0"/>
          </a:p>
        </p:txBody>
      </p:sp>
      <p:sp>
        <p:nvSpPr>
          <p:cNvPr id="25" name="Shape 23"/>
          <p:cNvSpPr/>
          <p:nvPr/>
        </p:nvSpPr>
        <p:spPr>
          <a:xfrm>
            <a:off x="365760" y="3666744"/>
            <a:ext cx="310896" cy="310896"/>
          </a:xfrm>
          <a:prstGeom prst="rect">
            <a:avLst/>
          </a:prstGeom>
          <a:solidFill>
            <a:srgbClr val="0A0E1A"/>
          </a:solidFill>
          <a:ln w="19050">
            <a:solidFill>
              <a:srgbClr val="9B59F5"/>
            </a:solidFill>
            <a:prstDash val="solid"/>
          </a:ln>
        </p:spPr>
      </p:sp>
      <p:sp>
        <p:nvSpPr>
          <p:cNvPr id="26" name="Text 24"/>
          <p:cNvSpPr/>
          <p:nvPr/>
        </p:nvSpPr>
        <p:spPr>
          <a:xfrm>
            <a:off x="804672" y="3630168"/>
            <a:ext cx="411480" cy="384048"/>
          </a:xfrm>
          <a:prstGeom prst="rect">
            <a:avLst/>
          </a:prstGeom>
          <a:noFill/>
          <a:ln/>
        </p:spPr>
        <p:txBody>
          <a:bodyPr wrap="square" rtlCol="0" anchor="ctr"/>
          <a:lstStyle/>
          <a:p>
            <a:pPr marL="0" indent="0">
              <a:buNone/>
            </a:pPr>
            <a:r>
              <a:rPr lang="en-US" sz="1400" dirty="0">
                <a:solidFill>
                  <a:srgbClr val="000000"/>
                </a:solidFill>
              </a:rPr>
              <a:t>🧪</a:t>
            </a:r>
            <a:endParaRPr lang="en-US" sz="1400" dirty="0"/>
          </a:p>
        </p:txBody>
      </p:sp>
      <p:sp>
        <p:nvSpPr>
          <p:cNvPr id="27" name="Text 25"/>
          <p:cNvSpPr/>
          <p:nvPr/>
        </p:nvSpPr>
        <p:spPr>
          <a:xfrm>
            <a:off x="1280160" y="3630168"/>
            <a:ext cx="7452360" cy="384048"/>
          </a:xfrm>
          <a:prstGeom prst="rect">
            <a:avLst/>
          </a:prstGeom>
          <a:noFill/>
          <a:ln/>
        </p:spPr>
        <p:txBody>
          <a:bodyPr wrap="square" rtlCol="0" anchor="ctr"/>
          <a:lstStyle/>
          <a:p>
            <a:pPr marL="0" indent="0">
              <a:buNone/>
            </a:pPr>
            <a:r>
              <a:rPr lang="en-US" sz="1150" dirty="0">
                <a:solidFill>
                  <a:srgbClr val="FFFFFF"/>
                </a:solidFill>
              </a:rPr>
              <a:t>初回血液検査・InBody の予約を入れた（または済ませた）</a:t>
            </a:r>
            <a:endParaRPr lang="en-US" sz="1150" dirty="0"/>
          </a:p>
        </p:txBody>
      </p:sp>
      <p:sp>
        <p:nvSpPr>
          <p:cNvPr id="28" name="Shape 26"/>
          <p:cNvSpPr/>
          <p:nvPr/>
        </p:nvSpPr>
        <p:spPr>
          <a:xfrm>
            <a:off x="365760" y="4096512"/>
            <a:ext cx="310896" cy="310896"/>
          </a:xfrm>
          <a:prstGeom prst="rect">
            <a:avLst/>
          </a:prstGeom>
          <a:solidFill>
            <a:srgbClr val="0A0E1A"/>
          </a:solidFill>
          <a:ln w="19050">
            <a:solidFill>
              <a:srgbClr val="B0BBD0"/>
            </a:solidFill>
            <a:prstDash val="solid"/>
          </a:ln>
        </p:spPr>
      </p:sp>
      <p:sp>
        <p:nvSpPr>
          <p:cNvPr id="29" name="Text 27"/>
          <p:cNvSpPr/>
          <p:nvPr/>
        </p:nvSpPr>
        <p:spPr>
          <a:xfrm>
            <a:off x="804672" y="4059936"/>
            <a:ext cx="411480" cy="384048"/>
          </a:xfrm>
          <a:prstGeom prst="rect">
            <a:avLst/>
          </a:prstGeom>
          <a:noFill/>
          <a:ln/>
        </p:spPr>
        <p:txBody>
          <a:bodyPr wrap="square" rtlCol="0" anchor="ctr"/>
          <a:lstStyle/>
          <a:p>
            <a:pPr marL="0" indent="0">
              <a:buNone/>
            </a:pPr>
            <a:r>
              <a:rPr lang="en-US" sz="1400" dirty="0">
                <a:solidFill>
                  <a:srgbClr val="000000"/>
                </a:solidFill>
              </a:rPr>
              <a:t>📊</a:t>
            </a:r>
            <a:endParaRPr lang="en-US" sz="1400" dirty="0"/>
          </a:p>
        </p:txBody>
      </p:sp>
      <p:sp>
        <p:nvSpPr>
          <p:cNvPr id="30" name="Text 28"/>
          <p:cNvSpPr/>
          <p:nvPr/>
        </p:nvSpPr>
        <p:spPr>
          <a:xfrm>
            <a:off x="1280160" y="4059936"/>
            <a:ext cx="7452360" cy="384048"/>
          </a:xfrm>
          <a:prstGeom prst="rect">
            <a:avLst/>
          </a:prstGeom>
          <a:noFill/>
          <a:ln/>
        </p:spPr>
        <p:txBody>
          <a:bodyPr wrap="square" rtlCol="0" anchor="ctr"/>
          <a:lstStyle/>
          <a:p>
            <a:pPr marL="0" indent="0">
              <a:buNone/>
            </a:pPr>
            <a:r>
              <a:rPr lang="en-US" sz="1150" dirty="0">
                <a:solidFill>
                  <a:srgbClr val="FFFFFF"/>
                </a:solidFill>
              </a:rPr>
              <a:t>Google Sheets（データダッシュボード）へのアクセスを確認した</a:t>
            </a:r>
            <a:endParaRPr lang="en-US" sz="1150" dirty="0"/>
          </a:p>
        </p:txBody>
      </p:sp>
      <p:sp>
        <p:nvSpPr>
          <p:cNvPr id="31" name="Shape 29"/>
          <p:cNvSpPr/>
          <p:nvPr/>
        </p:nvSpPr>
        <p:spPr>
          <a:xfrm>
            <a:off x="365760" y="4617720"/>
            <a:ext cx="8412480" cy="411480"/>
          </a:xfrm>
          <a:prstGeom prst="rect">
            <a:avLst/>
          </a:prstGeom>
          <a:solidFill>
            <a:srgbClr val="141929"/>
          </a:solidFill>
          <a:ln w="6350">
            <a:solidFill>
              <a:srgbClr val="1F2A45"/>
            </a:solidFill>
            <a:prstDash val="solid"/>
          </a:ln>
          <a:effectLst>
            <a:outerShdw blurRad="101600" dist="25400" dir="8100000" algn="bl" rotWithShape="0">
              <a:srgbClr val="000000">
                <a:alpha val="25000"/>
              </a:srgbClr>
            </a:outerShdw>
          </a:effectLst>
        </p:spPr>
      </p:sp>
      <p:sp>
        <p:nvSpPr>
          <p:cNvPr id="32" name="Text 30"/>
          <p:cNvSpPr/>
          <p:nvPr/>
        </p:nvSpPr>
        <p:spPr>
          <a:xfrm>
            <a:off x="502920" y="4663440"/>
            <a:ext cx="8138160" cy="292608"/>
          </a:xfrm>
          <a:prstGeom prst="rect">
            <a:avLst/>
          </a:prstGeom>
          <a:noFill/>
          <a:ln/>
        </p:spPr>
        <p:txBody>
          <a:bodyPr wrap="square" rtlCol="0" anchor="ctr"/>
          <a:lstStyle/>
          <a:p>
            <a:pPr marL="0" indent="0">
              <a:buNone/>
            </a:pPr>
            <a:r>
              <a:rPr lang="en-US" sz="1000" b="1" dirty="0">
                <a:solidFill>
                  <a:srgbClr val="00D4C8"/>
                </a:solidFill>
              </a:rPr>
              <a:t>すべてチェックが完了したら、Iida Yuki にご連絡ください。研究スタートです！</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96</TotalTime>
  <Words>1348</Words>
  <Application>Microsoft Macintosh PowerPoint</Application>
  <PresentationFormat>画面に合わせる (16:9)</PresentationFormat>
  <Paragraphs>294</Paragraphs>
  <Slides>12</Slides>
  <Notes>12</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12</vt:i4>
      </vt:variant>
    </vt:vector>
  </HeadingPairs>
  <TitlesOfParts>
    <vt:vector size="16" baseType="lpstr">
      <vt:lpstr>Arial</vt:lpstr>
      <vt:lpstr>Calibri</vt:lpstr>
      <vt:lpstr>游ゴシック</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Iida Yuki</cp:lastModifiedBy>
  <cp:revision>2</cp:revision>
  <dcterms:created xsi:type="dcterms:W3CDTF">2026-04-19T08:49:33Z</dcterms:created>
  <dcterms:modified xsi:type="dcterms:W3CDTF">2026-04-19T10:47:50Z</dcterms:modified>
</cp:coreProperties>
</file>