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346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87452"/>
            <a:ext cx="4261607" cy="3899916"/>
          </a:xfrm>
          <a:prstGeom prst="ellipse">
            <a:avLst/>
          </a:prstGeom>
          <a:solidFill>
            <a:srgbClr val="0D2B40">
              <a:alpha val="7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1478" y="542935"/>
            <a:ext cx="3200400" cy="3200400"/>
          </a:xfrm>
          <a:prstGeom prst="ellipse">
            <a:avLst/>
          </a:prstGeom>
          <a:solidFill>
            <a:srgbClr val="0D2B40">
              <a:alpha val="5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FOR YOUNG EXECUTIVES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パフォーマンス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最適化システム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× データ収集 × AI分析で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「今日の戦闘力」を可視化する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2560320" cy="640080"/>
          </a:xfrm>
          <a:prstGeom prst="rect">
            <a:avLst/>
          </a:prstGeom>
          <a:solidFill>
            <a:srgbClr val="15253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159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HRV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自律神経の状態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4297680"/>
            <a:ext cx="2560320" cy="640080"/>
          </a:xfrm>
          <a:prstGeom prst="rect">
            <a:avLst/>
          </a:prstGeom>
          <a:solidFill>
            <a:srgbClr val="15253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43159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睡眠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深睡眠の質と量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4297680"/>
            <a:ext cx="2560320" cy="640080"/>
          </a:xfrm>
          <a:prstGeom prst="rect">
            <a:avLst/>
          </a:prstGeom>
          <a:solidFill>
            <a:srgbClr val="15253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43159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Score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今日の戦闘力%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96C7">
              <a:alpha val="40000"/>
            </a:srgbClr>
          </a:solidFill>
          <a:ln w="12700">
            <a:solidFill>
              <a:srgbClr val="0096C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データで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管理するのか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2926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感覚だけでは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判断を誤る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457200"/>
            <a:ext cx="5760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5669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🧠 意思決定の質は体調に直結する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9601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</a:rPr>
              <a:t>睡眠不足の状態での重要な判断は、パフォーマンスを最大30%低下させる研究結果がある。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920240"/>
            <a:ext cx="5760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0299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📉 疲労は自覚しにくい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</a:rPr>
              <a:t>HRVが低下していても「なんとなく疲れている」程度の認識。データがあれば客観的に判断できる。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383280"/>
            <a:ext cx="5760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493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🎯 ピーク時間を狙った行動設計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8862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</a:rPr>
              <a:t>Recovery Scoreが高い日に重要会議・交渉・クリエイティブ作業を集中させることで成果が変わる。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Apple Watchで計測できること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9E8"/>
                </a:solidFill>
              </a:rPr>
              <a:t>手首に着けるだけで、あなたの体は毎晩データを記録し続けている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691640"/>
          </a:xfrm>
          <a:prstGeom prst="rect">
            <a:avLst/>
          </a:prstGeom>
          <a:solidFill>
            <a:srgbClr val="15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💓  HRV / 心拍変動性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自律神経のバランス。高いほど回復済み・ストレス低。経営者の最重要指標。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目標: 個人最高値の80%以上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1280160"/>
            <a:ext cx="2743200" cy="1691640"/>
          </a:xfrm>
          <a:prstGeom prst="rect">
            <a:avLst/>
          </a:prstGeom>
          <a:solidFill>
            <a:srgbClr val="152536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280160"/>
            <a:ext cx="2743200" cy="29260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16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😴  深睡眠 / Deep Sleep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627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身体・脳の修復タイム。90分以上が理想。ここが不足すると翌日の判断力が落ちる。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10128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97"/>
                </a:solidFill>
              </a:rPr>
              <a:t>目標: 90分以上/夜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743200" cy="1691640"/>
          </a:xfrm>
          <a:prstGeom prst="rect">
            <a:avLst/>
          </a:prstGeom>
          <a:solidFill>
            <a:srgbClr val="152536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743200" cy="292608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316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❤️  RHR / 安静時心拍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低いほど心臓が効率的。疲労・過飲酒・病気の前兆として上昇する。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4496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</a:rPr>
              <a:t>目標: 個人ベースライン±5以内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743200" cy="1691640"/>
          </a:xfrm>
          <a:prstGeom prst="rect">
            <a:avLst/>
          </a:prstGeom>
          <a:solidFill>
            <a:srgbClr val="152536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54680"/>
            <a:ext cx="2743200" cy="292608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91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🫁  呼吸数 / RSV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5021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睡眠中の呼吸。急増は体調不良・過労のサイン。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544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0E0EF"/>
                </a:solidFill>
              </a:rPr>
              <a:t>目標: 12-16回/分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3154680"/>
            <a:ext cx="2743200" cy="1691640"/>
          </a:xfrm>
          <a:prstGeom prst="rect">
            <a:avLst/>
          </a:prstGeom>
          <a:solidFill>
            <a:srgbClr val="15253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3154680"/>
            <a:ext cx="2743200" cy="29260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91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☀️  日光時間 / Daylight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5021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概日リズムの調整に直結。朝の日光浴がコルチゾールを整え集中力を高める。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4544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66"/>
                </a:solidFill>
              </a:rPr>
              <a:t>目標: 30分以上/日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毎朝30秒の「脳チェック」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566"/>
                </a:solidFill>
              </a:rPr>
              <a:t>Googleフォームで記録する手動データが、ウェアラブルデータを補完する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👆  Reaction Time Test（反応時間）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画面が光ったらすぐタップ→反応時間(ms)を記録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897"/>
                </a:solidFill>
              </a:rPr>
              <a:t>200ms以下：脳が冴えている状態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</a:rPr>
              <a:t>250-300ms：普通〜やや疲労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</a:rPr>
              <a:t>300ms超：脳疲労・睡眠不足のサイン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📱 おすすめアプリ：Human Benchmark, Simple Reaction Time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✅ 毎朝起きてすぐ実施（カフェイン摂取前）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61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Googleフォーム記録項目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840480" cy="438912"/>
          </a:xfrm>
          <a:prstGeom prst="rect">
            <a:avLst/>
          </a:prstGeom>
          <a:solidFill>
            <a:srgbClr val="F0F5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82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反応時間 (ms)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883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毎朝テスト結果を入力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176272"/>
            <a:ext cx="3840480" cy="438912"/>
          </a:xfrm>
          <a:prstGeom prst="rect">
            <a:avLst/>
          </a:prstGeom>
          <a:solidFill>
            <a:srgbClr val="F0F5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アルコール摂取量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4140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昨晩の飲酒量（杯数）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706624"/>
            <a:ext cx="3840480" cy="438912"/>
          </a:xfrm>
          <a:prstGeom prst="rect">
            <a:avLst/>
          </a:prstGeom>
          <a:solidFill>
            <a:srgbClr val="F0F5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43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カフェイン摂取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94436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朝のコーヒー・お茶の杯数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3236976"/>
            <a:ext cx="3840480" cy="438912"/>
          </a:xfrm>
          <a:prstGeom prst="rect">
            <a:avLst/>
          </a:prstGeom>
          <a:solidFill>
            <a:srgbClr val="F0F5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73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主観的疲労感 1-10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10が最高コンディション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767328"/>
            <a:ext cx="3840480" cy="438912"/>
          </a:xfrm>
          <a:prstGeom prst="rect">
            <a:avLst/>
          </a:prstGeom>
          <a:solidFill>
            <a:srgbClr val="F0F5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803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ストレスレベル 1-10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0050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10がリラックス状態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4297680"/>
            <a:ext cx="3840480" cy="438912"/>
          </a:xfrm>
          <a:prstGeom prst="rect">
            <a:avLst/>
          </a:prstGeom>
          <a:solidFill>
            <a:srgbClr val="F0F5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334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就寝前デバイス使用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53542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Yes / No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夜のコンディション記録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寝る前・飲み会前の5分で翌日のスコア精度が上がる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🌙  就寝30分前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303520" cy="777240"/>
          </a:xfrm>
          <a:prstGeom prst="rect">
            <a:avLst/>
          </a:prstGeom>
          <a:solidFill>
            <a:srgbClr val="15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59436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水分摂取量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4904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今日飲んだ水・お茶の量（ml）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5303520" cy="777240"/>
          </a:xfrm>
          <a:prstGeom prst="rect">
            <a:avLst/>
          </a:prstGeom>
          <a:solidFill>
            <a:srgbClr val="152536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11680"/>
            <a:ext cx="594360" cy="77724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116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🍽️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7552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食事・飲み物の内容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404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朝昼夜の食事＋サプリ名を記入（写真でもOK）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5303520" cy="777240"/>
          </a:xfrm>
          <a:prstGeom prst="rect">
            <a:avLst/>
          </a:prstGeom>
          <a:solidFill>
            <a:srgbClr val="152536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26080"/>
            <a:ext cx="594360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260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💪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017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仕事・練習・勉強の強度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319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1（軽い）〜 10（最高強度）で自己評価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40480"/>
            <a:ext cx="5303520" cy="777240"/>
          </a:xfrm>
          <a:prstGeom prst="rect">
            <a:avLst/>
          </a:prstGeom>
          <a:solidFill>
            <a:srgbClr val="15253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840480"/>
            <a:ext cx="59436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404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7552" y="3931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ディープワーク時間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7552" y="42336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集中して取り組めた時間（例：3.5時間）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1097280"/>
            <a:ext cx="3017520" cy="3657600"/>
          </a:xfrm>
          <a:prstGeom prst="rect">
            <a:avLst/>
          </a:prstGeom>
          <a:solidFill>
            <a:srgbClr val="152536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1097280"/>
            <a:ext cx="3017520" cy="3657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155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なぜ夜に記録するのか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16002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💧  水分不足はHRVを直接下げる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020824"/>
            <a:ext cx="2743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11226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🍽️  食事内容が深睡眠の質に影響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2532888"/>
            <a:ext cx="2743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6243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💪  高強度の日は翌日の回復が必要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0" y="3044952"/>
            <a:ext cx="2743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1363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🧠  ディープワーク時間とHRVは正の相関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3557016"/>
            <a:ext cx="2743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6484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9E8"/>
                </a:solidFill>
              </a:rPr>
              <a:t>📊  翌朝スコアの「なぜ？」が分かる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1A0D2E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9E8"/>
                </a:solidFill>
              </a:rPr>
              <a:t>📸 食事写真はGoogleフォームの「ファイルアップロード」機能で添付可能（任意）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Recovery Score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B703"/>
                </a:solidFill>
              </a:rPr>
              <a:t>今日の戦闘力 (0-100%)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"/>
            <a:ext cx="2468880" cy="2468880"/>
          </a:xfrm>
          <a:prstGeom prst="ellipse">
            <a:avLst/>
          </a:prstGeom>
          <a:solidFill>
            <a:srgbClr val="152536"/>
          </a:solidFill>
          <a:ln w="381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548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C89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7"/>
                </a:solidFill>
              </a:rPr>
              <a:t>HIGH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9E8"/>
                </a:solidFill>
              </a:rPr>
              <a:t>✅ 通常稼働OK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各指標の重み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HRV（心拍変動性）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600200"/>
            <a:ext cx="2560320" cy="16459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600200"/>
            <a:ext cx="768096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508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30%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深睡眠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011680"/>
            <a:ext cx="2560320" cy="16459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011680"/>
            <a:ext cx="640080" cy="16459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7"/>
                </a:solidFill>
              </a:rPr>
              <a:t>25%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安静時心拍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2423160"/>
            <a:ext cx="2560320" cy="16459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423160"/>
            <a:ext cx="384048" cy="1645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15%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反応時間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2834640"/>
            <a:ext cx="2560320" cy="16459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2834640"/>
            <a:ext cx="256032" cy="1645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</a:rPr>
              <a:t>10%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その他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3246120"/>
            <a:ext cx="2560320" cy="16459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246120"/>
            <a:ext cx="512064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</a:rPr>
              <a:t>20%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233C"/>
                </a:solidFill>
              </a:rPr>
              <a:t>ペナルティ（自動補正）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9776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🍺 アルコール1杯 → -4%（HRVが高くても強制補正）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3159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☕ カフェイン300mg超 → -5%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65429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9E8"/>
                </a:solidFill>
              </a:rPr>
              <a:t>📱 就寝前デバイス → -5%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788920"/>
            <a:ext cx="2651760" cy="438912"/>
          </a:xfrm>
          <a:prstGeom prst="rect">
            <a:avLst/>
          </a:prstGeom>
          <a:solidFill>
            <a:srgbClr val="152536"/>
          </a:solidFill>
          <a:ln w="10160">
            <a:solidFill>
              <a:srgbClr val="00C8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825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7"/>
                </a:solidFill>
              </a:rPr>
              <a:t>🔥 Peak (85-100)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0266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9E8"/>
                </a:solidFill>
              </a:rPr>
              <a:t>全力稼働・重要判断OK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319272"/>
            <a:ext cx="2651760" cy="438912"/>
          </a:xfrm>
          <a:prstGeom prst="rect">
            <a:avLst/>
          </a:prstGeom>
          <a:solidFill>
            <a:srgbClr val="152536"/>
          </a:solidFill>
          <a:ln w="10160">
            <a:solidFill>
              <a:srgbClr val="90E0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355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✅ High (70-84)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5570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9E8"/>
                </a:solidFill>
              </a:rPr>
              <a:t>通常稼働OK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849624"/>
            <a:ext cx="2651760" cy="438912"/>
          </a:xfrm>
          <a:prstGeom prst="rect">
            <a:avLst/>
          </a:prstGeom>
          <a:solidFill>
            <a:srgbClr val="152536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886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⚠️ Moderate (55-69)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40873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9E8"/>
                </a:solidFill>
              </a:rPr>
              <a:t>重要判断は午後に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4379976"/>
            <a:ext cx="2651760" cy="438912"/>
          </a:xfrm>
          <a:prstGeom prst="rect">
            <a:avLst/>
          </a:prstGeom>
          <a:solidFill>
            <a:srgbClr val="152536"/>
          </a:solidFill>
          <a:ln w="10160">
            <a:solidFill>
              <a:srgbClr val="EF23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416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233C"/>
                </a:solidFill>
              </a:rPr>
              <a:t>🛑 Low/Critical (0-54)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46177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9E8"/>
                </a:solidFill>
              </a:rPr>
              <a:t>回復・ルーティン優先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システム全体像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</a:rPr>
              <a:t>2つのデータソースが自動的に統合され、毎朝スコアが算出される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011680" cy="1280160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207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Apple Watch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938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HRV・睡眠・心拍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呼吸数・日光時間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2926080"/>
            <a:ext cx="2011680" cy="1280160"/>
          </a:xfrm>
          <a:prstGeom prst="rect">
            <a:avLst/>
          </a:prstGeom>
          <a:solidFill>
            <a:srgbClr val="00C897">
              <a:alpha val="90000"/>
            </a:srgbClr>
          </a:solidFill>
          <a:ln w="12700">
            <a:solidFill>
              <a:srgbClr val="00C89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" y="3035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Googleフォーム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反応時間・疲労感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アルコール・カフェイン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1828800"/>
            <a:ext cx="18288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718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(自動処理)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670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データ統合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名寄せ処理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097280"/>
            <a:ext cx="2011680" cy="1280160"/>
          </a:xfrm>
          <a:prstGeom prst="rect">
            <a:avLst/>
          </a:prstGeom>
          <a:solidFill>
            <a:srgbClr val="FFB703">
              <a:alpha val="90000"/>
            </a:srgbClr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207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321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スプレッドシート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1938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RawData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全データ集約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2926080"/>
            <a:ext cx="2011680" cy="1280160"/>
          </a:xfrm>
          <a:prstGeom prst="rect">
            <a:avLst/>
          </a:prstGeom>
          <a:solidFill>
            <a:srgbClr val="EF233C">
              <a:alpha val="90000"/>
            </a:srgbClr>
          </a:solidFill>
          <a:ln w="12700">
            <a:solidFill>
              <a:srgbClr val="EF23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3035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Recovery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今日の戦闘力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自動算出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0" y="1920240"/>
            <a:ext cx="11887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0" y="20299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81812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AI分析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(Claude)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2761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傾向把握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94560" y="1737360"/>
            <a:ext cx="731520" cy="45720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34827" y="3017520"/>
            <a:ext cx="731520" cy="0"/>
          </a:xfrm>
          <a:prstGeom prst="line">
            <a:avLst/>
          </a:prstGeom>
          <a:noFill/>
          <a:ln w="25400">
            <a:solidFill>
              <a:srgbClr val="00C89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103119"/>
            <a:ext cx="685800" cy="9145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377440"/>
            <a:ext cx="0" cy="54864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3291840"/>
            <a:ext cx="2743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389120"/>
            <a:ext cx="8595360" cy="594360"/>
          </a:xfrm>
          <a:prstGeom prst="rect">
            <a:avLst/>
          </a:prstGeom>
          <a:solidFill>
            <a:srgbClr val="0D1B2A">
              <a:alpha val="9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🔄  Health Auto Exportが1日1回自動送信 ＋ 朝のフォーム回答（30秒）→ スコアが自動更新される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セットアップ手順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必要なもの：Apple Watch ／ Googleアカウント ／ iPhone ／ 約30分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Googleスプレッドシートを作成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sheets.new でスプレッドシート作成 → URLからIDをコピー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0" y="1243584"/>
            <a:ext cx="1554480" cy="347472"/>
          </a:xfrm>
          <a:prstGeom prst="rect">
            <a:avLst/>
          </a:prstGeom>
          <a:solidFill>
            <a:srgbClr val="00C897">
              <a:alpha val="80000"/>
            </a:srgbClr>
          </a:solidFill>
          <a:ln w="635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2435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7"/>
                </a:solidFill>
              </a:rPr>
              <a:t>無料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658368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7452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745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47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GASコードを設置・デプロイ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22199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script.google.com → コードを貼り付け → ウェブアプリとして公開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0" y="2020824"/>
            <a:ext cx="1554480" cy="347472"/>
          </a:xfrm>
          <a:prstGeom prst="rect">
            <a:avLst/>
          </a:prstGeom>
          <a:solidFill>
            <a:srgbClr val="00C897">
              <a:alpha val="80000"/>
            </a:srgbClr>
          </a:solidFill>
          <a:ln w="6350">
            <a:solidFill>
              <a:srgbClr val="00C8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020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7"/>
                </a:solidFill>
              </a:rPr>
              <a:t>無料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658368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51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724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 Auto Exportを設定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99923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App Storeでインストール → REST API設定 → GASのURLを入力 → 1日1回自動送信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0" y="2798064"/>
            <a:ext cx="1554480" cy="347472"/>
          </a:xfrm>
          <a:prstGeom prst="rect">
            <a:avLst/>
          </a:prstGeom>
          <a:solidFill>
            <a:srgbClr val="00C897">
              <a:alpha val="80000"/>
            </a:srgbClr>
          </a:solidFill>
          <a:ln w="6350">
            <a:solidFill>
              <a:srgbClr val="00C8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7980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7"/>
                </a:solidFill>
              </a:rPr>
              <a:t>無料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8595360" cy="658368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42900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4290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502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Googleフォームを作成・連携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77647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6項目のフォーム作成 → スプレッドシートに紐づけ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0" y="3575304"/>
            <a:ext cx="1554480" cy="347472"/>
          </a:xfrm>
          <a:prstGeom prst="rect">
            <a:avLst/>
          </a:prstGeom>
          <a:solidFill>
            <a:srgbClr val="00C897">
              <a:alpha val="80000"/>
            </a:srgbClr>
          </a:solidFill>
          <a:ln w="6350">
            <a:solidFill>
              <a:srgbClr val="00C8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5753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7"/>
                </a:solidFill>
              </a:rPr>
              <a:t>無料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0624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2062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毎朝のルーティンに組み込む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455371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9E8"/>
                </a:solidFill>
              </a:rPr>
              <a:t>起床→反応時間テスト→フォーム回答（30秒）→スコア確認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32320" y="4352544"/>
            <a:ext cx="1554480" cy="347472"/>
          </a:xfrm>
          <a:prstGeom prst="rect">
            <a:avLst/>
          </a:prstGeom>
          <a:solidFill>
            <a:srgbClr val="00C897">
              <a:alpha val="80000"/>
            </a:srgbClr>
          </a:solidFill>
          <a:ln w="6350">
            <a:solidFill>
              <a:srgbClr val="00C8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43525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7"/>
                </a:solidFill>
              </a:rPr>
              <a:t>無料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毎日のルーティン設計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</a:rPr>
              <a:t>データを「見るだけ」で終わらせない。スコアに基づいた行動設計が鍵。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08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508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👆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起床直後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267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反応時間テスト（30秒）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2468880"/>
            <a:ext cx="21031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993392" y="1143000"/>
            <a:ext cx="1508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43000"/>
            <a:ext cx="150876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66544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朝5分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66544" y="2267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Googleフォームに回答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02152" y="2468880"/>
            <a:ext cx="21031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712464" y="1143000"/>
            <a:ext cx="1508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143000"/>
            <a:ext cx="150876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85616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朝食後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85616" y="2267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Recovery Scoreを確認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21224" y="2468880"/>
            <a:ext cx="21031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431536" y="1143000"/>
            <a:ext cx="1508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1143000"/>
            <a:ext cx="1508760" cy="7315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04688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7"/>
                </a:solidFill>
              </a:rPr>
              <a:t>午前中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2267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Scoreに応じてタスク設計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0296" y="2468880"/>
            <a:ext cx="21031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150608" y="1143000"/>
            <a:ext cx="1508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0608" y="1143000"/>
            <a:ext cx="1508760" cy="731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22376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6C7"/>
                </a:solidFill>
              </a:rPr>
              <a:t>就寝前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2267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0D1B2A"/>
                </a:solidFill>
              </a:rPr>
              <a:t>夜フォーム記入</a:t>
            </a:r>
            <a:r>
              <a:rPr lang="en-US" sz="900" dirty="0">
                <a:solidFill>
                  <a:srgbClr val="0D1B2A"/>
                </a:solidFill>
              </a:rPr>
              <a:t>、</a:t>
            </a:r>
          </a:p>
          <a:p>
            <a:pPr marL="0" indent="0" algn="ctr">
              <a:buNone/>
            </a:pPr>
            <a:r>
              <a:rPr lang="en-US" sz="900" dirty="0" err="1">
                <a:solidFill>
                  <a:srgbClr val="0D1B2A"/>
                </a:solidFill>
              </a:rPr>
              <a:t>デバイスOFF・翌日の準備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Score別行動指針 →  🔥85+ 重要交渉・決断をこの日に集中   ✅70+ 通常業務フル稼働   ⚠️55+ 判断は午後・単純作業優先   🛑54- 回復日と割り切る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" y="5029200"/>
            <a:ext cx="1234440" cy="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5029200"/>
            <a:ext cx="1234440" cy="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1920" y="5029200"/>
            <a:ext cx="1234440" cy="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5029200"/>
            <a:ext cx="1234440" cy="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5029200"/>
            <a:ext cx="1234440" cy="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今日から始めよう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9E8"/>
                </a:solidFill>
              </a:rPr>
              <a:t>「感覚」から「データ」へ。若手経営者の意思決定を科学する。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502920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Apple Watchが毎晩あなたの回復度を自動計測する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8412480" cy="502920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3591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HRV・深睡眠・心拍が「今日の戦闘力」を決める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8412480" cy="502920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9809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反応時間テスト＋主観指標で脳のコンディションを把握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11296"/>
            <a:ext cx="8412480" cy="502920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60273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GAS×スプレッドシートで全データが自動集約・スコア化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33088"/>
            <a:ext cx="8412480" cy="502920"/>
          </a:xfrm>
          <a:prstGeom prst="rect">
            <a:avLst/>
          </a:prstGeom>
          <a:solidFill>
            <a:srgbClr val="152536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42245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9E8"/>
                </a:solidFill>
              </a:rPr>
              <a:t>Recovery Scoreに基づいて重要タスクの配置を最適化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703"/>
                </a:solidFill>
              </a:rPr>
              <a:t>すべて無料で構築できます。今日から30日間データを取ると、自分のピークパターンが見えてくる。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784</Words>
  <Application>Microsoft Macintosh PowerPoint</Application>
  <PresentationFormat>画面に合わせる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Arial</vt:lpstr>
      <vt:lpstr>Arial Black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若手経営者のためのパフォーマンス最適化システム</dc:title>
  <dc:subject>PptxGenJS Presentation</dc:subject>
  <dc:creator>PptxGenJS</dc:creator>
  <cp:lastModifiedBy>Iida Yuki</cp:lastModifiedBy>
  <cp:revision>3</cp:revision>
  <dcterms:created xsi:type="dcterms:W3CDTF">2026-04-11T19:16:30Z</dcterms:created>
  <dcterms:modified xsi:type="dcterms:W3CDTF">2026-04-12T14:02:36Z</dcterms:modified>
</cp:coreProperties>
</file>